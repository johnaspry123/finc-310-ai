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29262-9B92-4A02-AB38-15BEA0C36625}" v="1" dt="2026-07-23T20:50:46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88497" autoAdjust="0"/>
  </p:normalViewPr>
  <p:slideViewPr>
    <p:cSldViewPr snapToGrid="0">
      <p:cViewPr varScale="1">
        <p:scale>
          <a:sx n="73" d="100"/>
          <a:sy n="73" d="100"/>
        </p:scale>
        <p:origin x="1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ry, John A." userId="9ed8ab0c-00af-4320-a42e-7821d0b5c6cb" providerId="ADAL" clId="{652DCEDF-3F6A-4C2F-B3C5-4331AB29DA7C}"/>
    <pc:docChg chg="custSel modSld">
      <pc:chgData name="Spry, John A." userId="9ed8ab0c-00af-4320-a42e-7821d0b5c6cb" providerId="ADAL" clId="{652DCEDF-3F6A-4C2F-B3C5-4331AB29DA7C}" dt="2026-07-23T20:53:21.166" v="58" actId="1076"/>
      <pc:docMkLst>
        <pc:docMk/>
      </pc:docMkLst>
      <pc:sldChg chg="modSp mod">
        <pc:chgData name="Spry, John A." userId="9ed8ab0c-00af-4320-a42e-7821d0b5c6cb" providerId="ADAL" clId="{652DCEDF-3F6A-4C2F-B3C5-4331AB29DA7C}" dt="2026-07-23T20:50:49.915" v="55" actId="20577"/>
        <pc:sldMkLst>
          <pc:docMk/>
          <pc:sldMk cId="1050313596" sldId="260"/>
        </pc:sldMkLst>
        <pc:spChg chg="mod">
          <ac:chgData name="Spry, John A." userId="9ed8ab0c-00af-4320-a42e-7821d0b5c6cb" providerId="ADAL" clId="{652DCEDF-3F6A-4C2F-B3C5-4331AB29DA7C}" dt="2026-07-23T20:50:49.915" v="55" actId="20577"/>
          <ac:spMkLst>
            <pc:docMk/>
            <pc:sldMk cId="1050313596" sldId="260"/>
            <ac:spMk id="8" creationId="{7D42C484-3CD5-4F4C-9888-0FE3338553EA}"/>
          </ac:spMkLst>
        </pc:spChg>
      </pc:sldChg>
      <pc:sldChg chg="modSp mod">
        <pc:chgData name="Spry, John A." userId="9ed8ab0c-00af-4320-a42e-7821d0b5c6cb" providerId="ADAL" clId="{652DCEDF-3F6A-4C2F-B3C5-4331AB29DA7C}" dt="2026-07-23T20:50:46.791" v="34" actId="27636"/>
        <pc:sldMkLst>
          <pc:docMk/>
          <pc:sldMk cId="35919967" sldId="262"/>
        </pc:sldMkLst>
        <pc:spChg chg="mod">
          <ac:chgData name="Spry, John A." userId="9ed8ab0c-00af-4320-a42e-7821d0b5c6cb" providerId="ADAL" clId="{652DCEDF-3F6A-4C2F-B3C5-4331AB29DA7C}" dt="2026-07-23T20:50:46.791" v="34" actId="27636"/>
          <ac:spMkLst>
            <pc:docMk/>
            <pc:sldMk cId="35919967" sldId="262"/>
            <ac:spMk id="4" creationId="{D21BC485-EC3A-46F4-9066-FC1B27FBF9DE}"/>
          </ac:spMkLst>
        </pc:spChg>
      </pc:sldChg>
      <pc:sldChg chg="modSp mod">
        <pc:chgData name="Spry, John A." userId="9ed8ab0c-00af-4320-a42e-7821d0b5c6cb" providerId="ADAL" clId="{652DCEDF-3F6A-4C2F-B3C5-4331AB29DA7C}" dt="2026-07-23T20:53:21.166" v="58" actId="1076"/>
        <pc:sldMkLst>
          <pc:docMk/>
          <pc:sldMk cId="1848604848" sldId="265"/>
        </pc:sldMkLst>
        <pc:spChg chg="mod">
          <ac:chgData name="Spry, John A." userId="9ed8ab0c-00af-4320-a42e-7821d0b5c6cb" providerId="ADAL" clId="{652DCEDF-3F6A-4C2F-B3C5-4331AB29DA7C}" dt="2026-07-23T20:53:21.166" v="58" actId="1076"/>
          <ac:spMkLst>
            <pc:docMk/>
            <pc:sldMk cId="1848604848" sldId="265"/>
            <ac:spMk id="7" creationId="{7628BDD7-F4C1-44E4-A6B9-C609ACFFF1A9}"/>
          </ac:spMkLst>
        </pc:spChg>
        <pc:picChg chg="mod">
          <ac:chgData name="Spry, John A." userId="9ed8ab0c-00af-4320-a42e-7821d0b5c6cb" providerId="ADAL" clId="{652DCEDF-3F6A-4C2F-B3C5-4331AB29DA7C}" dt="2026-07-23T20:52:57.574" v="57" actId="14100"/>
          <ac:picMkLst>
            <pc:docMk/>
            <pc:sldMk cId="1848604848" sldId="265"/>
            <ac:picMk id="11" creationId="{00000000-0000-0000-0000-000000000000}"/>
          </ac:picMkLst>
        </pc:picChg>
      </pc:sldChg>
      <pc:sldChg chg="modSp mod">
        <pc:chgData name="Spry, John A." userId="9ed8ab0c-00af-4320-a42e-7821d0b5c6cb" providerId="ADAL" clId="{652DCEDF-3F6A-4C2F-B3C5-4331AB29DA7C}" dt="2026-07-23T20:50:46.819" v="35" actId="27636"/>
        <pc:sldMkLst>
          <pc:docMk/>
          <pc:sldMk cId="1333674221" sldId="272"/>
        </pc:sldMkLst>
        <pc:spChg chg="mod">
          <ac:chgData name="Spry, John A." userId="9ed8ab0c-00af-4320-a42e-7821d0b5c6cb" providerId="ADAL" clId="{652DCEDF-3F6A-4C2F-B3C5-4331AB29DA7C}" dt="2026-07-23T20:50:46.819" v="35" actId="27636"/>
          <ac:spMkLst>
            <pc:docMk/>
            <pc:sldMk cId="1333674221" sldId="272"/>
            <ac:spMk id="8" creationId="{1BA29A57-5D68-491A-A49A-52D15DD3B0B8}"/>
          </ac:spMkLst>
        </pc:spChg>
      </pc:sldChg>
      <pc:sldChg chg="modSp mod">
        <pc:chgData name="Spry, John A." userId="9ed8ab0c-00af-4320-a42e-7821d0b5c6cb" providerId="ADAL" clId="{652DCEDF-3F6A-4C2F-B3C5-4331AB29DA7C}" dt="2026-07-23T20:50:46.843" v="36" actId="27636"/>
        <pc:sldMkLst>
          <pc:docMk/>
          <pc:sldMk cId="47154458" sldId="276"/>
        </pc:sldMkLst>
        <pc:spChg chg="mod">
          <ac:chgData name="Spry, John A." userId="9ed8ab0c-00af-4320-a42e-7821d0b5c6cb" providerId="ADAL" clId="{652DCEDF-3F6A-4C2F-B3C5-4331AB29DA7C}" dt="2026-07-23T20:50:46.843" v="36" actId="27636"/>
          <ac:spMkLst>
            <pc:docMk/>
            <pc:sldMk cId="47154458" sldId="276"/>
            <ac:spMk id="7" creationId="{C11D4CC2-0AAC-452C-A5B6-9C3684187631}"/>
          </ac:spMkLst>
        </pc:spChg>
      </pc:sldChg>
      <pc:sldChg chg="modSp mod">
        <pc:chgData name="Spry, John A." userId="9ed8ab0c-00af-4320-a42e-7821d0b5c6cb" providerId="ADAL" clId="{652DCEDF-3F6A-4C2F-B3C5-4331AB29DA7C}" dt="2026-07-23T20:50:46.855" v="37" actId="27636"/>
        <pc:sldMkLst>
          <pc:docMk/>
          <pc:sldMk cId="886440460" sldId="279"/>
        </pc:sldMkLst>
        <pc:spChg chg="mod">
          <ac:chgData name="Spry, John A." userId="9ed8ab0c-00af-4320-a42e-7821d0b5c6cb" providerId="ADAL" clId="{652DCEDF-3F6A-4C2F-B3C5-4331AB29DA7C}" dt="2026-07-23T20:50:46.855" v="37" actId="27636"/>
          <ac:spMkLst>
            <pc:docMk/>
            <pc:sldMk cId="886440460" sldId="279"/>
            <ac:spMk id="14" creationId="{50A3A992-08C8-48FD-897D-4DE2C3EF6F5B}"/>
          </ac:spMkLst>
        </pc:spChg>
      </pc:sldChg>
      <pc:sldChg chg="modSp mod">
        <pc:chgData name="Spry, John A." userId="9ed8ab0c-00af-4320-a42e-7821d0b5c6cb" providerId="ADAL" clId="{652DCEDF-3F6A-4C2F-B3C5-4331AB29DA7C}" dt="2026-07-23T20:50:46.874" v="38" actId="27636"/>
        <pc:sldMkLst>
          <pc:docMk/>
          <pc:sldMk cId="1750721719" sldId="286"/>
        </pc:sldMkLst>
        <pc:spChg chg="mod">
          <ac:chgData name="Spry, John A." userId="9ed8ab0c-00af-4320-a42e-7821d0b5c6cb" providerId="ADAL" clId="{652DCEDF-3F6A-4C2F-B3C5-4331AB29DA7C}" dt="2026-07-23T20:50:46.874" v="38" actId="27636"/>
          <ac:spMkLst>
            <pc:docMk/>
            <pc:sldMk cId="1750721719" sldId="286"/>
            <ac:spMk id="25" creationId="{0C54A1CF-B4C2-4019-832D-2338472F1FC9}"/>
          </ac:spMkLst>
        </pc:spChg>
      </pc:sldChg>
      <pc:sldChg chg="modSp mod">
        <pc:chgData name="Spry, John A." userId="9ed8ab0c-00af-4320-a42e-7821d0b5c6cb" providerId="ADAL" clId="{652DCEDF-3F6A-4C2F-B3C5-4331AB29DA7C}" dt="2026-07-23T20:50:46.892" v="39" actId="27636"/>
        <pc:sldMkLst>
          <pc:docMk/>
          <pc:sldMk cId="1110224054" sldId="290"/>
        </pc:sldMkLst>
        <pc:spChg chg="mod">
          <ac:chgData name="Spry, John A." userId="9ed8ab0c-00af-4320-a42e-7821d0b5c6cb" providerId="ADAL" clId="{652DCEDF-3F6A-4C2F-B3C5-4331AB29DA7C}" dt="2026-07-23T20:50:46.892" v="39" actId="27636"/>
          <ac:spMkLst>
            <pc:docMk/>
            <pc:sldMk cId="1110224054" sldId="290"/>
            <ac:spMk id="23" creationId="{7EF8FFAA-C489-440A-8E7A-8CA1D4F843FB}"/>
          </ac:spMkLst>
        </pc:spChg>
      </pc:sldChg>
      <pc:sldChg chg="modSp mod">
        <pc:chgData name="Spry, John A." userId="9ed8ab0c-00af-4320-a42e-7821d0b5c6cb" providerId="ADAL" clId="{652DCEDF-3F6A-4C2F-B3C5-4331AB29DA7C}" dt="2026-07-23T20:50:46.917" v="40" actId="27636"/>
        <pc:sldMkLst>
          <pc:docMk/>
          <pc:sldMk cId="187363820" sldId="297"/>
        </pc:sldMkLst>
        <pc:spChg chg="mod">
          <ac:chgData name="Spry, John A." userId="9ed8ab0c-00af-4320-a42e-7821d0b5c6cb" providerId="ADAL" clId="{652DCEDF-3F6A-4C2F-B3C5-4331AB29DA7C}" dt="2026-07-23T20:50:46.917" v="40" actId="27636"/>
          <ac:spMkLst>
            <pc:docMk/>
            <pc:sldMk cId="187363820" sldId="297"/>
            <ac:spMk id="22" creationId="{E8323059-A9CF-4D44-8C69-984B8E63FF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2 minutes.</a:t>
            </a:r>
          </a:p>
          <a:p>
            <a:r>
              <a:t>Open with the assignment's governing standard: evidence before elegance.</a:t>
            </a:r>
          </a:p>
          <a:p>
            <a:r>
              <a:t>Tell students that AI will make code faster, but it will not remove responsibility for definitions, signs, sources, or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Ask students to vote: yes, no, or it depends.</a:t>
            </a:r>
          </a:p>
          <a:p>
            <a:r>
              <a:t>Collect two mechanisms that could make EPS grow faster than sales. Do not reveal the answer yet.</a:t>
            </a:r>
          </a:p>
          <a:p>
            <a:r>
              <a:t>Return to this question on slide 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 minutes.</a:t>
            </a:r>
          </a:p>
          <a:p>
            <a:r>
              <a:t>Read the four outcomes aloud as a sequence: read, calculate, build, verify.</a:t>
            </a:r>
          </a:p>
          <a:p>
            <a:r>
              <a:t>Connect them to Chapters 1-8: value, markets, statements, analysis, time, financing, creditor risk, and risk-return.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 minutes.</a:t>
            </a:r>
          </a:p>
          <a:p>
            <a:r>
              <a:t>Reveal the dashboard and ask students what question each quadrant answers.</a:t>
            </a:r>
          </a:p>
          <a:p>
            <a:r>
              <a:t>Do not interpret the numbers in depth yet. The purpose is to establish the cumulative story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 minutes.</a:t>
            </a:r>
          </a:p>
          <a:p>
            <a:r>
              <a:t>Explain that the final report is not four isolated charts. Each lens resolves a question left open by the prior lens.</a:t>
            </a:r>
          </a:p>
          <a:p>
            <a:r>
              <a:t>Point students to the complete assignment and workbook rather than reading every deliverable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Assign roles now if the class will include a lab.</a:t>
            </a:r>
          </a:p>
          <a:p>
            <a:r>
              <a:t>State that any student may be asked to explain any formula, function, or chart.</a:t>
            </a:r>
          </a:p>
          <a:p>
            <a:r>
              <a:t>If teams are smaller, combine adjacent roles without dropping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8 minutes.</a:t>
            </a:r>
          </a:p>
          <a:p>
            <a:r>
              <a:t>Open the annual report to report page 36 and ask students to locate the four highlighted figures.</a:t>
            </a:r>
          </a:p>
          <a:p>
            <a:r>
              <a:t>Then open 01_Input and trace NET_SALES to the same value.</a:t>
            </a:r>
          </a:p>
          <a:p>
            <a:r>
              <a:t>Connect this public reporting process to Chapter 2 financial markets and information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 minutes.</a:t>
            </a:r>
          </a:p>
          <a:p>
            <a:r>
              <a:t>Use this slide as the transition into the finance modules.</a:t>
            </a:r>
          </a:p>
          <a:p>
            <a:r>
              <a:t>Explain that each visual answers a different question and creates the need for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minutes.</a:t>
            </a:r>
          </a:p>
          <a:p>
            <a:r>
              <a:t>Write each identity before showing the completed chart.</a:t>
            </a:r>
          </a:p>
          <a:p>
            <a:r>
              <a:t>Ask students to identify which stages are operating and which are non-operating.</a:t>
            </a:r>
          </a:p>
          <a:p>
            <a:r>
              <a:t>Emphasize conservation: every source node must equal its outgoing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Let students read the flow from left to right before you interpret it.</a:t>
            </a:r>
          </a:p>
          <a:p>
            <a:r>
              <a:t>Ask: Which cost absorbs the largest share? Where does the operating/non-operating boundary appear?</a:t>
            </a:r>
          </a:p>
          <a:p>
            <a:r>
              <a:t>Point out that widths and labels must be based on the same dollar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 minutes.</a:t>
            </a:r>
          </a:p>
          <a:p>
            <a:r>
              <a:t>Translate common-size percentages into cents per dollar.</a:t>
            </a:r>
          </a:p>
          <a:p>
            <a:r>
              <a:t>Ask students what remains after product costs, after operating expenses, and after taxes.</a:t>
            </a:r>
          </a:p>
          <a:p>
            <a:r>
              <a:t>Clarify that the categories are not all independent slices because gross profit and EBIT are subtotals.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Give teams 2 minutes, then call on the Income Statement Lead from one team and a cross-checker from another.</a:t>
            </a:r>
          </a:p>
          <a:p>
            <a:r>
              <a:t>Answer: interest is non-operating here and belongs after EBIT. Putting it before EBIT understates operating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Ask why a profitable company might still have weak cash flow.</a:t>
            </a:r>
          </a:p>
          <a:p>
            <a:r>
              <a:t>Connect the answer to accruals, noncash expenses, CapEx, and working capital.</a:t>
            </a:r>
          </a:p>
          <a:p>
            <a:r>
              <a:t>Tie FCF to Chapter 1 value creation and Chapter 5 present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minutes.</a:t>
            </a:r>
          </a:p>
          <a:p>
            <a:r>
              <a:t>Define all three measures before comparing totals.</a:t>
            </a:r>
          </a:p>
          <a:p>
            <a:r>
              <a:t>Ask students why similar dollar amounts do not make the definitions interchangeable.</a:t>
            </a:r>
          </a:p>
          <a:p>
            <a:r>
              <a:t>Require the non-GAAP label for the company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8 minutes.</a:t>
            </a:r>
          </a:p>
          <a:p>
            <a:r>
              <a:t>Build the bridge left to right and ask students to predict the sign of every change.</a:t>
            </a:r>
          </a:p>
          <a:p>
            <a:r>
              <a:t>Explain why D&amp;A is added back, CapEx is subtracted, and an increase in NOWC uses cash.</a:t>
            </a:r>
          </a:p>
          <a:p>
            <a:r>
              <a:t>Use the effective tax rate on EBIT to calculate NOPAT in this simplified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Read the waterfall in three sections: NOPAT, textbook FCF, cash/company FCF.</a:t>
            </a:r>
          </a:p>
          <a:p>
            <a:r>
              <a:t>Ask students to identify subtotal bars, positive changes, and negative changes.</a:t>
            </a:r>
          </a:p>
          <a:p>
            <a:r>
              <a:t>Call out the adjusted FCF non-GAAP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Explain that CFO contains additional accrual, noncash, pension, tax, and timing effects beyond the simplified NOWC definition.</a:t>
            </a:r>
          </a:p>
          <a:p>
            <a:r>
              <a:t>Ask students why a residual is useful evidence about model scope rather than proof of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Answer: subtracting raw_capex subtracts a negative and therefore adds CapEx.</a:t>
            </a:r>
          </a:p>
          <a:p>
            <a:r>
              <a:t>Preferred classroom fix: capex = abs(raw_capex); subtract capex once.</a:t>
            </a:r>
          </a:p>
          <a:p>
            <a:r>
              <a:t>Accept an alternative convention only if it is documented and used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Have students count the intervals between FY2021 and FY2025.</a:t>
            </a:r>
          </a:p>
          <a:p>
            <a:r>
              <a:t>Read the sales and EPS series for consistency and confirm that all EPS values are GAAP diluted 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Write the exponent as 1/4 and ask why it is not 1/5.</a:t>
            </a:r>
          </a:p>
          <a:p>
            <a:r>
              <a:t>Remind students that CAGR describes endpoints and does not reveal annual volatility.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Ask students to compare the slopes and the CAGR callouts.</a:t>
            </a:r>
          </a:p>
          <a:p>
            <a:r>
              <a:t>Then ask how the dual axes could be manipulated to overstate or understate the relationship.</a:t>
            </a:r>
          </a:p>
          <a:p>
            <a:r>
              <a:t>Separate the observed growth gap from hypotheses about its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Strong hypotheses include margins, taxes, impairment charges, non-operating items, and diluted share count.</a:t>
            </a:r>
          </a:p>
          <a:p>
            <a:r>
              <a:t>Do not accept 'stronger brands' or 'better management' as chart-supported conclusions without additional evidence.</a:t>
            </a:r>
          </a:p>
          <a:p>
            <a:r>
              <a:t>Connect the evidence/inference distinction to the final executive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Write the three factors before inserting numbers.</a:t>
            </a:r>
          </a:p>
          <a:p>
            <a:r>
              <a:t>Ask what managerial question each factor answers.</a:t>
            </a:r>
          </a:p>
          <a:p>
            <a:r>
              <a:t>Connect profit margin to operations, turnover to asset use, and the multiplier to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Explain the stock-versus-flow mismatch: the balance sheet is a point in time; sales and earnings cover a period.</a:t>
            </a:r>
          </a:p>
          <a:p>
            <a:r>
              <a:t>Calculate the average assets and average equity live or ask teams to verify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Interpret each factor separately before discussing the product.</a:t>
            </a:r>
          </a:p>
          <a:p>
            <a:r>
              <a:t>Describe turnover as relatively modest rather than automatically poor; asset intensity and intangibles matter.</a:t>
            </a:r>
          </a:p>
          <a:p>
            <a:r>
              <a:t>Connect leverage to creditor risk and Chapter 8 risk-return.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Answer: strong margin supports ROE; turnover is comparatively modest; leverage magnifies the result and financial risk.</a:t>
            </a:r>
          </a:p>
          <a:p>
            <a:r>
              <a:t>Avoid saying one factor is 'the cause' without explaining the multiplicative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 minutes.</a:t>
            </a:r>
          </a:p>
          <a:p>
            <a:r>
              <a:t>Transition from finance meaning to tool use.</a:t>
            </a:r>
          </a:p>
          <a:p>
            <a:r>
              <a:t>State that AI is required, but every source, formula, sign, label, and conclusion remains the team's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Ask students which control is most likely to prevent a persuasive but wrong output.</a:t>
            </a:r>
          </a:p>
          <a:p>
            <a:r>
              <a:t>Have teams add one stronger constraint based on the errors seen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minutes.</a:t>
            </a:r>
          </a:p>
          <a:p>
            <a:r>
              <a:t>Read the prompt as a requirements document, not as magic words.</a:t>
            </a:r>
          </a:p>
          <a:p>
            <a:r>
              <a:t>Point students to the complete prompt in the assignment guide.</a:t>
            </a:r>
          </a:p>
          <a:p>
            <a:r>
              <a:t>Ask which requested behavior is a control and which is merely an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Clarify that REM means concise visible rationale, not private chain-of-thought.</a:t>
            </a:r>
          </a:p>
          <a:p>
            <a:r>
              <a:t>Ask teams to write one limitation that would protect a reader from overinterpreting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Walk the sequence in order and ask what finance job each function performs.</a:t>
            </a:r>
          </a:p>
          <a:p>
            <a:r>
              <a:t>Stress that all required checks run before chart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Ask a non-Python lead to explain the input control in finance terms.</a:t>
            </a:r>
          </a:p>
          <a:p>
            <a:r>
              <a:t>Point out that missing inputs should fail loudly rather than become zero or NaN in a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minutes.</a:t>
            </a:r>
          </a:p>
          <a:p>
            <a:r>
              <a:t>Trace each code line back to a finance concept already taught.</a:t>
            </a:r>
          </a:p>
          <a:p>
            <a:r>
              <a:t>Ask what would happen if abs() were omitted or if the exponent were 1/5.</a:t>
            </a:r>
          </a:p>
          <a:p>
            <a:r>
              <a:t>Reinforce that chart functions should consume the verified model rather than re-calculate definitions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minutes.</a:t>
            </a:r>
          </a:p>
          <a:p>
            <a:r>
              <a:t>Demonstrate or describe changing sales by $10M and observing the stop condition.</a:t>
            </a:r>
          </a:p>
          <a:p>
            <a:r>
              <a:t>Ask why a PASS result is not enough if the expected value was copied from the same wrong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minutes.</a:t>
            </a:r>
          </a:p>
          <a:p>
            <a:r>
              <a:t>Walk left to right and have students name one failure at every layer.</a:t>
            </a:r>
          </a:p>
          <a:p>
            <a:r>
              <a:t>Add interpretation as the final narrative layer: a correct chart can still support an overconfident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minutes.</a:t>
            </a:r>
          </a:p>
          <a:p>
            <a:r>
              <a:t>Ask teams to match each identity to the chart it protects.</a:t>
            </a:r>
          </a:p>
          <a:p>
            <a:r>
              <a:t>Remind them that a DuPont check protects denominator consistency while the FCF check protects the non-GAAP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Explain that cosmetic wording alone is not a meaningful revision.</a:t>
            </a:r>
          </a:p>
          <a:p>
            <a:r>
              <a:t>Ask teams to choose one correction category and record before/after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minutes.</a:t>
            </a:r>
          </a:p>
          <a:p>
            <a:r>
              <a:t>Model a concise synthesis, then ask which clauses are facts and which are interpretations.</a:t>
            </a:r>
          </a:p>
          <a:p>
            <a:r>
              <a:t>The goal is integration, not repeating chart titles.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 minutes.</a:t>
            </a:r>
          </a:p>
          <a:p>
            <a:r>
              <a:t>Point students to the complete acceptance criteria in the student assignment.</a:t>
            </a:r>
          </a:p>
          <a:p>
            <a:r>
              <a:t>Emphasize the portable run test: copy the folder elsewhere and run the same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Explain the pacing and remind students that every member must participate.</a:t>
            </a:r>
          </a:p>
          <a:p>
            <a:r>
              <a:t>Random oral questions may address any formula, code block, or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 minutes.</a:t>
            </a:r>
          </a:p>
          <a:p>
            <a:r>
              <a:t>Explain that the analytic rubric totals 100 points and includes individual accountability.</a:t>
            </a:r>
          </a:p>
          <a:p>
            <a:r>
              <a:t>Use this slide to make clear why a beautiful unreconciled chart earns little credit.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25-30 minutes in the 3-4 hour versions.</a:t>
            </a:r>
          </a:p>
          <a:p>
            <a:r>
              <a:t>Circulate in the order shown: sources, formulas, prompt, run, checks, revision, story.</a:t>
            </a:r>
          </a:p>
          <a:p>
            <a:r>
              <a:t>Ask a different student to report each checkpoint.</a:t>
            </a:r>
          </a:p>
          <a:p>
            <a:r>
              <a:t>In the 2-hour version, use this slide to assign outside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minutes.</a:t>
            </a:r>
          </a:p>
          <a:p>
            <a:r>
              <a:t>Collect individual responses, not one per team.</a:t>
            </a:r>
          </a:p>
          <a:p>
            <a:r>
              <a:t>Return to the opening prediction and distinguish the observed growth gap from any claimed cause.</a:t>
            </a:r>
          </a:p>
          <a:p>
            <a:r>
              <a:t>Use the responses to identify which concept needs reinforcement before 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kicker">
            <a:extLst>
              <a:ext uri="{FF2B5EF4-FFF2-40B4-BE49-F238E27FC236}">
                <a16:creationId xmlns:a16="http://schemas.microsoft.com/office/drawing/2014/main" id="{D9681924-671F-4351-82D4-60D465569DC2}"/>
              </a:ext>
            </a:extLst>
          </p:cNvPr>
          <p:cNvSpPr>
            <a:spLocks noGrp="1"/>
          </p:cNvSpPr>
          <p:nvPr/>
        </p:nvSpPr>
        <p:spPr>
          <a:xfrm>
            <a:off x="495300" y="4572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FINC 310 | STUDENT GROUP ASSIGNMENT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0B1EE280-9A56-4752-B36C-00F6FB0508B9}"/>
              </a:ext>
            </a:extLst>
          </p:cNvPr>
          <p:cNvSpPr>
            <a:spLocks noGrp="1"/>
          </p:cNvSpPr>
          <p:nvPr/>
        </p:nvSpPr>
        <p:spPr>
          <a:xfrm>
            <a:off x="495300" y="2247900"/>
            <a:ext cx="10096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8000"/>
              </a:lnSpc>
              <a:buNone/>
              <a:defRPr sz="5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P&amp;G's financial story - then prove it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14F0F736-967A-43BC-8469-92D8CB4D4467}"/>
              </a:ext>
            </a:extLst>
          </p:cNvPr>
          <p:cNvSpPr>
            <a:spLocks noGrp="1"/>
          </p:cNvSpPr>
          <p:nvPr/>
        </p:nvSpPr>
        <p:spPr>
          <a:xfrm>
            <a:off x="495300" y="4648200"/>
            <a:ext cx="723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Audited 10-K data + finance concepts + AI-assisted Python + human verification</a:t>
            </a:r>
          </a:p>
        </p:txBody>
      </p:sp>
      <p:sp>
        <p:nvSpPr>
          <p:cNvPr id="4" name="footer-section-1">
            <a:extLst>
              <a:ext uri="{FF2B5EF4-FFF2-40B4-BE49-F238E27FC236}">
                <a16:creationId xmlns:a16="http://schemas.microsoft.com/office/drawing/2014/main" id="{96FEF866-D129-4693-9FF6-F5548C8FDC9D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FINC 310 | P&amp;G FINANCIAL STORY</a:t>
            </a:r>
          </a:p>
        </p:txBody>
      </p:sp>
      <p:sp>
        <p:nvSpPr>
          <p:cNvPr id="5" name="footer-number-1">
            <a:extLst>
              <a:ext uri="{FF2B5EF4-FFF2-40B4-BE49-F238E27FC236}">
                <a16:creationId xmlns:a16="http://schemas.microsoft.com/office/drawing/2014/main" id="{8B24BEB2-0E19-4BC3-9301-3DAE8A95CC7C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1013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-2">
            <a:extLst>
              <a:ext uri="{FF2B5EF4-FFF2-40B4-BE49-F238E27FC236}">
                <a16:creationId xmlns:a16="http://schemas.microsoft.com/office/drawing/2014/main" id="{AA6FC988-B887-434C-BEFA-A873BE6A5215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MAKE A PREDICTION BEFORE YOU SEE THE DASHBOARD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3C40121E-20D0-47C7-80A9-CA18229FF831}"/>
              </a:ext>
            </a:extLst>
          </p:cNvPr>
          <p:cNvSpPr>
            <a:spLocks noGrp="1"/>
          </p:cNvSpPr>
          <p:nvPr/>
        </p:nvSpPr>
        <p:spPr>
          <a:xfrm>
            <a:off x="495300" y="533400"/>
            <a:ext cx="1120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earnings outgrow sales without a strong revenue year?</a:t>
            </a:r>
          </a:p>
        </p:txBody>
      </p:sp>
      <p:sp>
        <p:nvSpPr>
          <p:cNvPr id="3" name="footer-section-2">
            <a:extLst>
              <a:ext uri="{FF2B5EF4-FFF2-40B4-BE49-F238E27FC236}">
                <a16:creationId xmlns:a16="http://schemas.microsoft.com/office/drawing/2014/main" id="{EC0D0BD6-3595-416C-8DB4-DA906387895D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OPENING QUESTION</a:t>
            </a:r>
          </a:p>
        </p:txBody>
      </p:sp>
      <p:sp>
        <p:nvSpPr>
          <p:cNvPr id="4" name="footer-number-2">
            <a:extLst>
              <a:ext uri="{FF2B5EF4-FFF2-40B4-BE49-F238E27FC236}">
                <a16:creationId xmlns:a16="http://schemas.microsoft.com/office/drawing/2014/main" id="{FB5FAC08-9A76-42ED-AC76-90D9D18F91B0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challenge-question">
            <a:extLst>
              <a:ext uri="{FF2B5EF4-FFF2-40B4-BE49-F238E27FC236}">
                <a16:creationId xmlns:a16="http://schemas.microsoft.com/office/drawing/2014/main" id="{3467607D-9C61-4857-AA9F-4AAF4AEA4D24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6953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85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P&amp;G's FY2025 net sales barely moved from FY2024. What else could change the financial story?</a:t>
            </a:r>
          </a:p>
        </p:txBody>
      </p:sp>
      <p:sp>
        <p:nvSpPr>
          <p:cNvPr id="6" name="sales-change-value">
            <a:extLst>
              <a:ext uri="{FF2B5EF4-FFF2-40B4-BE49-F238E27FC236}">
                <a16:creationId xmlns:a16="http://schemas.microsoft.com/office/drawing/2014/main" id="{241C6CF7-3934-47B2-BA7E-A61CD8AA9087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4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+0.3%</a:t>
            </a:r>
          </a:p>
        </p:txBody>
      </p:sp>
      <p:sp>
        <p:nvSpPr>
          <p:cNvPr id="7" name="sales-change-label">
            <a:extLst>
              <a:ext uri="{FF2B5EF4-FFF2-40B4-BE49-F238E27FC236}">
                <a16:creationId xmlns:a16="http://schemas.microsoft.com/office/drawing/2014/main" id="{AA357A1D-EE97-4DAE-B6F5-83121120A46B}"/>
              </a:ext>
            </a:extLst>
          </p:cNvPr>
          <p:cNvSpPr>
            <a:spLocks noGrp="1"/>
          </p:cNvSpPr>
          <p:nvPr/>
        </p:nvSpPr>
        <p:spPr>
          <a:xfrm>
            <a:off x="8248650" y="262890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FY2025 net sales growth versus FY2024</a:t>
            </a:r>
          </a:p>
        </p:txBody>
      </p:sp>
      <p:cxnSp>
        <p:nvCxnSpPr>
          <p:cNvPr id="17" name="challenge-rule"/>
          <p:cNvCxnSpPr/>
          <p:nvPr/>
        </p:nvCxnSpPr>
        <p:spPr>
          <a:xfrm>
            <a:off x="495300" y="3714750"/>
            <a:ext cx="106680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challenge-hypotheses">
            <a:extLst>
              <a:ext uri="{FF2B5EF4-FFF2-40B4-BE49-F238E27FC236}">
                <a16:creationId xmlns:a16="http://schemas.microsoft.com/office/drawing/2014/main" id="{5F04D500-F3E4-4959-8425-606B5ED40AA5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10096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7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Operating costs and margins</a:t>
            </a:r>
          </a:p>
          <a:p>
            <a:pPr marL="24" indent="-12" algn="l">
              <a:spcAft>
                <a:spcPts val="7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Taxes and non-operating items</a:t>
            </a:r>
          </a:p>
          <a:p>
            <a:pPr marL="24" indent="-12" algn="l">
              <a:spcAft>
                <a:spcPts val="7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Share count and per-share math</a:t>
            </a:r>
          </a:p>
          <a:p>
            <a:pPr marL="24" indent="-12" algn="l">
              <a:spcAft>
                <a:spcPts val="7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Cash conversion and reinvestment</a:t>
            </a:r>
          </a:p>
          <a:p>
            <a:pPr marL="24" indent="-12" algn="l">
              <a:spcAft>
                <a:spcPts val="7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Financial leverage and risk</a:t>
            </a:r>
          </a:p>
        </p:txBody>
      </p:sp>
    </p:spTree>
    <p:extLst>
      <p:ext uri="{BB962C8B-B14F-4D97-AF65-F5344CB8AC3E}">
        <p14:creationId xmlns:p14="http://schemas.microsoft.com/office/powerpoint/2010/main" val="1245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3">
            <a:extLst>
              <a:ext uri="{FF2B5EF4-FFF2-40B4-BE49-F238E27FC236}">
                <a16:creationId xmlns:a16="http://schemas.microsoft.com/office/drawing/2014/main" id="{66683825-FE06-4447-858D-2390009BF1EB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 the end, you can build and defend the story</a:t>
            </a:r>
          </a:p>
        </p:txBody>
      </p:sp>
      <p:sp>
        <p:nvSpPr>
          <p:cNvPr id="2" name="footer-section-3">
            <a:extLst>
              <a:ext uri="{FF2B5EF4-FFF2-40B4-BE49-F238E27FC236}">
                <a16:creationId xmlns:a16="http://schemas.microsoft.com/office/drawing/2014/main" id="{D22A880F-14A9-4D58-A82C-777B148CB04B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3" name="footer-number-3">
            <a:extLst>
              <a:ext uri="{FF2B5EF4-FFF2-40B4-BE49-F238E27FC236}">
                <a16:creationId xmlns:a16="http://schemas.microsoft.com/office/drawing/2014/main" id="{F538DF4C-5653-4A2F-92C8-D798BD777C4D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outcome-label-0">
            <a:extLst>
              <a:ext uri="{FF2B5EF4-FFF2-40B4-BE49-F238E27FC236}">
                <a16:creationId xmlns:a16="http://schemas.microsoft.com/office/drawing/2014/main" id="{3E2D5A99-FBA0-492E-8CDA-8712FF2F790F}"/>
              </a:ext>
            </a:extLst>
          </p:cNvPr>
          <p:cNvSpPr>
            <a:spLocks noGrp="1"/>
          </p:cNvSpPr>
          <p:nvPr/>
        </p:nvSpPr>
        <p:spPr>
          <a:xfrm>
            <a:off x="495300" y="17335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5" name="outcome-body-0">
            <a:extLst>
              <a:ext uri="{FF2B5EF4-FFF2-40B4-BE49-F238E27FC236}">
                <a16:creationId xmlns:a16="http://schemas.microsoft.com/office/drawing/2014/main" id="{12717442-21CA-4420-A517-57BDA7FAC6DD}"/>
              </a:ext>
            </a:extLst>
          </p:cNvPr>
          <p:cNvSpPr>
            <a:spLocks noGrp="1"/>
          </p:cNvSpPr>
          <p:nvPr/>
        </p:nvSpPr>
        <p:spPr>
          <a:xfrm>
            <a:off x="495300" y="2247900"/>
            <a:ext cx="5143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Trace every metric to the audited 10-K and Metric_ID input.</a:t>
            </a:r>
          </a:p>
        </p:txBody>
      </p:sp>
      <p:sp>
        <p:nvSpPr>
          <p:cNvPr id="6" name="outcome-label-1">
            <a:extLst>
              <a:ext uri="{FF2B5EF4-FFF2-40B4-BE49-F238E27FC236}">
                <a16:creationId xmlns:a16="http://schemas.microsoft.com/office/drawing/2014/main" id="{1172A28B-CE9A-404D-8D62-FD421B52E01E}"/>
              </a:ext>
            </a:extLst>
          </p:cNvPr>
          <p:cNvSpPr>
            <a:spLocks noGrp="1"/>
          </p:cNvSpPr>
          <p:nvPr/>
        </p:nvSpPr>
        <p:spPr>
          <a:xfrm>
            <a:off x="6248400" y="17335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7" name="outcome-body-1">
            <a:extLst>
              <a:ext uri="{FF2B5EF4-FFF2-40B4-BE49-F238E27FC236}">
                <a16:creationId xmlns:a16="http://schemas.microsoft.com/office/drawing/2014/main" id="{4A06E22A-1E8E-4DCE-897A-890DB275CEE7}"/>
              </a:ext>
            </a:extLst>
          </p:cNvPr>
          <p:cNvSpPr>
            <a:spLocks noGrp="1"/>
          </p:cNvSpPr>
          <p:nvPr/>
        </p:nvSpPr>
        <p:spPr>
          <a:xfrm>
            <a:off x="6248400" y="2247900"/>
            <a:ext cx="5143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Reconcile profit, cash flow, growth, and DuPont identities.</a:t>
            </a:r>
          </a:p>
        </p:txBody>
      </p:sp>
      <p:sp>
        <p:nvSpPr>
          <p:cNvPr id="8" name="outcome-label-2">
            <a:extLst>
              <a:ext uri="{FF2B5EF4-FFF2-40B4-BE49-F238E27FC236}">
                <a16:creationId xmlns:a16="http://schemas.microsoft.com/office/drawing/2014/main" id="{C995F511-741E-422A-9691-6497B8BB8AA0}"/>
              </a:ext>
            </a:extLst>
          </p:cNvPr>
          <p:cNvSpPr>
            <a:spLocks noGrp="1"/>
          </p:cNvSpPr>
          <p:nvPr/>
        </p:nvSpPr>
        <p:spPr>
          <a:xfrm>
            <a:off x="495300" y="39433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9" name="outcome-body-2">
            <a:extLst>
              <a:ext uri="{FF2B5EF4-FFF2-40B4-BE49-F238E27FC236}">
                <a16:creationId xmlns:a16="http://schemas.microsoft.com/office/drawing/2014/main" id="{AD40D933-DA43-4C4D-9F0B-A6883E879BFC}"/>
              </a:ext>
            </a:extLst>
          </p:cNvPr>
          <p:cNvSpPr>
            <a:spLocks noGrp="1"/>
          </p:cNvSpPr>
          <p:nvPr/>
        </p:nvSpPr>
        <p:spPr>
          <a:xfrm>
            <a:off x="495300" y="4457700"/>
            <a:ext cx="5143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AI and Python to create four reproducible visualizations.</a:t>
            </a:r>
          </a:p>
        </p:txBody>
      </p:sp>
      <p:sp>
        <p:nvSpPr>
          <p:cNvPr id="10" name="outcome-label-3">
            <a:extLst>
              <a:ext uri="{FF2B5EF4-FFF2-40B4-BE49-F238E27FC236}">
                <a16:creationId xmlns:a16="http://schemas.microsoft.com/office/drawing/2014/main" id="{B3C68C05-48BC-49F3-B888-DF7637C9B4F3}"/>
              </a:ext>
            </a:extLst>
          </p:cNvPr>
          <p:cNvSpPr>
            <a:spLocks noGrp="1"/>
          </p:cNvSpPr>
          <p:nvPr/>
        </p:nvSpPr>
        <p:spPr>
          <a:xfrm>
            <a:off x="6248400" y="39433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1" name="outcome-body-3">
            <a:extLst>
              <a:ext uri="{FF2B5EF4-FFF2-40B4-BE49-F238E27FC236}">
                <a16:creationId xmlns:a16="http://schemas.microsoft.com/office/drawing/2014/main" id="{13F4D5BB-E799-4235-8B9F-34E226DF4EB9}"/>
              </a:ext>
            </a:extLst>
          </p:cNvPr>
          <p:cNvSpPr>
            <a:spLocks noGrp="1"/>
          </p:cNvSpPr>
          <p:nvPr/>
        </p:nvSpPr>
        <p:spPr>
          <a:xfrm>
            <a:off x="6248400" y="4457700"/>
            <a:ext cx="5143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sources, formulas, code, visual encoding, and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52190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4">
            <a:extLst>
              <a:ext uri="{FF2B5EF4-FFF2-40B4-BE49-F238E27FC236}">
                <a16:creationId xmlns:a16="http://schemas.microsoft.com/office/drawing/2014/main" id="{52F41523-B865-47EA-B1B9-D3A25C368FC9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company. Four lenses. One verified story.</a:t>
            </a:r>
          </a:p>
        </p:txBody>
      </p:sp>
      <p:sp>
        <p:nvSpPr>
          <p:cNvPr id="2" name="footer-section-4">
            <a:extLst>
              <a:ext uri="{FF2B5EF4-FFF2-40B4-BE49-F238E27FC236}">
                <a16:creationId xmlns:a16="http://schemas.microsoft.com/office/drawing/2014/main" id="{5F0090EE-EE75-468C-9DF3-95820961F6CF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CASE OVERVIEW</a:t>
            </a:r>
          </a:p>
        </p:txBody>
      </p:sp>
      <p:sp>
        <p:nvSpPr>
          <p:cNvPr id="3" name="footer-number-4">
            <a:extLst>
              <a:ext uri="{FF2B5EF4-FFF2-40B4-BE49-F238E27FC236}">
                <a16:creationId xmlns:a16="http://schemas.microsoft.com/office/drawing/2014/main" id="{042E1C0D-07C0-4B2E-9CE3-3EE1A03571D0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image-backing-Verified P&amp;G fin">
            <a:extLst>
              <a:ext uri="{FF2B5EF4-FFF2-40B4-BE49-F238E27FC236}">
                <a16:creationId xmlns:a16="http://schemas.microsoft.com/office/drawing/2014/main" id="{7667A93E-6CC2-4507-84D7-F951777B44A6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10477500" cy="4524375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57475" y="1381125"/>
            <a:ext cx="6877050" cy="4524375"/>
          </a:xfrm>
          <a:prstGeom prst="roundRect">
            <a:avLst>
              <a:gd name="adj" fmla="val 2526"/>
            </a:avLst>
          </a:prstGeom>
        </p:spPr>
      </p:pic>
      <p:sp>
        <p:nvSpPr>
          <p:cNvPr id="6" name="source-slide-Sources:">
            <a:extLst>
              <a:ext uri="{FF2B5EF4-FFF2-40B4-BE49-F238E27FC236}">
                <a16:creationId xmlns:a16="http://schemas.microsoft.com/office/drawing/2014/main" id="{3C5350F6-6A87-4FF4-BAB2-9C5BA4128690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Sources: P&amp;G FY2025 and FY2022 Forms 10-K; supplied FINC 310 package.</a:t>
            </a:r>
          </a:p>
        </p:txBody>
      </p:sp>
    </p:spTree>
    <p:extLst>
      <p:ext uri="{BB962C8B-B14F-4D97-AF65-F5344CB8AC3E}">
        <p14:creationId xmlns:p14="http://schemas.microsoft.com/office/powerpoint/2010/main" val="151885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-5">
            <a:extLst>
              <a:ext uri="{FF2B5EF4-FFF2-40B4-BE49-F238E27FC236}">
                <a16:creationId xmlns:a16="http://schemas.microsoft.com/office/drawing/2014/main" id="{9B1C37D3-37F7-4FA1-B2A8-C3CF80D970E6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Your assignment turns audited data into four answers</a:t>
            </a:r>
          </a:p>
        </p:txBody>
      </p:sp>
      <p:sp>
        <p:nvSpPr>
          <p:cNvPr id="2" name="footer-section-5">
            <a:extLst>
              <a:ext uri="{FF2B5EF4-FFF2-40B4-BE49-F238E27FC236}">
                <a16:creationId xmlns:a16="http://schemas.microsoft.com/office/drawing/2014/main" id="{895D262B-4CB9-4488-9304-C344739AE768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ASSIGNMENT SETUP</a:t>
            </a:r>
          </a:p>
        </p:txBody>
      </p:sp>
      <p:sp>
        <p:nvSpPr>
          <p:cNvPr id="3" name="footer-number-5">
            <a:extLst>
              <a:ext uri="{FF2B5EF4-FFF2-40B4-BE49-F238E27FC236}">
                <a16:creationId xmlns:a16="http://schemas.microsoft.com/office/drawing/2014/main" id="{38861319-3F7E-42D2-AB0C-6AF286EFA708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lens-num-0">
            <a:extLst>
              <a:ext uri="{FF2B5EF4-FFF2-40B4-BE49-F238E27FC236}">
                <a16:creationId xmlns:a16="http://schemas.microsoft.com/office/drawing/2014/main" id="{96D3988B-EE68-41D8-A301-57D30A5646D3}"/>
              </a:ext>
            </a:extLst>
          </p:cNvPr>
          <p:cNvSpPr>
            <a:spLocks noGrp="1"/>
          </p:cNvSpPr>
          <p:nvPr/>
        </p:nvSpPr>
        <p:spPr>
          <a:xfrm>
            <a:off x="495300" y="1733550"/>
            <a:ext cx="666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lens-title-0">
            <a:extLst>
              <a:ext uri="{FF2B5EF4-FFF2-40B4-BE49-F238E27FC236}">
                <a16:creationId xmlns:a16="http://schemas.microsoft.com/office/drawing/2014/main" id="{20F16DFA-0E8F-4253-B5BA-3313ECC3125D}"/>
              </a:ext>
            </a:extLst>
          </p:cNvPr>
          <p:cNvSpPr>
            <a:spLocks noGrp="1"/>
          </p:cNvSpPr>
          <p:nvPr/>
        </p:nvSpPr>
        <p:spPr>
          <a:xfrm>
            <a:off x="495300" y="2724150"/>
            <a:ext cx="238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Income Statement Sankey</a:t>
            </a:r>
          </a:p>
        </p:txBody>
      </p:sp>
      <p:sp>
        <p:nvSpPr>
          <p:cNvPr id="6" name="lens-body-0">
            <a:extLst>
              <a:ext uri="{FF2B5EF4-FFF2-40B4-BE49-F238E27FC236}">
                <a16:creationId xmlns:a16="http://schemas.microsoft.com/office/drawing/2014/main" id="{4C9D33DE-4DC3-4509-A65F-B541A38A3C4B}"/>
              </a:ext>
            </a:extLst>
          </p:cNvPr>
          <p:cNvSpPr>
            <a:spLocks noGrp="1"/>
          </p:cNvSpPr>
          <p:nvPr/>
        </p:nvSpPr>
        <p:spPr>
          <a:xfrm>
            <a:off x="495300" y="3571875"/>
            <a:ext cx="2333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Where did each sales dollar go?</a:t>
            </a:r>
          </a:p>
        </p:txBody>
      </p:sp>
      <p:sp>
        <p:nvSpPr>
          <p:cNvPr id="7" name="lens-num-1">
            <a:extLst>
              <a:ext uri="{FF2B5EF4-FFF2-40B4-BE49-F238E27FC236}">
                <a16:creationId xmlns:a16="http://schemas.microsoft.com/office/drawing/2014/main" id="{10BC9FFB-11B9-4B31-AF35-743244F3E205}"/>
              </a:ext>
            </a:extLst>
          </p:cNvPr>
          <p:cNvSpPr>
            <a:spLocks noGrp="1"/>
          </p:cNvSpPr>
          <p:nvPr/>
        </p:nvSpPr>
        <p:spPr>
          <a:xfrm>
            <a:off x="3333750" y="1733550"/>
            <a:ext cx="666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lens-title-1">
            <a:extLst>
              <a:ext uri="{FF2B5EF4-FFF2-40B4-BE49-F238E27FC236}">
                <a16:creationId xmlns:a16="http://schemas.microsoft.com/office/drawing/2014/main" id="{7D42C484-3CD5-4F4C-9888-0FE3338553EA}"/>
              </a:ext>
            </a:extLst>
          </p:cNvPr>
          <p:cNvSpPr>
            <a:spLocks noGrp="1"/>
          </p:cNvSpPr>
          <p:nvPr/>
        </p:nvSpPr>
        <p:spPr>
          <a:xfrm>
            <a:off x="3333750" y="2724150"/>
            <a:ext cx="238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>
              <a:lnSpc>
                <a:spcPct val="108000"/>
              </a:lnSpc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ree                Waterfall</a:t>
            </a:r>
            <a:endParaRPr lang="en-US" sz="1800" b="1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Cash </a:t>
            </a:r>
          </a:p>
          <a:p>
            <a:pPr algn="l">
              <a:lnSpc>
                <a:spcPct val="108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8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Flow (F</a:t>
            </a:r>
            <a:r>
              <a:rPr sz="18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CF</a:t>
            </a:r>
            <a:r>
              <a:rPr lang="en-US" sz="1800" b="1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sz="1800" b="1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lens-body-1">
            <a:extLst>
              <a:ext uri="{FF2B5EF4-FFF2-40B4-BE49-F238E27FC236}">
                <a16:creationId xmlns:a16="http://schemas.microsoft.com/office/drawing/2014/main" id="{162AF009-3300-46EF-866B-064219992CB8}"/>
              </a:ext>
            </a:extLst>
          </p:cNvPr>
          <p:cNvSpPr>
            <a:spLocks noGrp="1"/>
          </p:cNvSpPr>
          <p:nvPr/>
        </p:nvSpPr>
        <p:spPr>
          <a:xfrm>
            <a:off x="3333750" y="3571875"/>
            <a:ext cx="2333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did operating profit become cash?</a:t>
            </a:r>
          </a:p>
        </p:txBody>
      </p:sp>
      <p:sp>
        <p:nvSpPr>
          <p:cNvPr id="10" name="lens-num-2">
            <a:extLst>
              <a:ext uri="{FF2B5EF4-FFF2-40B4-BE49-F238E27FC236}">
                <a16:creationId xmlns:a16="http://schemas.microsoft.com/office/drawing/2014/main" id="{0EBA2002-2BB8-44D3-893E-6A53CAB2A7EB}"/>
              </a:ext>
            </a:extLst>
          </p:cNvPr>
          <p:cNvSpPr>
            <a:spLocks noGrp="1"/>
          </p:cNvSpPr>
          <p:nvPr/>
        </p:nvSpPr>
        <p:spPr>
          <a:xfrm>
            <a:off x="6172200" y="1733550"/>
            <a:ext cx="666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lens-title-2">
            <a:extLst>
              <a:ext uri="{FF2B5EF4-FFF2-40B4-BE49-F238E27FC236}">
                <a16:creationId xmlns:a16="http://schemas.microsoft.com/office/drawing/2014/main" id="{DF0A08BD-A50C-4D43-834F-D711FDB5521F}"/>
              </a:ext>
            </a:extLst>
          </p:cNvPr>
          <p:cNvSpPr>
            <a:spLocks noGrp="1"/>
          </p:cNvSpPr>
          <p:nvPr/>
        </p:nvSpPr>
        <p:spPr>
          <a:xfrm>
            <a:off x="6172200" y="2724150"/>
            <a:ext cx="238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Five-Year Trend</a:t>
            </a:r>
          </a:p>
        </p:txBody>
      </p:sp>
      <p:sp>
        <p:nvSpPr>
          <p:cNvPr id="12" name="lens-body-2">
            <a:extLst>
              <a:ext uri="{FF2B5EF4-FFF2-40B4-BE49-F238E27FC236}">
                <a16:creationId xmlns:a16="http://schemas.microsoft.com/office/drawing/2014/main" id="{3D286977-AA4A-4C40-9B5E-451E0324699B}"/>
              </a:ext>
            </a:extLst>
          </p:cNvPr>
          <p:cNvSpPr>
            <a:spLocks noGrp="1"/>
          </p:cNvSpPr>
          <p:nvPr/>
        </p:nvSpPr>
        <p:spPr>
          <a:xfrm>
            <a:off x="6172200" y="3571875"/>
            <a:ext cx="2333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What changed across FY2021-FY2025?</a:t>
            </a:r>
          </a:p>
        </p:txBody>
      </p:sp>
      <p:sp>
        <p:nvSpPr>
          <p:cNvPr id="13" name="lens-num-3">
            <a:extLst>
              <a:ext uri="{FF2B5EF4-FFF2-40B4-BE49-F238E27FC236}">
                <a16:creationId xmlns:a16="http://schemas.microsoft.com/office/drawing/2014/main" id="{7A822771-0939-486A-B979-AFEBF8A0BB22}"/>
              </a:ext>
            </a:extLst>
          </p:cNvPr>
          <p:cNvSpPr>
            <a:spLocks noGrp="1"/>
          </p:cNvSpPr>
          <p:nvPr/>
        </p:nvSpPr>
        <p:spPr>
          <a:xfrm>
            <a:off x="9010650" y="1733550"/>
            <a:ext cx="666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lens-title-3">
            <a:extLst>
              <a:ext uri="{FF2B5EF4-FFF2-40B4-BE49-F238E27FC236}">
                <a16:creationId xmlns:a16="http://schemas.microsoft.com/office/drawing/2014/main" id="{30BC99BA-2AEC-44A2-AEFD-8D669BC4A009}"/>
              </a:ext>
            </a:extLst>
          </p:cNvPr>
          <p:cNvSpPr>
            <a:spLocks noGrp="1"/>
          </p:cNvSpPr>
          <p:nvPr/>
        </p:nvSpPr>
        <p:spPr>
          <a:xfrm>
            <a:off x="9010650" y="2724150"/>
            <a:ext cx="238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DuPont ROE</a:t>
            </a:r>
          </a:p>
        </p:txBody>
      </p:sp>
      <p:sp>
        <p:nvSpPr>
          <p:cNvPr id="15" name="lens-body-3">
            <a:extLst>
              <a:ext uri="{FF2B5EF4-FFF2-40B4-BE49-F238E27FC236}">
                <a16:creationId xmlns:a16="http://schemas.microsoft.com/office/drawing/2014/main" id="{8D7B0D34-C74D-4E7E-8BC3-C5AFC458B780}"/>
              </a:ext>
            </a:extLst>
          </p:cNvPr>
          <p:cNvSpPr>
            <a:spLocks noGrp="1"/>
          </p:cNvSpPr>
          <p:nvPr/>
        </p:nvSpPr>
        <p:spPr>
          <a:xfrm>
            <a:off x="9010650" y="3571875"/>
            <a:ext cx="2333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What drives return on equity?</a:t>
            </a:r>
          </a:p>
        </p:txBody>
      </p:sp>
      <p:sp>
        <p:nvSpPr>
          <p:cNvPr id="16" name="assignment-standard">
            <a:extLst>
              <a:ext uri="{FF2B5EF4-FFF2-40B4-BE49-F238E27FC236}">
                <a16:creationId xmlns:a16="http://schemas.microsoft.com/office/drawing/2014/main" id="{528DE93E-6F61-43DA-B609-843CEB6A2D15}"/>
              </a:ext>
            </a:extLst>
          </p:cNvPr>
          <p:cNvSpPr>
            <a:spLocks noGrp="1"/>
          </p:cNvSpPr>
          <p:nvPr/>
        </p:nvSpPr>
        <p:spPr>
          <a:xfrm>
            <a:off x="495300" y="5191125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210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The shared output is one cautious conclusion supported by all four lenses and an AI verification record.</a:t>
            </a:r>
          </a:p>
        </p:txBody>
      </p:sp>
    </p:spTree>
    <p:extLst>
      <p:ext uri="{BB962C8B-B14F-4D97-AF65-F5344CB8AC3E}">
        <p14:creationId xmlns:p14="http://schemas.microsoft.com/office/powerpoint/2010/main" val="1050313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6">
            <a:extLst>
              <a:ext uri="{FF2B5EF4-FFF2-40B4-BE49-F238E27FC236}">
                <a16:creationId xmlns:a16="http://schemas.microsoft.com/office/drawing/2014/main" id="{7ACC5049-E20C-4AD2-B6D5-54C0C8016ADC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Roles distribute the work - not the responsibility</a:t>
            </a:r>
          </a:p>
        </p:txBody>
      </p:sp>
      <p:sp>
        <p:nvSpPr>
          <p:cNvPr id="2" name="footer-section-6">
            <a:extLst>
              <a:ext uri="{FF2B5EF4-FFF2-40B4-BE49-F238E27FC236}">
                <a16:creationId xmlns:a16="http://schemas.microsoft.com/office/drawing/2014/main" id="{7C4A9205-59D3-40A3-BD8E-EF036D9807CB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TEAM STRUCTURE</a:t>
            </a:r>
          </a:p>
        </p:txBody>
      </p:sp>
      <p:sp>
        <p:nvSpPr>
          <p:cNvPr id="3" name="footer-number-6">
            <a:extLst>
              <a:ext uri="{FF2B5EF4-FFF2-40B4-BE49-F238E27FC236}">
                <a16:creationId xmlns:a16="http://schemas.microsoft.com/office/drawing/2014/main" id="{2C424C88-B7D7-4D7D-A72A-371BA8FA5BBC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role-title-0">
            <a:extLst>
              <a:ext uri="{FF2B5EF4-FFF2-40B4-BE49-F238E27FC236}">
                <a16:creationId xmlns:a16="http://schemas.microsoft.com/office/drawing/2014/main" id="{994B3790-4F80-4756-88AA-3992B04DB451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5" name="role-body-0">
            <a:extLst>
              <a:ext uri="{FF2B5EF4-FFF2-40B4-BE49-F238E27FC236}">
                <a16:creationId xmlns:a16="http://schemas.microsoft.com/office/drawing/2014/main" id="{A7A01BB1-B0D2-449A-9B73-83A6814E633C}"/>
              </a:ext>
            </a:extLst>
          </p:cNvPr>
          <p:cNvSpPr>
            <a:spLocks noGrp="1"/>
          </p:cNvSpPr>
          <p:nvPr/>
        </p:nvSpPr>
        <p:spPr>
          <a:xfrm>
            <a:off x="495300" y="21145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Source, year, units, signs</a:t>
            </a:r>
          </a:p>
        </p:txBody>
      </p:sp>
      <p:sp>
        <p:nvSpPr>
          <p:cNvPr id="6" name="role-check-0">
            <a:extLst>
              <a:ext uri="{FF2B5EF4-FFF2-40B4-BE49-F238E27FC236}">
                <a16:creationId xmlns:a16="http://schemas.microsoft.com/office/drawing/2014/main" id="{EEF3A026-BB5A-4EEF-97FD-6F396939D378}"/>
              </a:ext>
            </a:extLst>
          </p:cNvPr>
          <p:cNvSpPr>
            <a:spLocks noGrp="1"/>
          </p:cNvSpPr>
          <p:nvPr/>
        </p:nvSpPr>
        <p:spPr>
          <a:xfrm>
            <a:off x="495300" y="300037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Cross-check one result owned by another role.</a:t>
            </a:r>
          </a:p>
        </p:txBody>
      </p:sp>
      <p:sp>
        <p:nvSpPr>
          <p:cNvPr id="7" name="role-title-1">
            <a:extLst>
              <a:ext uri="{FF2B5EF4-FFF2-40B4-BE49-F238E27FC236}">
                <a16:creationId xmlns:a16="http://schemas.microsoft.com/office/drawing/2014/main" id="{DD2125C4-4E13-4B16-878F-FDC86BDE9555}"/>
              </a:ext>
            </a:extLst>
          </p:cNvPr>
          <p:cNvSpPr>
            <a:spLocks noGrp="1"/>
          </p:cNvSpPr>
          <p:nvPr/>
        </p:nvSpPr>
        <p:spPr>
          <a:xfrm>
            <a:off x="4248150" y="16192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SANKEY</a:t>
            </a:r>
          </a:p>
        </p:txBody>
      </p:sp>
      <p:sp>
        <p:nvSpPr>
          <p:cNvPr id="8" name="role-body-1">
            <a:extLst>
              <a:ext uri="{FF2B5EF4-FFF2-40B4-BE49-F238E27FC236}">
                <a16:creationId xmlns:a16="http://schemas.microsoft.com/office/drawing/2014/main" id="{B8E2CD59-D786-44FF-BB3E-F3BE61B0CC01}"/>
              </a:ext>
            </a:extLst>
          </p:cNvPr>
          <p:cNvSpPr>
            <a:spLocks noGrp="1"/>
          </p:cNvSpPr>
          <p:nvPr/>
        </p:nvSpPr>
        <p:spPr>
          <a:xfrm>
            <a:off x="4248150" y="21145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Income statement flow</a:t>
            </a:r>
          </a:p>
        </p:txBody>
      </p:sp>
      <p:sp>
        <p:nvSpPr>
          <p:cNvPr id="9" name="role-check-1">
            <a:extLst>
              <a:ext uri="{FF2B5EF4-FFF2-40B4-BE49-F238E27FC236}">
                <a16:creationId xmlns:a16="http://schemas.microsoft.com/office/drawing/2014/main" id="{EF17596A-FB98-421E-9F53-4517001E377B}"/>
              </a:ext>
            </a:extLst>
          </p:cNvPr>
          <p:cNvSpPr>
            <a:spLocks noGrp="1"/>
          </p:cNvSpPr>
          <p:nvPr/>
        </p:nvSpPr>
        <p:spPr>
          <a:xfrm>
            <a:off x="4248150" y="300037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Cross-check one result owned by another role.</a:t>
            </a:r>
          </a:p>
        </p:txBody>
      </p:sp>
      <p:sp>
        <p:nvSpPr>
          <p:cNvPr id="10" name="role-title-2">
            <a:extLst>
              <a:ext uri="{FF2B5EF4-FFF2-40B4-BE49-F238E27FC236}">
                <a16:creationId xmlns:a16="http://schemas.microsoft.com/office/drawing/2014/main" id="{6633F638-387A-4B9B-A19B-ED4A01D1F138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CASH</a:t>
            </a:r>
          </a:p>
        </p:txBody>
      </p:sp>
      <p:sp>
        <p:nvSpPr>
          <p:cNvPr id="11" name="role-body-2">
            <a:extLst>
              <a:ext uri="{FF2B5EF4-FFF2-40B4-BE49-F238E27FC236}">
                <a16:creationId xmlns:a16="http://schemas.microsoft.com/office/drawing/2014/main" id="{724C0030-DAD7-4904-9CB4-80F009028E83}"/>
              </a:ext>
            </a:extLst>
          </p:cNvPr>
          <p:cNvSpPr>
            <a:spLocks noGrp="1"/>
          </p:cNvSpPr>
          <p:nvPr/>
        </p:nvSpPr>
        <p:spPr>
          <a:xfrm>
            <a:off x="8001000" y="21145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NOPAT, NOWC, FCF</a:t>
            </a:r>
          </a:p>
        </p:txBody>
      </p:sp>
      <p:sp>
        <p:nvSpPr>
          <p:cNvPr id="12" name="role-check-2">
            <a:extLst>
              <a:ext uri="{FF2B5EF4-FFF2-40B4-BE49-F238E27FC236}">
                <a16:creationId xmlns:a16="http://schemas.microsoft.com/office/drawing/2014/main" id="{46FA2B91-A9E8-4DE4-83FB-A3872AB1D6F9}"/>
              </a:ext>
            </a:extLst>
          </p:cNvPr>
          <p:cNvSpPr>
            <a:spLocks noGrp="1"/>
          </p:cNvSpPr>
          <p:nvPr/>
        </p:nvSpPr>
        <p:spPr>
          <a:xfrm>
            <a:off x="8001000" y="300037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Cross-check one result owned by another role.</a:t>
            </a:r>
          </a:p>
        </p:txBody>
      </p:sp>
      <p:sp>
        <p:nvSpPr>
          <p:cNvPr id="13" name="role-title-3">
            <a:extLst>
              <a:ext uri="{FF2B5EF4-FFF2-40B4-BE49-F238E27FC236}">
                <a16:creationId xmlns:a16="http://schemas.microsoft.com/office/drawing/2014/main" id="{399737D9-D8C0-4DBE-9166-EBA07CF3C0F8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TREND + DUPONT</a:t>
            </a:r>
          </a:p>
        </p:txBody>
      </p:sp>
      <p:sp>
        <p:nvSpPr>
          <p:cNvPr id="14" name="role-body-3">
            <a:extLst>
              <a:ext uri="{FF2B5EF4-FFF2-40B4-BE49-F238E27FC236}">
                <a16:creationId xmlns:a16="http://schemas.microsoft.com/office/drawing/2014/main" id="{23C00AF3-66E1-4D0E-A416-86855C487C51}"/>
              </a:ext>
            </a:extLst>
          </p:cNvPr>
          <p:cNvSpPr>
            <a:spLocks noGrp="1"/>
          </p:cNvSpPr>
          <p:nvPr/>
        </p:nvSpPr>
        <p:spPr>
          <a:xfrm>
            <a:off x="495300" y="42100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CAGR and ROE factors</a:t>
            </a:r>
          </a:p>
        </p:txBody>
      </p:sp>
      <p:sp>
        <p:nvSpPr>
          <p:cNvPr id="15" name="role-check-3">
            <a:extLst>
              <a:ext uri="{FF2B5EF4-FFF2-40B4-BE49-F238E27FC236}">
                <a16:creationId xmlns:a16="http://schemas.microsoft.com/office/drawing/2014/main" id="{C14FFAE7-AC64-4BC4-8ECA-534EAF03DAEB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Cross-check one result owned by another role.</a:t>
            </a:r>
          </a:p>
        </p:txBody>
      </p:sp>
      <p:sp>
        <p:nvSpPr>
          <p:cNvPr id="16" name="role-title-4">
            <a:extLst>
              <a:ext uri="{FF2B5EF4-FFF2-40B4-BE49-F238E27FC236}">
                <a16:creationId xmlns:a16="http://schemas.microsoft.com/office/drawing/2014/main" id="{33EC3109-ACE6-4C64-87EE-B2D22AA256ED}"/>
              </a:ext>
            </a:extLst>
          </p:cNvPr>
          <p:cNvSpPr>
            <a:spLocks noGrp="1"/>
          </p:cNvSpPr>
          <p:nvPr/>
        </p:nvSpPr>
        <p:spPr>
          <a:xfrm>
            <a:off x="4248150" y="37147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PYTHON + AI</a:t>
            </a:r>
          </a:p>
        </p:txBody>
      </p:sp>
      <p:sp>
        <p:nvSpPr>
          <p:cNvPr id="17" name="role-body-4">
            <a:extLst>
              <a:ext uri="{FF2B5EF4-FFF2-40B4-BE49-F238E27FC236}">
                <a16:creationId xmlns:a16="http://schemas.microsoft.com/office/drawing/2014/main" id="{D717135E-4F03-4C63-B512-8B2621B9F806}"/>
              </a:ext>
            </a:extLst>
          </p:cNvPr>
          <p:cNvSpPr>
            <a:spLocks noGrp="1"/>
          </p:cNvSpPr>
          <p:nvPr/>
        </p:nvSpPr>
        <p:spPr>
          <a:xfrm>
            <a:off x="4248150" y="42100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 and REM</a:t>
            </a:r>
          </a:p>
        </p:txBody>
      </p:sp>
      <p:sp>
        <p:nvSpPr>
          <p:cNvPr id="18" name="role-check-4">
            <a:extLst>
              <a:ext uri="{FF2B5EF4-FFF2-40B4-BE49-F238E27FC236}">
                <a16:creationId xmlns:a16="http://schemas.microsoft.com/office/drawing/2014/main" id="{868E4A04-78CE-494F-9167-E74DBBCB8838}"/>
              </a:ext>
            </a:extLst>
          </p:cNvPr>
          <p:cNvSpPr>
            <a:spLocks noGrp="1"/>
          </p:cNvSpPr>
          <p:nvPr/>
        </p:nvSpPr>
        <p:spPr>
          <a:xfrm>
            <a:off x="4248150" y="509587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Cross-check one result owned by another role.</a:t>
            </a:r>
          </a:p>
        </p:txBody>
      </p:sp>
      <p:sp>
        <p:nvSpPr>
          <p:cNvPr id="19" name="role-title-5">
            <a:extLst>
              <a:ext uri="{FF2B5EF4-FFF2-40B4-BE49-F238E27FC236}">
                <a16:creationId xmlns:a16="http://schemas.microsoft.com/office/drawing/2014/main" id="{12F4DBDA-FABA-46AD-B72C-53252E9097A0}"/>
              </a:ext>
            </a:extLst>
          </p:cNvPr>
          <p:cNvSpPr>
            <a:spLocks noGrp="1"/>
          </p:cNvSpPr>
          <p:nvPr/>
        </p:nvSpPr>
        <p:spPr>
          <a:xfrm>
            <a:off x="8001000" y="37147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AUDIT + STORY</a:t>
            </a:r>
          </a:p>
        </p:txBody>
      </p:sp>
      <p:sp>
        <p:nvSpPr>
          <p:cNvPr id="20" name="role-body-5">
            <a:extLst>
              <a:ext uri="{FF2B5EF4-FFF2-40B4-BE49-F238E27FC236}">
                <a16:creationId xmlns:a16="http://schemas.microsoft.com/office/drawing/2014/main" id="{1ED17C0C-C204-4AD1-8073-B7CA753B6275}"/>
              </a:ext>
            </a:extLst>
          </p:cNvPr>
          <p:cNvSpPr>
            <a:spLocks noGrp="1"/>
          </p:cNvSpPr>
          <p:nvPr/>
        </p:nvSpPr>
        <p:spPr>
          <a:xfrm>
            <a:off x="8001000" y="42100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Checks and presentation</a:t>
            </a:r>
          </a:p>
        </p:txBody>
      </p:sp>
      <p:sp>
        <p:nvSpPr>
          <p:cNvPr id="21" name="role-check-5">
            <a:extLst>
              <a:ext uri="{FF2B5EF4-FFF2-40B4-BE49-F238E27FC236}">
                <a16:creationId xmlns:a16="http://schemas.microsoft.com/office/drawing/2014/main" id="{B296FE71-14AB-4703-94E3-C8F7B6392E0A}"/>
              </a:ext>
            </a:extLst>
          </p:cNvPr>
          <p:cNvSpPr>
            <a:spLocks noGrp="1"/>
          </p:cNvSpPr>
          <p:nvPr/>
        </p:nvSpPr>
        <p:spPr>
          <a:xfrm>
            <a:off x="8001000" y="5095875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Cross-check one result owned by another role.</a:t>
            </a:r>
          </a:p>
        </p:txBody>
      </p:sp>
    </p:spTree>
    <p:extLst>
      <p:ext uri="{BB962C8B-B14F-4D97-AF65-F5344CB8AC3E}">
        <p14:creationId xmlns:p14="http://schemas.microsoft.com/office/powerpoint/2010/main" val="325343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-7">
            <a:extLst>
              <a:ext uri="{FF2B5EF4-FFF2-40B4-BE49-F238E27FC236}">
                <a16:creationId xmlns:a16="http://schemas.microsoft.com/office/drawing/2014/main" id="{69042367-B64C-4287-A7DF-E2E68419F79C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number begins in the audited 10-K</a:t>
            </a:r>
          </a:p>
        </p:txBody>
      </p:sp>
      <p:sp>
        <p:nvSpPr>
          <p:cNvPr id="2" name="footer-section-7">
            <a:extLst>
              <a:ext uri="{FF2B5EF4-FFF2-40B4-BE49-F238E27FC236}">
                <a16:creationId xmlns:a16="http://schemas.microsoft.com/office/drawing/2014/main" id="{F30A18B5-30A1-4010-A978-C1AAA73AAC07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 CONTROL</a:t>
            </a:r>
          </a:p>
        </p:txBody>
      </p:sp>
      <p:sp>
        <p:nvSpPr>
          <p:cNvPr id="3" name="footer-number-7">
            <a:extLst>
              <a:ext uri="{FF2B5EF4-FFF2-40B4-BE49-F238E27FC236}">
                <a16:creationId xmlns:a16="http://schemas.microsoft.com/office/drawing/2014/main" id="{6F43FC18-587B-4B29-A6AD-EE212B774D6D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source-thesis">
            <a:extLst>
              <a:ext uri="{FF2B5EF4-FFF2-40B4-BE49-F238E27FC236}">
                <a16:creationId xmlns:a16="http://schemas.microsoft.com/office/drawing/2014/main" id="{D21BC485-EC3A-46F4-9066-FC1B27FBF9DE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372" lnSpcReduction="10000"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Trace one value through the complete evidence chain:</a:t>
            </a:r>
          </a:p>
        </p:txBody>
      </p:sp>
      <p:sp>
        <p:nvSpPr>
          <p:cNvPr id="5" name="trace-n-0">
            <a:extLst>
              <a:ext uri="{FF2B5EF4-FFF2-40B4-BE49-F238E27FC236}">
                <a16:creationId xmlns:a16="http://schemas.microsoft.com/office/drawing/2014/main" id="{E0C11B48-0539-44B2-B196-A37CFA676444}"/>
              </a:ext>
            </a:extLst>
          </p:cNvPr>
          <p:cNvSpPr>
            <a:spLocks noGrp="1"/>
          </p:cNvSpPr>
          <p:nvPr/>
        </p:nvSpPr>
        <p:spPr>
          <a:xfrm>
            <a:off x="495300" y="23622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race-title-0">
            <a:extLst>
              <a:ext uri="{FF2B5EF4-FFF2-40B4-BE49-F238E27FC236}">
                <a16:creationId xmlns:a16="http://schemas.microsoft.com/office/drawing/2014/main" id="{68B72ABC-0ACB-41B4-906C-64206A8D44CE}"/>
              </a:ext>
            </a:extLst>
          </p:cNvPr>
          <p:cNvSpPr>
            <a:spLocks noGrp="1"/>
          </p:cNvSpPr>
          <p:nvPr/>
        </p:nvSpPr>
        <p:spPr>
          <a:xfrm>
            <a:off x="1047750" y="23622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10-K statement</a:t>
            </a:r>
          </a:p>
        </p:txBody>
      </p:sp>
      <p:sp>
        <p:nvSpPr>
          <p:cNvPr id="7" name="trace-body-0">
            <a:extLst>
              <a:ext uri="{FF2B5EF4-FFF2-40B4-BE49-F238E27FC236}">
                <a16:creationId xmlns:a16="http://schemas.microsoft.com/office/drawing/2014/main" id="{73C2B545-447C-4186-9978-8741467EAA05}"/>
              </a:ext>
            </a:extLst>
          </p:cNvPr>
          <p:cNvSpPr>
            <a:spLocks noGrp="1"/>
          </p:cNvSpPr>
          <p:nvPr/>
        </p:nvSpPr>
        <p:spPr>
          <a:xfrm>
            <a:off x="2781300" y="23622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Audited line item and fiscal year</a:t>
            </a:r>
          </a:p>
        </p:txBody>
      </p:sp>
      <p:sp>
        <p:nvSpPr>
          <p:cNvPr id="8" name="trace-n-1">
            <a:extLst>
              <a:ext uri="{FF2B5EF4-FFF2-40B4-BE49-F238E27FC236}">
                <a16:creationId xmlns:a16="http://schemas.microsoft.com/office/drawing/2014/main" id="{B01B4D46-1C13-4C3A-8875-CDDCB8AA76E8}"/>
              </a:ext>
            </a:extLst>
          </p:cNvPr>
          <p:cNvSpPr>
            <a:spLocks noGrp="1"/>
          </p:cNvSpPr>
          <p:nvPr/>
        </p:nvSpPr>
        <p:spPr>
          <a:xfrm>
            <a:off x="495300" y="321945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trace-title-1">
            <a:extLst>
              <a:ext uri="{FF2B5EF4-FFF2-40B4-BE49-F238E27FC236}">
                <a16:creationId xmlns:a16="http://schemas.microsoft.com/office/drawing/2014/main" id="{C33DA326-A5F8-46DF-A400-4D94B1BC9054}"/>
              </a:ext>
            </a:extLst>
          </p:cNvPr>
          <p:cNvSpPr>
            <a:spLocks noGrp="1"/>
          </p:cNvSpPr>
          <p:nvPr/>
        </p:nvSpPr>
        <p:spPr>
          <a:xfrm>
            <a:off x="1047750" y="32194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01_Input</a:t>
            </a:r>
          </a:p>
        </p:txBody>
      </p:sp>
      <p:sp>
        <p:nvSpPr>
          <p:cNvPr id="10" name="trace-body-1">
            <a:extLst>
              <a:ext uri="{FF2B5EF4-FFF2-40B4-BE49-F238E27FC236}">
                <a16:creationId xmlns:a16="http://schemas.microsoft.com/office/drawing/2014/main" id="{FD387C0D-F84C-48C2-BFA7-74EF1B68111A}"/>
              </a:ext>
            </a:extLst>
          </p:cNvPr>
          <p:cNvSpPr>
            <a:spLocks noGrp="1"/>
          </p:cNvSpPr>
          <p:nvPr/>
        </p:nvSpPr>
        <p:spPr>
          <a:xfrm>
            <a:off x="2781300" y="32194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Metric_ID, unit, sign, source reference</a:t>
            </a:r>
          </a:p>
        </p:txBody>
      </p:sp>
      <p:sp>
        <p:nvSpPr>
          <p:cNvPr id="11" name="trace-n-2">
            <a:extLst>
              <a:ext uri="{FF2B5EF4-FFF2-40B4-BE49-F238E27FC236}">
                <a16:creationId xmlns:a16="http://schemas.microsoft.com/office/drawing/2014/main" id="{E0EAAF47-0F13-4714-A97C-C530208619F3}"/>
              </a:ext>
            </a:extLst>
          </p:cNvPr>
          <p:cNvSpPr>
            <a:spLocks noGrp="1"/>
          </p:cNvSpPr>
          <p:nvPr/>
        </p:nvSpPr>
        <p:spPr>
          <a:xfrm>
            <a:off x="495300" y="40767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trace-title-2">
            <a:extLst>
              <a:ext uri="{FF2B5EF4-FFF2-40B4-BE49-F238E27FC236}">
                <a16:creationId xmlns:a16="http://schemas.microsoft.com/office/drawing/2014/main" id="{3EB1D78C-4544-434F-BAC8-60E0592209F3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3" name="trace-body-2">
            <a:extLst>
              <a:ext uri="{FF2B5EF4-FFF2-40B4-BE49-F238E27FC236}">
                <a16:creationId xmlns:a16="http://schemas.microsoft.com/office/drawing/2014/main" id="{34852D21-4455-4516-BBD5-3FF65454FA86}"/>
              </a:ext>
            </a:extLst>
          </p:cNvPr>
          <p:cNvSpPr>
            <a:spLocks noGrp="1"/>
          </p:cNvSpPr>
          <p:nvPr/>
        </p:nvSpPr>
        <p:spPr>
          <a:xfrm>
            <a:off x="2781300" y="40767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Formula and denominator choice</a:t>
            </a:r>
          </a:p>
        </p:txBody>
      </p:sp>
      <p:sp>
        <p:nvSpPr>
          <p:cNvPr id="14" name="trace-n-3">
            <a:extLst>
              <a:ext uri="{FF2B5EF4-FFF2-40B4-BE49-F238E27FC236}">
                <a16:creationId xmlns:a16="http://schemas.microsoft.com/office/drawing/2014/main" id="{8FAC7CD2-1973-423A-83A3-4FA6AFF98209}"/>
              </a:ext>
            </a:extLst>
          </p:cNvPr>
          <p:cNvSpPr>
            <a:spLocks noGrp="1"/>
          </p:cNvSpPr>
          <p:nvPr/>
        </p:nvSpPr>
        <p:spPr>
          <a:xfrm>
            <a:off x="495300" y="493395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trace-title-3">
            <a:extLst>
              <a:ext uri="{FF2B5EF4-FFF2-40B4-BE49-F238E27FC236}">
                <a16:creationId xmlns:a16="http://schemas.microsoft.com/office/drawing/2014/main" id="{C5E4AA9E-0C57-4704-BAAC-48489C733631}"/>
              </a:ext>
            </a:extLst>
          </p:cNvPr>
          <p:cNvSpPr>
            <a:spLocks noGrp="1"/>
          </p:cNvSpPr>
          <p:nvPr/>
        </p:nvSpPr>
        <p:spPr>
          <a:xfrm>
            <a:off x="1047750" y="49339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Chart</a:t>
            </a:r>
          </a:p>
        </p:txBody>
      </p:sp>
      <p:sp>
        <p:nvSpPr>
          <p:cNvPr id="16" name="trace-body-3">
            <a:extLst>
              <a:ext uri="{FF2B5EF4-FFF2-40B4-BE49-F238E27FC236}">
                <a16:creationId xmlns:a16="http://schemas.microsoft.com/office/drawing/2014/main" id="{CFE297EF-BE2F-4661-BBDD-BD0A4809D4D1}"/>
              </a:ext>
            </a:extLst>
          </p:cNvPr>
          <p:cNvSpPr>
            <a:spLocks noGrp="1"/>
          </p:cNvSpPr>
          <p:nvPr/>
        </p:nvSpPr>
        <p:spPr>
          <a:xfrm>
            <a:off x="2781300" y="49339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Label, width/bar/axis, and interpretation</a:t>
            </a:r>
          </a:p>
        </p:txBody>
      </p:sp>
      <p:sp>
        <p:nvSpPr>
          <p:cNvPr id="17" name="image-backing-P&amp;G FY2025 Conso">
            <a:extLst>
              <a:ext uri="{FF2B5EF4-FFF2-40B4-BE49-F238E27FC236}">
                <a16:creationId xmlns:a16="http://schemas.microsoft.com/office/drawing/2014/main" id="{D2194F72-AFD6-4637-B370-3EBE24A91546}"/>
              </a:ext>
            </a:extLst>
          </p:cNvPr>
          <p:cNvSpPr>
            <a:spLocks noGrp="1"/>
          </p:cNvSpPr>
          <p:nvPr/>
        </p:nvSpPr>
        <p:spPr>
          <a:xfrm>
            <a:off x="6572250" y="1352550"/>
            <a:ext cx="4333875" cy="466725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5932" y="1352550"/>
            <a:ext cx="3606511" cy="4667250"/>
          </a:xfrm>
          <a:prstGeom prst="roundRect">
            <a:avLst>
              <a:gd name="adj" fmla="val 2637"/>
            </a:avLst>
          </a:prstGeom>
        </p:spPr>
      </p:pic>
      <p:sp>
        <p:nvSpPr>
          <p:cNvPr id="19" name="source-slide-Source: ">
            <a:extLst>
              <a:ext uri="{FF2B5EF4-FFF2-40B4-BE49-F238E27FC236}">
                <a16:creationId xmlns:a16="http://schemas.microsoft.com/office/drawing/2014/main" id="{DC0F6539-59EC-417E-BDEC-CA3F494094F1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Source: P&amp;G FY2025 Form 10-K, report p. 36 (PDF p. 38).</a:t>
            </a:r>
          </a:p>
        </p:txBody>
      </p:sp>
    </p:spTree>
    <p:extLst>
      <p:ext uri="{BB962C8B-B14F-4D97-AF65-F5344CB8AC3E}">
        <p14:creationId xmlns:p14="http://schemas.microsoft.com/office/powerpoint/2010/main" val="3591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8">
            <a:extLst>
              <a:ext uri="{FF2B5EF4-FFF2-40B4-BE49-F238E27FC236}">
                <a16:creationId xmlns:a16="http://schemas.microsoft.com/office/drawing/2014/main" id="{27EE80EA-9B0B-470F-8728-359E8F3BE52A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financial story progresses from profit to risk</a:t>
            </a:r>
          </a:p>
        </p:txBody>
      </p:sp>
      <p:sp>
        <p:nvSpPr>
          <p:cNvPr id="2" name="footer-section-8">
            <a:extLst>
              <a:ext uri="{FF2B5EF4-FFF2-40B4-BE49-F238E27FC236}">
                <a16:creationId xmlns:a16="http://schemas.microsoft.com/office/drawing/2014/main" id="{FBBE0354-F452-41EB-BF0F-5B81BAABEEA9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STORY WORKFLOW</a:t>
            </a:r>
          </a:p>
        </p:txBody>
      </p:sp>
      <p:sp>
        <p:nvSpPr>
          <p:cNvPr id="3" name="footer-number-8">
            <a:extLst>
              <a:ext uri="{FF2B5EF4-FFF2-40B4-BE49-F238E27FC236}">
                <a16:creationId xmlns:a16="http://schemas.microsoft.com/office/drawing/2014/main" id="{B27282CB-3BA2-4912-95D2-FEA508C4F820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cxnSp>
        <p:nvCxnSpPr>
          <p:cNvPr id="24" name="story-line"/>
          <p:cNvCxnSpPr/>
          <p:nvPr/>
        </p:nvCxnSpPr>
        <p:spPr>
          <a:xfrm>
            <a:off x="952500" y="3286125"/>
            <a:ext cx="97917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story-dot-0">
            <a:extLst>
              <a:ext uri="{FF2B5EF4-FFF2-40B4-BE49-F238E27FC236}">
                <a16:creationId xmlns:a16="http://schemas.microsoft.com/office/drawing/2014/main" id="{FBF0F9E2-EF6F-4734-8D7C-694800E5028B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ory-step-0">
            <a:extLst>
              <a:ext uri="{FF2B5EF4-FFF2-40B4-BE49-F238E27FC236}">
                <a16:creationId xmlns:a16="http://schemas.microsoft.com/office/drawing/2014/main" id="{3462DD72-B2F0-489A-9BA2-CB464AEB7E8C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ory-title-0">
            <a:extLst>
              <a:ext uri="{FF2B5EF4-FFF2-40B4-BE49-F238E27FC236}">
                <a16:creationId xmlns:a16="http://schemas.microsoft.com/office/drawing/2014/main" id="{019D3E25-F52E-4E2A-8861-D9386C91E0AA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PROFIT</a:t>
            </a:r>
          </a:p>
        </p:txBody>
      </p:sp>
      <p:sp>
        <p:nvSpPr>
          <p:cNvPr id="8" name="story-body-0">
            <a:extLst>
              <a:ext uri="{FF2B5EF4-FFF2-40B4-BE49-F238E27FC236}">
                <a16:creationId xmlns:a16="http://schemas.microsoft.com/office/drawing/2014/main" id="{75B5FE5C-6292-4DDE-84B5-EDE88F963BEF}"/>
              </a:ext>
            </a:extLst>
          </p:cNvPr>
          <p:cNvSpPr>
            <a:spLocks noGrp="1"/>
          </p:cNvSpPr>
          <p:nvPr/>
        </p:nvSpPr>
        <p:spPr>
          <a:xfrm>
            <a:off x="952500" y="422910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Where sales went</a:t>
            </a:r>
          </a:p>
        </p:txBody>
      </p:sp>
      <p:sp>
        <p:nvSpPr>
          <p:cNvPr id="9" name="story-dot-1">
            <a:extLst>
              <a:ext uri="{FF2B5EF4-FFF2-40B4-BE49-F238E27FC236}">
                <a16:creationId xmlns:a16="http://schemas.microsoft.com/office/drawing/2014/main" id="{9081C0D8-232B-4F28-B91A-F51199E81DB8}"/>
              </a:ext>
            </a:extLst>
          </p:cNvPr>
          <p:cNvSpPr>
            <a:spLocks noGrp="1"/>
          </p:cNvSpPr>
          <p:nvPr/>
        </p:nvSpPr>
        <p:spPr>
          <a:xfrm>
            <a:off x="4191000" y="321945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ory-step-1">
            <a:extLst>
              <a:ext uri="{FF2B5EF4-FFF2-40B4-BE49-F238E27FC236}">
                <a16:creationId xmlns:a16="http://schemas.microsoft.com/office/drawing/2014/main" id="{9A56C377-1FEA-4C93-99E7-3ADB6827352E}"/>
              </a:ext>
            </a:extLst>
          </p:cNvPr>
          <p:cNvSpPr>
            <a:spLocks noGrp="1"/>
          </p:cNvSpPr>
          <p:nvPr/>
        </p:nvSpPr>
        <p:spPr>
          <a:xfrm>
            <a:off x="4191000" y="251460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tory-title-1">
            <a:extLst>
              <a:ext uri="{FF2B5EF4-FFF2-40B4-BE49-F238E27FC236}">
                <a16:creationId xmlns:a16="http://schemas.microsoft.com/office/drawing/2014/main" id="{4A3CD7F9-6FA9-4D3C-A025-D072B325F4CA}"/>
              </a:ext>
            </a:extLst>
          </p:cNvPr>
          <p:cNvSpPr>
            <a:spLocks noGrp="1"/>
          </p:cNvSpPr>
          <p:nvPr/>
        </p:nvSpPr>
        <p:spPr>
          <a:xfrm>
            <a:off x="4191000" y="37147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CASH</a:t>
            </a:r>
          </a:p>
        </p:txBody>
      </p:sp>
      <p:sp>
        <p:nvSpPr>
          <p:cNvPr id="12" name="story-body-1">
            <a:extLst>
              <a:ext uri="{FF2B5EF4-FFF2-40B4-BE49-F238E27FC236}">
                <a16:creationId xmlns:a16="http://schemas.microsoft.com/office/drawing/2014/main" id="{7072FE92-24D1-4426-B8D0-7CAC8B7E96B9}"/>
              </a:ext>
            </a:extLst>
          </p:cNvPr>
          <p:cNvSpPr>
            <a:spLocks noGrp="1"/>
          </p:cNvSpPr>
          <p:nvPr/>
        </p:nvSpPr>
        <p:spPr>
          <a:xfrm>
            <a:off x="4191000" y="422910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What remained after investment</a:t>
            </a:r>
          </a:p>
        </p:txBody>
      </p:sp>
      <p:sp>
        <p:nvSpPr>
          <p:cNvPr id="13" name="story-dot-2">
            <a:extLst>
              <a:ext uri="{FF2B5EF4-FFF2-40B4-BE49-F238E27FC236}">
                <a16:creationId xmlns:a16="http://schemas.microsoft.com/office/drawing/2014/main" id="{A817A88C-5833-4138-A3DB-0214591F8E5D}"/>
              </a:ext>
            </a:extLst>
          </p:cNvPr>
          <p:cNvSpPr>
            <a:spLocks noGrp="1"/>
          </p:cNvSpPr>
          <p:nvPr/>
        </p:nvSpPr>
        <p:spPr>
          <a:xfrm>
            <a:off x="7429500" y="321945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ory-step-2">
            <a:extLst>
              <a:ext uri="{FF2B5EF4-FFF2-40B4-BE49-F238E27FC236}">
                <a16:creationId xmlns:a16="http://schemas.microsoft.com/office/drawing/2014/main" id="{538FA3D6-A15C-4065-9627-872469B766F1}"/>
              </a:ext>
            </a:extLst>
          </p:cNvPr>
          <p:cNvSpPr>
            <a:spLocks noGrp="1"/>
          </p:cNvSpPr>
          <p:nvPr/>
        </p:nvSpPr>
        <p:spPr>
          <a:xfrm>
            <a:off x="7429500" y="251460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story-title-2">
            <a:extLst>
              <a:ext uri="{FF2B5EF4-FFF2-40B4-BE49-F238E27FC236}">
                <a16:creationId xmlns:a16="http://schemas.microsoft.com/office/drawing/2014/main" id="{2AD93EC1-B5E4-4641-8AC6-3949264C0AA3}"/>
              </a:ext>
            </a:extLst>
          </p:cNvPr>
          <p:cNvSpPr>
            <a:spLocks noGrp="1"/>
          </p:cNvSpPr>
          <p:nvPr/>
        </p:nvSpPr>
        <p:spPr>
          <a:xfrm>
            <a:off x="7429500" y="37147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6" name="story-body-2">
            <a:extLst>
              <a:ext uri="{FF2B5EF4-FFF2-40B4-BE49-F238E27FC236}">
                <a16:creationId xmlns:a16="http://schemas.microsoft.com/office/drawing/2014/main" id="{3BB3B5A6-FC7C-4FB3-9DCF-32A2C38FDD4E}"/>
              </a:ext>
            </a:extLst>
          </p:cNvPr>
          <p:cNvSpPr>
            <a:spLocks noGrp="1"/>
          </p:cNvSpPr>
          <p:nvPr/>
        </p:nvSpPr>
        <p:spPr>
          <a:xfrm>
            <a:off x="7429500" y="422910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results changed</a:t>
            </a:r>
          </a:p>
        </p:txBody>
      </p:sp>
      <p:sp>
        <p:nvSpPr>
          <p:cNvPr id="17" name="story-dot-3">
            <a:extLst>
              <a:ext uri="{FF2B5EF4-FFF2-40B4-BE49-F238E27FC236}">
                <a16:creationId xmlns:a16="http://schemas.microsoft.com/office/drawing/2014/main" id="{2D7807B2-5692-4EF6-AEFE-C8EAC6BFCEE1}"/>
              </a:ext>
            </a:extLst>
          </p:cNvPr>
          <p:cNvSpPr>
            <a:spLocks noGrp="1"/>
          </p:cNvSpPr>
          <p:nvPr/>
        </p:nvSpPr>
        <p:spPr>
          <a:xfrm>
            <a:off x="10668000" y="321945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ory-step-3">
            <a:extLst>
              <a:ext uri="{FF2B5EF4-FFF2-40B4-BE49-F238E27FC236}">
                <a16:creationId xmlns:a16="http://schemas.microsoft.com/office/drawing/2014/main" id="{668BBBB4-1000-47E3-9F66-84FFDDC47D3B}"/>
              </a:ext>
            </a:extLst>
          </p:cNvPr>
          <p:cNvSpPr>
            <a:spLocks noGrp="1"/>
          </p:cNvSpPr>
          <p:nvPr/>
        </p:nvSpPr>
        <p:spPr>
          <a:xfrm>
            <a:off x="9667875" y="251460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story-title-3">
            <a:extLst>
              <a:ext uri="{FF2B5EF4-FFF2-40B4-BE49-F238E27FC236}">
                <a16:creationId xmlns:a16="http://schemas.microsoft.com/office/drawing/2014/main" id="{59A836BD-488C-49B2-B1F2-5811C7FC1EAD}"/>
              </a:ext>
            </a:extLst>
          </p:cNvPr>
          <p:cNvSpPr>
            <a:spLocks noGrp="1"/>
          </p:cNvSpPr>
          <p:nvPr/>
        </p:nvSpPr>
        <p:spPr>
          <a:xfrm>
            <a:off x="9667875" y="37147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RETURN + RISK</a:t>
            </a:r>
          </a:p>
        </p:txBody>
      </p:sp>
      <p:sp>
        <p:nvSpPr>
          <p:cNvPr id="20" name="story-body-3">
            <a:extLst>
              <a:ext uri="{FF2B5EF4-FFF2-40B4-BE49-F238E27FC236}">
                <a16:creationId xmlns:a16="http://schemas.microsoft.com/office/drawing/2014/main" id="{F27B9B5C-D182-4D25-BCFB-4B5BEE9541A7}"/>
              </a:ext>
            </a:extLst>
          </p:cNvPr>
          <p:cNvSpPr>
            <a:spLocks noGrp="1"/>
          </p:cNvSpPr>
          <p:nvPr/>
        </p:nvSpPr>
        <p:spPr>
          <a:xfrm>
            <a:off x="9667875" y="4229100"/>
            <a:ext cx="200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Why ROE is high</a:t>
            </a:r>
          </a:p>
        </p:txBody>
      </p:sp>
    </p:spTree>
    <p:extLst>
      <p:ext uri="{BB962C8B-B14F-4D97-AF65-F5344CB8AC3E}">
        <p14:creationId xmlns:p14="http://schemas.microsoft.com/office/powerpoint/2010/main" val="193297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-9">
            <a:extLst>
              <a:ext uri="{FF2B5EF4-FFF2-40B4-BE49-F238E27FC236}">
                <a16:creationId xmlns:a16="http://schemas.microsoft.com/office/drawing/2014/main" id="{46D95965-0951-4A74-BB55-85F8A4692C3D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Sankey is an accounting identity made visible</a:t>
            </a:r>
          </a:p>
        </p:txBody>
      </p:sp>
      <p:sp>
        <p:nvSpPr>
          <p:cNvPr id="2" name="footer-section-9">
            <a:extLst>
              <a:ext uri="{FF2B5EF4-FFF2-40B4-BE49-F238E27FC236}">
                <a16:creationId xmlns:a16="http://schemas.microsoft.com/office/drawing/2014/main" id="{F6FEAA71-8D0D-48DA-B862-EEF98A686194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INCOME STATEMENT SANKEY</a:t>
            </a:r>
          </a:p>
        </p:txBody>
      </p:sp>
      <p:sp>
        <p:nvSpPr>
          <p:cNvPr id="3" name="footer-number-9">
            <a:extLst>
              <a:ext uri="{FF2B5EF4-FFF2-40B4-BE49-F238E27FC236}">
                <a16:creationId xmlns:a16="http://schemas.microsoft.com/office/drawing/2014/main" id="{080D735F-8440-41AC-8692-9591CA4D3E5D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identity-label-0">
            <a:extLst>
              <a:ext uri="{FF2B5EF4-FFF2-40B4-BE49-F238E27FC236}">
                <a16:creationId xmlns:a16="http://schemas.microsoft.com/office/drawing/2014/main" id="{D9D5A940-1659-4A9B-A256-438460F42C25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NET SALES</a:t>
            </a:r>
          </a:p>
        </p:txBody>
      </p:sp>
      <p:sp>
        <p:nvSpPr>
          <p:cNvPr id="5" name="identity-value-0">
            <a:extLst>
              <a:ext uri="{FF2B5EF4-FFF2-40B4-BE49-F238E27FC236}">
                <a16:creationId xmlns:a16="http://schemas.microsoft.com/office/drawing/2014/main" id="{9546492A-D35C-4734-9BC2-2D9C8DCEF451}"/>
              </a:ext>
            </a:extLst>
          </p:cNvPr>
          <p:cNvSpPr>
            <a:spLocks noGrp="1"/>
          </p:cNvSpPr>
          <p:nvPr/>
        </p:nvSpPr>
        <p:spPr>
          <a:xfrm>
            <a:off x="2619375" y="1428750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84,284</a:t>
            </a:r>
          </a:p>
        </p:txBody>
      </p:sp>
      <p:sp>
        <p:nvSpPr>
          <p:cNvPr id="6" name="identity-eq-0">
            <a:extLst>
              <a:ext uri="{FF2B5EF4-FFF2-40B4-BE49-F238E27FC236}">
                <a16:creationId xmlns:a16="http://schemas.microsoft.com/office/drawing/2014/main" id="{3EEE22B2-1AFA-416B-99AD-6052BFF6E85C}"/>
              </a:ext>
            </a:extLst>
          </p:cNvPr>
          <p:cNvSpPr>
            <a:spLocks noGrp="1"/>
          </p:cNvSpPr>
          <p:nvPr/>
        </p:nvSpPr>
        <p:spPr>
          <a:xfrm>
            <a:off x="4619625" y="1504950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= 41,164 COGS + 43,120 gross profit</a:t>
            </a:r>
          </a:p>
        </p:txBody>
      </p:sp>
      <p:cxnSp>
        <p:nvCxnSpPr>
          <p:cNvPr id="26" name="identity-rule-0"/>
          <p:cNvCxnSpPr/>
          <p:nvPr/>
        </p:nvCxnSpPr>
        <p:spPr>
          <a:xfrm>
            <a:off x="495300" y="2228850"/>
            <a:ext cx="10668000" cy="0"/>
          </a:xfrm>
          <a:prstGeom prst="straightConnector1">
            <a:avLst/>
          </a:prstGeom>
          <a:ln w="9525">
            <a:solidFill>
              <a:srgbClr val="EDEDED"/>
            </a:solidFill>
            <a:prstDash val="solid"/>
          </a:ln>
        </p:spPr>
      </p:cxnSp>
      <p:sp>
        <p:nvSpPr>
          <p:cNvPr id="8" name="identity-label-1">
            <a:extLst>
              <a:ext uri="{FF2B5EF4-FFF2-40B4-BE49-F238E27FC236}">
                <a16:creationId xmlns:a16="http://schemas.microsoft.com/office/drawing/2014/main" id="{74C73152-F5FA-4A46-B51F-893237FCFDB8}"/>
              </a:ext>
            </a:extLst>
          </p:cNvPr>
          <p:cNvSpPr>
            <a:spLocks noGrp="1"/>
          </p:cNvSpPr>
          <p:nvPr/>
        </p:nvSpPr>
        <p:spPr>
          <a:xfrm>
            <a:off x="495300" y="2600325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GROSS PROFIT</a:t>
            </a:r>
          </a:p>
        </p:txBody>
      </p:sp>
      <p:sp>
        <p:nvSpPr>
          <p:cNvPr id="9" name="identity-value-1">
            <a:extLst>
              <a:ext uri="{FF2B5EF4-FFF2-40B4-BE49-F238E27FC236}">
                <a16:creationId xmlns:a16="http://schemas.microsoft.com/office/drawing/2014/main" id="{FE26D044-CA0C-48CC-B60D-7874F711438A}"/>
              </a:ext>
            </a:extLst>
          </p:cNvPr>
          <p:cNvSpPr>
            <a:spLocks noGrp="1"/>
          </p:cNvSpPr>
          <p:nvPr/>
        </p:nvSpPr>
        <p:spPr>
          <a:xfrm>
            <a:off x="2619375" y="2524125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43,120</a:t>
            </a:r>
          </a:p>
        </p:txBody>
      </p:sp>
      <p:sp>
        <p:nvSpPr>
          <p:cNvPr id="10" name="identity-eq-1">
            <a:extLst>
              <a:ext uri="{FF2B5EF4-FFF2-40B4-BE49-F238E27FC236}">
                <a16:creationId xmlns:a16="http://schemas.microsoft.com/office/drawing/2014/main" id="{763DF3EC-3024-4E84-A774-0B8749244AA9}"/>
              </a:ext>
            </a:extLst>
          </p:cNvPr>
          <p:cNvSpPr>
            <a:spLocks noGrp="1"/>
          </p:cNvSpPr>
          <p:nvPr/>
        </p:nvSpPr>
        <p:spPr>
          <a:xfrm>
            <a:off x="4619625" y="26003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= 22,669 SG&amp;A + 0 impairment + 20,451 EBIT</a:t>
            </a:r>
          </a:p>
        </p:txBody>
      </p:sp>
      <p:cxnSp>
        <p:nvCxnSpPr>
          <p:cNvPr id="30" name="identity-rule-1"/>
          <p:cNvCxnSpPr/>
          <p:nvPr/>
        </p:nvCxnSpPr>
        <p:spPr>
          <a:xfrm>
            <a:off x="495300" y="3324225"/>
            <a:ext cx="10668000" cy="0"/>
          </a:xfrm>
          <a:prstGeom prst="straightConnector1">
            <a:avLst/>
          </a:prstGeom>
          <a:ln w="9525">
            <a:solidFill>
              <a:srgbClr val="EDEDED"/>
            </a:solidFill>
            <a:prstDash val="solid"/>
          </a:ln>
        </p:spPr>
      </p:cxnSp>
      <p:sp>
        <p:nvSpPr>
          <p:cNvPr id="12" name="identity-label-2">
            <a:extLst>
              <a:ext uri="{FF2B5EF4-FFF2-40B4-BE49-F238E27FC236}">
                <a16:creationId xmlns:a16="http://schemas.microsoft.com/office/drawing/2014/main" id="{C7083A93-D620-411E-A5F7-E2898AD160B2}"/>
              </a:ext>
            </a:extLst>
          </p:cNvPr>
          <p:cNvSpPr>
            <a:spLocks noGrp="1"/>
          </p:cNvSpPr>
          <p:nvPr/>
        </p:nvSpPr>
        <p:spPr>
          <a:xfrm>
            <a:off x="495300" y="36957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EBIT</a:t>
            </a:r>
          </a:p>
        </p:txBody>
      </p:sp>
      <p:sp>
        <p:nvSpPr>
          <p:cNvPr id="13" name="identity-value-2">
            <a:extLst>
              <a:ext uri="{FF2B5EF4-FFF2-40B4-BE49-F238E27FC236}">
                <a16:creationId xmlns:a16="http://schemas.microsoft.com/office/drawing/2014/main" id="{044EECA7-BAAB-4A64-B2C2-32D9412E75AA}"/>
              </a:ext>
            </a:extLst>
          </p:cNvPr>
          <p:cNvSpPr>
            <a:spLocks noGrp="1"/>
          </p:cNvSpPr>
          <p:nvPr/>
        </p:nvSpPr>
        <p:spPr>
          <a:xfrm>
            <a:off x="2619375" y="3619500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20,451</a:t>
            </a:r>
          </a:p>
        </p:txBody>
      </p:sp>
      <p:sp>
        <p:nvSpPr>
          <p:cNvPr id="14" name="identity-eq-2">
            <a:extLst>
              <a:ext uri="{FF2B5EF4-FFF2-40B4-BE49-F238E27FC236}">
                <a16:creationId xmlns:a16="http://schemas.microsoft.com/office/drawing/2014/main" id="{CB70E898-633A-4EDD-AD09-BD370456052A}"/>
              </a:ext>
            </a:extLst>
          </p:cNvPr>
          <p:cNvSpPr>
            <a:spLocks noGrp="1"/>
          </p:cNvSpPr>
          <p:nvPr/>
        </p:nvSpPr>
        <p:spPr>
          <a:xfrm>
            <a:off x="4619625" y="3695700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- 284 net non-operating expense = 20,167 EBT</a:t>
            </a:r>
          </a:p>
        </p:txBody>
      </p:sp>
      <p:cxnSp>
        <p:nvCxnSpPr>
          <p:cNvPr id="34" name="identity-rule-2"/>
          <p:cNvCxnSpPr/>
          <p:nvPr/>
        </p:nvCxnSpPr>
        <p:spPr>
          <a:xfrm>
            <a:off x="495300" y="4419600"/>
            <a:ext cx="10668000" cy="0"/>
          </a:xfrm>
          <a:prstGeom prst="straightConnector1">
            <a:avLst/>
          </a:prstGeom>
          <a:ln w="9525">
            <a:solidFill>
              <a:srgbClr val="EDEDED"/>
            </a:solidFill>
            <a:prstDash val="solid"/>
          </a:ln>
        </p:spPr>
      </p:cxnSp>
      <p:sp>
        <p:nvSpPr>
          <p:cNvPr id="16" name="identity-label-3">
            <a:extLst>
              <a:ext uri="{FF2B5EF4-FFF2-40B4-BE49-F238E27FC236}">
                <a16:creationId xmlns:a16="http://schemas.microsoft.com/office/drawing/2014/main" id="{5CCFCFD9-1452-446A-AA8A-1F11B6D7182F}"/>
              </a:ext>
            </a:extLst>
          </p:cNvPr>
          <p:cNvSpPr>
            <a:spLocks noGrp="1"/>
          </p:cNvSpPr>
          <p:nvPr/>
        </p:nvSpPr>
        <p:spPr>
          <a:xfrm>
            <a:off x="495300" y="4791075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EBT</a:t>
            </a:r>
          </a:p>
        </p:txBody>
      </p:sp>
      <p:sp>
        <p:nvSpPr>
          <p:cNvPr id="17" name="identity-value-3">
            <a:extLst>
              <a:ext uri="{FF2B5EF4-FFF2-40B4-BE49-F238E27FC236}">
                <a16:creationId xmlns:a16="http://schemas.microsoft.com/office/drawing/2014/main" id="{47C7BCF7-85F8-44B3-95E4-C07BD3E20946}"/>
              </a:ext>
            </a:extLst>
          </p:cNvPr>
          <p:cNvSpPr>
            <a:spLocks noGrp="1"/>
          </p:cNvSpPr>
          <p:nvPr/>
        </p:nvSpPr>
        <p:spPr>
          <a:xfrm>
            <a:off x="2619375" y="4714875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20,167</a:t>
            </a:r>
          </a:p>
        </p:txBody>
      </p:sp>
      <p:sp>
        <p:nvSpPr>
          <p:cNvPr id="18" name="identity-eq-3">
            <a:extLst>
              <a:ext uri="{FF2B5EF4-FFF2-40B4-BE49-F238E27FC236}">
                <a16:creationId xmlns:a16="http://schemas.microsoft.com/office/drawing/2014/main" id="{0018E80E-5C49-4738-A363-4E5F6313D88D}"/>
              </a:ext>
            </a:extLst>
          </p:cNvPr>
          <p:cNvSpPr>
            <a:spLocks noGrp="1"/>
          </p:cNvSpPr>
          <p:nvPr/>
        </p:nvSpPr>
        <p:spPr>
          <a:xfrm>
            <a:off x="4619625" y="479107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- 4,102 income taxes = 16,065 net earnings</a:t>
            </a:r>
          </a:p>
        </p:txBody>
      </p:sp>
      <p:sp>
        <p:nvSpPr>
          <p:cNvPr id="19" name="source-slide-Source: ">
            <a:extLst>
              <a:ext uri="{FF2B5EF4-FFF2-40B4-BE49-F238E27FC236}">
                <a16:creationId xmlns:a16="http://schemas.microsoft.com/office/drawing/2014/main" id="{808CF07B-4F7C-4C53-9D9C-A0FA5C3DABA8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Source: P&amp;G FY2025 Form 10-K, Consolidated Statements of Earnings, report p. 36. USD millions.</a:t>
            </a:r>
          </a:p>
        </p:txBody>
      </p:sp>
    </p:spTree>
    <p:extLst>
      <p:ext uri="{BB962C8B-B14F-4D97-AF65-F5344CB8AC3E}">
        <p14:creationId xmlns:p14="http://schemas.microsoft.com/office/powerpoint/2010/main" val="1170915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10">
            <a:extLst>
              <a:ext uri="{FF2B5EF4-FFF2-40B4-BE49-F238E27FC236}">
                <a16:creationId xmlns:a16="http://schemas.microsoft.com/office/drawing/2014/main" id="{7628BDD7-F4C1-44E4-A6B9-C609ACFFF1A9}"/>
              </a:ext>
            </a:extLst>
          </p:cNvPr>
          <p:cNvSpPr>
            <a:spLocks noGrp="1"/>
          </p:cNvSpPr>
          <p:nvPr/>
        </p:nvSpPr>
        <p:spPr>
          <a:xfrm>
            <a:off x="495300" y="82769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P&amp;G kept about 19 cents of each sales dollar as net earnings</a:t>
            </a:r>
          </a:p>
        </p:txBody>
      </p:sp>
      <p:sp>
        <p:nvSpPr>
          <p:cNvPr id="2" name="footer-section-10">
            <a:extLst>
              <a:ext uri="{FF2B5EF4-FFF2-40B4-BE49-F238E27FC236}">
                <a16:creationId xmlns:a16="http://schemas.microsoft.com/office/drawing/2014/main" id="{06085A9F-D78D-4CA1-8554-24F36974F8B0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INCOME STATEMENT SANKEY</a:t>
            </a:r>
          </a:p>
        </p:txBody>
      </p:sp>
      <p:sp>
        <p:nvSpPr>
          <p:cNvPr id="3" name="footer-number-10">
            <a:extLst>
              <a:ext uri="{FF2B5EF4-FFF2-40B4-BE49-F238E27FC236}">
                <a16:creationId xmlns:a16="http://schemas.microsoft.com/office/drawing/2014/main" id="{33E238B5-B2DA-451B-888F-487BEC8888C3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image-backing-P&amp;G FY2025 incom">
            <a:extLst>
              <a:ext uri="{FF2B5EF4-FFF2-40B4-BE49-F238E27FC236}">
                <a16:creationId xmlns:a16="http://schemas.microsoft.com/office/drawing/2014/main" id="{33EA7B0A-8435-4B54-A619-86DBDEAF425B}"/>
              </a:ext>
            </a:extLst>
          </p:cNvPr>
          <p:cNvSpPr>
            <a:spLocks noGrp="1"/>
          </p:cNvSpPr>
          <p:nvPr/>
        </p:nvSpPr>
        <p:spPr>
          <a:xfrm>
            <a:off x="628650" y="1295400"/>
            <a:ext cx="10906125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642" y="630621"/>
            <a:ext cx="10925998" cy="6106510"/>
          </a:xfrm>
          <a:prstGeom prst="roundRect">
            <a:avLst>
              <a:gd name="adj" fmla="val 2400"/>
            </a:avLst>
          </a:prstGeom>
        </p:spPr>
      </p:pic>
      <p:sp>
        <p:nvSpPr>
          <p:cNvPr id="6" name="source-slide-Source: ">
            <a:extLst>
              <a:ext uri="{FF2B5EF4-FFF2-40B4-BE49-F238E27FC236}">
                <a16:creationId xmlns:a16="http://schemas.microsoft.com/office/drawing/2014/main" id="{758145EF-A65A-4F91-BD3C-69491C95D9BA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Source: P&amp;G FY2025 Form 10-K, report p. 36. Amounts in USD millions; display labels in billions.</a:t>
            </a:r>
          </a:p>
        </p:txBody>
      </p:sp>
    </p:spTree>
    <p:extLst>
      <p:ext uri="{BB962C8B-B14F-4D97-AF65-F5344CB8AC3E}">
        <p14:creationId xmlns:p14="http://schemas.microsoft.com/office/powerpoint/2010/main" val="1848604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-11">
            <a:extLst>
              <a:ext uri="{FF2B5EF4-FFF2-40B4-BE49-F238E27FC236}">
                <a16:creationId xmlns:a16="http://schemas.microsoft.com/office/drawing/2014/main" id="{E4C87ECB-3C0C-4EED-8F2C-B4D93E479F8F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the Sankey as a one-dollar operating story</a:t>
            </a:r>
          </a:p>
        </p:txBody>
      </p:sp>
      <p:sp>
        <p:nvSpPr>
          <p:cNvPr id="2" name="footer-section-11">
            <a:extLst>
              <a:ext uri="{FF2B5EF4-FFF2-40B4-BE49-F238E27FC236}">
                <a16:creationId xmlns:a16="http://schemas.microsoft.com/office/drawing/2014/main" id="{C5C8439C-0ECF-455B-96C5-A41E319E860A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INCOME STATEMENT SANKEY</a:t>
            </a:r>
          </a:p>
        </p:txBody>
      </p:sp>
      <p:sp>
        <p:nvSpPr>
          <p:cNvPr id="3" name="footer-number-11">
            <a:extLst>
              <a:ext uri="{FF2B5EF4-FFF2-40B4-BE49-F238E27FC236}">
                <a16:creationId xmlns:a16="http://schemas.microsoft.com/office/drawing/2014/main" id="{4F462CC3-3772-4783-B91F-50A5A61F136C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dollar-stat-0-value">
            <a:extLst>
              <a:ext uri="{FF2B5EF4-FFF2-40B4-BE49-F238E27FC236}">
                <a16:creationId xmlns:a16="http://schemas.microsoft.com/office/drawing/2014/main" id="{2A9F60EC-86E0-4E9A-8BB3-E7E9EBF00BF2}"/>
              </a:ext>
            </a:extLst>
          </p:cNvPr>
          <p:cNvSpPr>
            <a:spLocks noGrp="1"/>
          </p:cNvSpPr>
          <p:nvPr/>
        </p:nvSpPr>
        <p:spPr>
          <a:xfrm>
            <a:off x="495300" y="2047875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$0.49</a:t>
            </a:r>
          </a:p>
        </p:txBody>
      </p:sp>
      <p:sp>
        <p:nvSpPr>
          <p:cNvPr id="5" name="dollar-stat-0-label">
            <a:extLst>
              <a:ext uri="{FF2B5EF4-FFF2-40B4-BE49-F238E27FC236}">
                <a16:creationId xmlns:a16="http://schemas.microsoft.com/office/drawing/2014/main" id="{2493B9F4-15FC-4472-A4FC-3C5664F66A94}"/>
              </a:ext>
            </a:extLst>
          </p:cNvPr>
          <p:cNvSpPr>
            <a:spLocks noGrp="1"/>
          </p:cNvSpPr>
          <p:nvPr/>
        </p:nvSpPr>
        <p:spPr>
          <a:xfrm>
            <a:off x="495300" y="296227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Product costs</a:t>
            </a:r>
          </a:p>
        </p:txBody>
      </p:sp>
      <p:sp>
        <p:nvSpPr>
          <p:cNvPr id="6" name="dollar-stat-1-value">
            <a:extLst>
              <a:ext uri="{FF2B5EF4-FFF2-40B4-BE49-F238E27FC236}">
                <a16:creationId xmlns:a16="http://schemas.microsoft.com/office/drawing/2014/main" id="{0F49F657-0B29-4FA9-836C-A5C9A1442E3B}"/>
              </a:ext>
            </a:extLst>
          </p:cNvPr>
          <p:cNvSpPr>
            <a:spLocks noGrp="1"/>
          </p:cNvSpPr>
          <p:nvPr/>
        </p:nvSpPr>
        <p:spPr>
          <a:xfrm>
            <a:off x="2686050" y="2047875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$0.51</a:t>
            </a:r>
          </a:p>
        </p:txBody>
      </p:sp>
      <p:sp>
        <p:nvSpPr>
          <p:cNvPr id="7" name="dollar-stat-1-label">
            <a:extLst>
              <a:ext uri="{FF2B5EF4-FFF2-40B4-BE49-F238E27FC236}">
                <a16:creationId xmlns:a16="http://schemas.microsoft.com/office/drawing/2014/main" id="{7CA5E2B4-A0D6-474B-A62A-578A3FCDE8FB}"/>
              </a:ext>
            </a:extLst>
          </p:cNvPr>
          <p:cNvSpPr>
            <a:spLocks noGrp="1"/>
          </p:cNvSpPr>
          <p:nvPr/>
        </p:nvSpPr>
        <p:spPr>
          <a:xfrm>
            <a:off x="2686050" y="296227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Gross profit remains</a:t>
            </a:r>
          </a:p>
        </p:txBody>
      </p:sp>
      <p:sp>
        <p:nvSpPr>
          <p:cNvPr id="8" name="dollar-stat-2-value">
            <a:extLst>
              <a:ext uri="{FF2B5EF4-FFF2-40B4-BE49-F238E27FC236}">
                <a16:creationId xmlns:a16="http://schemas.microsoft.com/office/drawing/2014/main" id="{6C04A58E-3810-4319-AF89-49131E2CD222}"/>
              </a:ext>
            </a:extLst>
          </p:cNvPr>
          <p:cNvSpPr>
            <a:spLocks noGrp="1"/>
          </p:cNvSpPr>
          <p:nvPr/>
        </p:nvSpPr>
        <p:spPr>
          <a:xfrm>
            <a:off x="4876800" y="2047875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$0.27</a:t>
            </a:r>
          </a:p>
        </p:txBody>
      </p:sp>
      <p:sp>
        <p:nvSpPr>
          <p:cNvPr id="9" name="dollar-stat-2-label">
            <a:extLst>
              <a:ext uri="{FF2B5EF4-FFF2-40B4-BE49-F238E27FC236}">
                <a16:creationId xmlns:a16="http://schemas.microsoft.com/office/drawing/2014/main" id="{CC898A52-7666-4F83-9A73-B74ECA904D9D}"/>
              </a:ext>
            </a:extLst>
          </p:cNvPr>
          <p:cNvSpPr>
            <a:spLocks noGrp="1"/>
          </p:cNvSpPr>
          <p:nvPr/>
        </p:nvSpPr>
        <p:spPr>
          <a:xfrm>
            <a:off x="4876800" y="296227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SG&amp;A</a:t>
            </a:r>
          </a:p>
        </p:txBody>
      </p:sp>
      <p:sp>
        <p:nvSpPr>
          <p:cNvPr id="10" name="dollar-stat-3-value">
            <a:extLst>
              <a:ext uri="{FF2B5EF4-FFF2-40B4-BE49-F238E27FC236}">
                <a16:creationId xmlns:a16="http://schemas.microsoft.com/office/drawing/2014/main" id="{EAB96530-35E8-4AF3-8242-A9F57BB25FBD}"/>
              </a:ext>
            </a:extLst>
          </p:cNvPr>
          <p:cNvSpPr>
            <a:spLocks noGrp="1"/>
          </p:cNvSpPr>
          <p:nvPr/>
        </p:nvSpPr>
        <p:spPr>
          <a:xfrm>
            <a:off x="7067550" y="2047875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$0.24</a:t>
            </a:r>
          </a:p>
        </p:txBody>
      </p:sp>
      <p:sp>
        <p:nvSpPr>
          <p:cNvPr id="11" name="dollar-stat-3-label">
            <a:extLst>
              <a:ext uri="{FF2B5EF4-FFF2-40B4-BE49-F238E27FC236}">
                <a16:creationId xmlns:a16="http://schemas.microsoft.com/office/drawing/2014/main" id="{45A5B2E3-D79F-487E-932C-0A51E2A54460}"/>
              </a:ext>
            </a:extLst>
          </p:cNvPr>
          <p:cNvSpPr>
            <a:spLocks noGrp="1"/>
          </p:cNvSpPr>
          <p:nvPr/>
        </p:nvSpPr>
        <p:spPr>
          <a:xfrm>
            <a:off x="7067550" y="296227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EBIT remains</a:t>
            </a:r>
          </a:p>
        </p:txBody>
      </p:sp>
      <p:sp>
        <p:nvSpPr>
          <p:cNvPr id="12" name="dollar-stat-4-value">
            <a:extLst>
              <a:ext uri="{FF2B5EF4-FFF2-40B4-BE49-F238E27FC236}">
                <a16:creationId xmlns:a16="http://schemas.microsoft.com/office/drawing/2014/main" id="{7BC5475E-1039-40F4-92BF-EE31B41144FB}"/>
              </a:ext>
            </a:extLst>
          </p:cNvPr>
          <p:cNvSpPr>
            <a:spLocks noGrp="1"/>
          </p:cNvSpPr>
          <p:nvPr/>
        </p:nvSpPr>
        <p:spPr>
          <a:xfrm>
            <a:off x="9258300" y="2047875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$0.19</a:t>
            </a:r>
          </a:p>
        </p:txBody>
      </p:sp>
      <p:sp>
        <p:nvSpPr>
          <p:cNvPr id="13" name="dollar-stat-4-label">
            <a:extLst>
              <a:ext uri="{FF2B5EF4-FFF2-40B4-BE49-F238E27FC236}">
                <a16:creationId xmlns:a16="http://schemas.microsoft.com/office/drawing/2014/main" id="{194AECA9-F1B1-4DA4-AF20-E2F5B53EEAF9}"/>
              </a:ext>
            </a:extLst>
          </p:cNvPr>
          <p:cNvSpPr>
            <a:spLocks noGrp="1"/>
          </p:cNvSpPr>
          <p:nvPr/>
        </p:nvSpPr>
        <p:spPr>
          <a:xfrm>
            <a:off x="9258300" y="296227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Net earnings remains</a:t>
            </a:r>
          </a:p>
        </p:txBody>
      </p:sp>
      <p:sp>
        <p:nvSpPr>
          <p:cNvPr id="14" name="dollar-insight">
            <a:extLst>
              <a:ext uri="{FF2B5EF4-FFF2-40B4-BE49-F238E27FC236}">
                <a16:creationId xmlns:a16="http://schemas.microsoft.com/office/drawing/2014/main" id="{7CC8A666-4951-4EF6-A183-950C04B29056}"/>
              </a:ext>
            </a:extLst>
          </p:cNvPr>
          <p:cNvSpPr>
            <a:spLocks noGrp="1"/>
          </p:cNvSpPr>
          <p:nvPr/>
        </p:nvSpPr>
        <p:spPr>
          <a:xfrm>
            <a:off x="495300" y="4476750"/>
            <a:ext cx="1057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Operating insight: product cost and SG&amp;A absorb most sales dollars; net non-operating expense is small relative to EBIT.</a:t>
            </a:r>
          </a:p>
        </p:txBody>
      </p:sp>
    </p:spTree>
    <p:extLst>
      <p:ext uri="{BB962C8B-B14F-4D97-AF65-F5344CB8AC3E}">
        <p14:creationId xmlns:p14="http://schemas.microsoft.com/office/powerpoint/2010/main" val="459984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12">
            <a:extLst>
              <a:ext uri="{FF2B5EF4-FFF2-40B4-BE49-F238E27FC236}">
                <a16:creationId xmlns:a16="http://schemas.microsoft.com/office/drawing/2014/main" id="{C2258740-1509-46E2-B1BB-4D2039B6DF6B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APPLY AND DEFEND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DF93AAF5-F6E8-4E03-9980-587399E5C29E}"/>
              </a:ext>
            </a:extLst>
          </p:cNvPr>
          <p:cNvSpPr>
            <a:spLocks noGrp="1"/>
          </p:cNvSpPr>
          <p:nvPr/>
        </p:nvSpPr>
        <p:spPr>
          <a:xfrm>
            <a:off x="495300" y="533400"/>
            <a:ext cx="1120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the classification before you audit the colors</a:t>
            </a:r>
          </a:p>
        </p:txBody>
      </p:sp>
      <p:sp>
        <p:nvSpPr>
          <p:cNvPr id="3" name="footer-section-12">
            <a:extLst>
              <a:ext uri="{FF2B5EF4-FFF2-40B4-BE49-F238E27FC236}">
                <a16:creationId xmlns:a16="http://schemas.microsoft.com/office/drawing/2014/main" id="{D1DB6CC9-0042-4E3D-819B-95F4350F644C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TEAM AUDIT</a:t>
            </a:r>
          </a:p>
        </p:txBody>
      </p:sp>
      <p:sp>
        <p:nvSpPr>
          <p:cNvPr id="4" name="footer-number-12">
            <a:extLst>
              <a:ext uri="{FF2B5EF4-FFF2-40B4-BE49-F238E27FC236}">
                <a16:creationId xmlns:a16="http://schemas.microsoft.com/office/drawing/2014/main" id="{CB190838-EB77-47F5-9F2B-F6A177C29C7A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ctivity-prompt-panel-12">
            <a:extLst>
              <a:ext uri="{FF2B5EF4-FFF2-40B4-BE49-F238E27FC236}">
                <a16:creationId xmlns:a16="http://schemas.microsoft.com/office/drawing/2014/main" id="{AB0A8E6D-6C36-46FD-946C-953D910EDFAF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239000" cy="4000500"/>
          </a:xfrm>
          <a:prstGeom prst="rect">
            <a:avLst/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ctivity-prompt-12">
            <a:extLst>
              <a:ext uri="{FF2B5EF4-FFF2-40B4-BE49-F238E27FC236}">
                <a16:creationId xmlns:a16="http://schemas.microsoft.com/office/drawing/2014/main" id="{77A3502E-5D53-4724-B3D9-8DAFB86883EF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66294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AI subtracts interest expense with SG&amp;A before calculating EBIT. Is the Sankey acceptable? Correct the sequence and explain the effect on EBIT.</a:t>
            </a:r>
          </a:p>
        </p:txBody>
      </p:sp>
      <p:sp>
        <p:nvSpPr>
          <p:cNvPr id="7" name="activity-label-12">
            <a:extLst>
              <a:ext uri="{FF2B5EF4-FFF2-40B4-BE49-F238E27FC236}">
                <a16:creationId xmlns:a16="http://schemas.microsoft.com/office/drawing/2014/main" id="{F3729B36-47D5-4FD9-96D4-648C4717D853}"/>
              </a:ext>
            </a:extLst>
          </p:cNvPr>
          <p:cNvSpPr>
            <a:spLocks noGrp="1"/>
          </p:cNvSpPr>
          <p:nvPr/>
        </p:nvSpPr>
        <p:spPr>
          <a:xfrm>
            <a:off x="8267700" y="1657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YOUR TEAM</a:t>
            </a:r>
          </a:p>
        </p:txBody>
      </p:sp>
      <p:sp>
        <p:nvSpPr>
          <p:cNvPr id="8" name="activity-steps-12">
            <a:extLst>
              <a:ext uri="{FF2B5EF4-FFF2-40B4-BE49-F238E27FC236}">
                <a16:creationId xmlns:a16="http://schemas.microsoft.com/office/drawing/2014/main" id="{D82DB40F-CA0A-4A3C-977F-34B9E636C877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3143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Name the classification error.</a:t>
            </a:r>
          </a:p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Write the corrected sequence.</a:t>
            </a:r>
          </a:p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State why the change matters.</a:t>
            </a:r>
          </a:p>
        </p:txBody>
      </p:sp>
    </p:spTree>
    <p:extLst>
      <p:ext uri="{BB962C8B-B14F-4D97-AF65-F5344CB8AC3E}">
        <p14:creationId xmlns:p14="http://schemas.microsoft.com/office/powerpoint/2010/main" val="1013967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3">
            <a:extLst>
              <a:ext uri="{FF2B5EF4-FFF2-40B4-BE49-F238E27FC236}">
                <a16:creationId xmlns:a16="http://schemas.microsoft.com/office/drawing/2014/main" id="{7C6E63C6-9097-4199-BA60-E99B66F13CDB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216"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Profit measures performance; free cash flow measures financial capacity</a:t>
            </a:r>
          </a:p>
        </p:txBody>
      </p:sp>
      <p:sp>
        <p:nvSpPr>
          <p:cNvPr id="2" name="footer-section-13">
            <a:extLst>
              <a:ext uri="{FF2B5EF4-FFF2-40B4-BE49-F238E27FC236}">
                <a16:creationId xmlns:a16="http://schemas.microsoft.com/office/drawing/2014/main" id="{13BD46F7-4C24-4591-BB0B-E74F61EEB5BB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FREE CASH FLOW</a:t>
            </a:r>
          </a:p>
        </p:txBody>
      </p:sp>
      <p:sp>
        <p:nvSpPr>
          <p:cNvPr id="3" name="footer-number-13">
            <a:extLst>
              <a:ext uri="{FF2B5EF4-FFF2-40B4-BE49-F238E27FC236}">
                <a16:creationId xmlns:a16="http://schemas.microsoft.com/office/drawing/2014/main" id="{2365A036-9B7A-4E36-8B7C-06BA89F463B7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profit-heading">
            <a:extLst>
              <a:ext uri="{FF2B5EF4-FFF2-40B4-BE49-F238E27FC236}">
                <a16:creationId xmlns:a16="http://schemas.microsoft.com/office/drawing/2014/main" id="{6CE3EAF4-4771-43E0-A74F-1426A04FBDF1}"/>
              </a:ext>
            </a:extLst>
          </p:cNvPr>
          <p:cNvSpPr>
            <a:spLocks noGrp="1"/>
          </p:cNvSpPr>
          <p:nvPr/>
        </p:nvSpPr>
        <p:spPr>
          <a:xfrm>
            <a:off x="495300" y="1666875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ACCOUNTING PROFIT</a:t>
            </a:r>
          </a:p>
        </p:txBody>
      </p:sp>
      <p:sp>
        <p:nvSpPr>
          <p:cNvPr id="5" name="profit-copy">
            <a:extLst>
              <a:ext uri="{FF2B5EF4-FFF2-40B4-BE49-F238E27FC236}">
                <a16:creationId xmlns:a16="http://schemas.microsoft.com/office/drawing/2014/main" id="{A03DBAE2-C370-444C-BBB2-76B23D4EF803}"/>
              </a:ext>
            </a:extLst>
          </p:cNvPr>
          <p:cNvSpPr>
            <a:spLocks noGrp="1"/>
          </p:cNvSpPr>
          <p:nvPr/>
        </p:nvSpPr>
        <p:spPr>
          <a:xfrm>
            <a:off x="495300" y="2333625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95"/>
          </a:bodyPr>
          <a:lstStyle/>
          <a:p>
            <a:pPr algn="l">
              <a:lnSpc>
                <a:spcPct val="108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Recognizes revenue and expense under accrual accounting to measure performance over a period.</a:t>
            </a:r>
          </a:p>
        </p:txBody>
      </p:sp>
      <p:cxnSp>
        <p:nvCxnSpPr>
          <p:cNvPr id="15" name="profit-cash-divider"/>
          <p:cNvCxnSpPr/>
          <p:nvPr/>
        </p:nvCxnSpPr>
        <p:spPr>
          <a:xfrm>
            <a:off x="6000750" y="1524000"/>
            <a:ext cx="0" cy="40005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7" name="cash-heading">
            <a:extLst>
              <a:ext uri="{FF2B5EF4-FFF2-40B4-BE49-F238E27FC236}">
                <a16:creationId xmlns:a16="http://schemas.microsoft.com/office/drawing/2014/main" id="{C9A462E6-AEF2-46FF-9F46-0E9E661BB3B5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FREE CASH FLOW</a:t>
            </a:r>
          </a:p>
        </p:txBody>
      </p:sp>
      <p:sp>
        <p:nvSpPr>
          <p:cNvPr id="8" name="cash-copy">
            <a:extLst>
              <a:ext uri="{FF2B5EF4-FFF2-40B4-BE49-F238E27FC236}">
                <a16:creationId xmlns:a16="http://schemas.microsoft.com/office/drawing/2014/main" id="{B5A83DD3-0AB9-4869-99ED-7F83136590CE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Asks what operating cash remains after reinvestment - the cash available to capital providers.</a:t>
            </a:r>
          </a:p>
        </p:txBody>
      </p:sp>
      <p:sp>
        <p:nvSpPr>
          <p:cNvPr id="9" name="cash-bridge">
            <a:extLst>
              <a:ext uri="{FF2B5EF4-FFF2-40B4-BE49-F238E27FC236}">
                <a16:creationId xmlns:a16="http://schemas.microsoft.com/office/drawing/2014/main" id="{753AE428-E77D-4938-8E1F-D38D7E9D7125}"/>
              </a:ext>
            </a:extLst>
          </p:cNvPr>
          <p:cNvSpPr>
            <a:spLocks noGrp="1"/>
          </p:cNvSpPr>
          <p:nvPr/>
        </p:nvSpPr>
        <p:spPr>
          <a:xfrm>
            <a:off x="1952625" y="4572000"/>
            <a:ext cx="828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175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D&amp;A + working capital + CapEx + other operating adjustments</a:t>
            </a:r>
          </a:p>
        </p:txBody>
      </p:sp>
    </p:spTree>
    <p:extLst>
      <p:ext uri="{BB962C8B-B14F-4D97-AF65-F5344CB8AC3E}">
        <p14:creationId xmlns:p14="http://schemas.microsoft.com/office/powerpoint/2010/main" val="58594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14">
            <a:extLst>
              <a:ext uri="{FF2B5EF4-FFF2-40B4-BE49-F238E27FC236}">
                <a16:creationId xmlns:a16="http://schemas.microsoft.com/office/drawing/2014/main" id="{88423ECB-DD75-4778-BAB6-A07E07ABCDE8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FCF measures answer three related questions</a:t>
            </a:r>
          </a:p>
        </p:txBody>
      </p:sp>
      <p:sp>
        <p:nvSpPr>
          <p:cNvPr id="2" name="footer-section-14">
            <a:extLst>
              <a:ext uri="{FF2B5EF4-FFF2-40B4-BE49-F238E27FC236}">
                <a16:creationId xmlns:a16="http://schemas.microsoft.com/office/drawing/2014/main" id="{441D6C1F-C2F5-4F52-93ED-0AFA12F58013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FREE CASH FLOW</a:t>
            </a:r>
          </a:p>
        </p:txBody>
      </p:sp>
      <p:sp>
        <p:nvSpPr>
          <p:cNvPr id="3" name="footer-number-14">
            <a:extLst>
              <a:ext uri="{FF2B5EF4-FFF2-40B4-BE49-F238E27FC236}">
                <a16:creationId xmlns:a16="http://schemas.microsoft.com/office/drawing/2014/main" id="{76C6EB95-AC2D-4B6B-A20D-DB1F998E9D82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fcf-title-0">
            <a:extLst>
              <a:ext uri="{FF2B5EF4-FFF2-40B4-BE49-F238E27FC236}">
                <a16:creationId xmlns:a16="http://schemas.microsoft.com/office/drawing/2014/main" id="{BFFB76F2-AC78-4DA6-BA43-3A146989672F}"/>
              </a:ext>
            </a:extLst>
          </p:cNvPr>
          <p:cNvSpPr>
            <a:spLocks noGrp="1"/>
          </p:cNvSpPr>
          <p:nvPr/>
        </p:nvSpPr>
        <p:spPr>
          <a:xfrm>
            <a:off x="495300" y="17145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TEXTBOOK FCF</a:t>
            </a:r>
          </a:p>
        </p:txBody>
      </p:sp>
      <p:sp>
        <p:nvSpPr>
          <p:cNvPr id="5" name="fcf-formula-0">
            <a:extLst>
              <a:ext uri="{FF2B5EF4-FFF2-40B4-BE49-F238E27FC236}">
                <a16:creationId xmlns:a16="http://schemas.microsoft.com/office/drawing/2014/main" id="{6C7D6532-AE94-457F-A9B7-F7BB22F28C4C}"/>
              </a:ext>
            </a:extLst>
          </p:cNvPr>
          <p:cNvSpPr>
            <a:spLocks noGrp="1"/>
          </p:cNvSpPr>
          <p:nvPr/>
        </p:nvSpPr>
        <p:spPr>
          <a:xfrm>
            <a:off x="495300" y="2428875"/>
            <a:ext cx="3333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NOPAT + D&amp;A - CapEx - change in operating NOWC</a:t>
            </a:r>
          </a:p>
        </p:txBody>
      </p:sp>
      <p:sp>
        <p:nvSpPr>
          <p:cNvPr id="6" name="fcf-note-0">
            <a:extLst>
              <a:ext uri="{FF2B5EF4-FFF2-40B4-BE49-F238E27FC236}">
                <a16:creationId xmlns:a16="http://schemas.microsoft.com/office/drawing/2014/main" id="{BC2625C8-0CE9-48CA-8A20-C5F2AD8EC19F}"/>
              </a:ext>
            </a:extLst>
          </p:cNvPr>
          <p:cNvSpPr>
            <a:spLocks noGrp="1"/>
          </p:cNvSpPr>
          <p:nvPr/>
        </p:nvSpPr>
        <p:spPr>
          <a:xfrm>
            <a:off x="495300" y="423862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Unlevered classroom measure</a:t>
            </a:r>
          </a:p>
        </p:txBody>
      </p:sp>
      <p:sp>
        <p:nvSpPr>
          <p:cNvPr id="7" name="fcf-title-1">
            <a:extLst>
              <a:ext uri="{FF2B5EF4-FFF2-40B4-BE49-F238E27FC236}">
                <a16:creationId xmlns:a16="http://schemas.microsoft.com/office/drawing/2014/main" id="{BCF964D7-7CEC-4AA4-99C5-0849987A66F4}"/>
              </a:ext>
            </a:extLst>
          </p:cNvPr>
          <p:cNvSpPr>
            <a:spLocks noGrp="1"/>
          </p:cNvSpPr>
          <p:nvPr/>
        </p:nvSpPr>
        <p:spPr>
          <a:xfrm>
            <a:off x="4305300" y="17145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CASH FCF</a:t>
            </a:r>
          </a:p>
        </p:txBody>
      </p:sp>
      <p:sp>
        <p:nvSpPr>
          <p:cNvPr id="8" name="fcf-formula-1">
            <a:extLst>
              <a:ext uri="{FF2B5EF4-FFF2-40B4-BE49-F238E27FC236}">
                <a16:creationId xmlns:a16="http://schemas.microsoft.com/office/drawing/2014/main" id="{FAB8AB03-7CB2-473A-90AB-5487FFA90A30}"/>
              </a:ext>
            </a:extLst>
          </p:cNvPr>
          <p:cNvSpPr>
            <a:spLocks noGrp="1"/>
          </p:cNvSpPr>
          <p:nvPr/>
        </p:nvSpPr>
        <p:spPr>
          <a:xfrm>
            <a:off x="4305300" y="2428875"/>
            <a:ext cx="3333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Cash flow from operations - CapEx</a:t>
            </a:r>
          </a:p>
        </p:txBody>
      </p:sp>
      <p:sp>
        <p:nvSpPr>
          <p:cNvPr id="9" name="fcf-note-1">
            <a:extLst>
              <a:ext uri="{FF2B5EF4-FFF2-40B4-BE49-F238E27FC236}">
                <a16:creationId xmlns:a16="http://schemas.microsoft.com/office/drawing/2014/main" id="{A7151D7D-1FC3-4A33-ACCE-D4A6C96D59FB}"/>
              </a:ext>
            </a:extLst>
          </p:cNvPr>
          <p:cNvSpPr>
            <a:spLocks noGrp="1"/>
          </p:cNvSpPr>
          <p:nvPr/>
        </p:nvSpPr>
        <p:spPr>
          <a:xfrm>
            <a:off x="4305300" y="423862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Direct cash-flow statement measure</a:t>
            </a:r>
          </a:p>
        </p:txBody>
      </p:sp>
      <p:sp>
        <p:nvSpPr>
          <p:cNvPr id="10" name="fcf-title-2">
            <a:extLst>
              <a:ext uri="{FF2B5EF4-FFF2-40B4-BE49-F238E27FC236}">
                <a16:creationId xmlns:a16="http://schemas.microsoft.com/office/drawing/2014/main" id="{C68E9E53-A1BB-454F-875F-0E327B166FF7}"/>
              </a:ext>
            </a:extLst>
          </p:cNvPr>
          <p:cNvSpPr>
            <a:spLocks noGrp="1"/>
          </p:cNvSpPr>
          <p:nvPr/>
        </p:nvSpPr>
        <p:spPr>
          <a:xfrm>
            <a:off x="8115300" y="17145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P&amp;G ADJUSTED FCF</a:t>
            </a:r>
          </a:p>
        </p:txBody>
      </p:sp>
      <p:sp>
        <p:nvSpPr>
          <p:cNvPr id="11" name="fcf-formula-2">
            <a:extLst>
              <a:ext uri="{FF2B5EF4-FFF2-40B4-BE49-F238E27FC236}">
                <a16:creationId xmlns:a16="http://schemas.microsoft.com/office/drawing/2014/main" id="{788B2C06-886B-4F11-825C-6970321C06D4}"/>
              </a:ext>
            </a:extLst>
          </p:cNvPr>
          <p:cNvSpPr>
            <a:spLocks noGrp="1"/>
          </p:cNvSpPr>
          <p:nvPr/>
        </p:nvSpPr>
        <p:spPr>
          <a:xfrm>
            <a:off x="8115300" y="2428875"/>
            <a:ext cx="3333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Cash FCF + Tax Act payment add-back</a:t>
            </a:r>
          </a:p>
        </p:txBody>
      </p:sp>
      <p:sp>
        <p:nvSpPr>
          <p:cNvPr id="12" name="fcf-note-2">
            <a:extLst>
              <a:ext uri="{FF2B5EF4-FFF2-40B4-BE49-F238E27FC236}">
                <a16:creationId xmlns:a16="http://schemas.microsoft.com/office/drawing/2014/main" id="{A8E46ECD-A3A6-4BFF-BE94-F599DD7BA888}"/>
              </a:ext>
            </a:extLst>
          </p:cNvPr>
          <p:cNvSpPr>
            <a:spLocks noGrp="1"/>
          </p:cNvSpPr>
          <p:nvPr/>
        </p:nvSpPr>
        <p:spPr>
          <a:xfrm>
            <a:off x="8115300" y="4238625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Company-defined non-GAAP measure</a:t>
            </a:r>
          </a:p>
        </p:txBody>
      </p:sp>
      <p:sp>
        <p:nvSpPr>
          <p:cNvPr id="13" name="fcf-warning">
            <a:extLst>
              <a:ext uri="{FF2B5EF4-FFF2-40B4-BE49-F238E27FC236}">
                <a16:creationId xmlns:a16="http://schemas.microsoft.com/office/drawing/2014/main" id="{A7124188-F6D6-4638-9E8E-DD4DE0F1F381}"/>
              </a:ext>
            </a:extLst>
          </p:cNvPr>
          <p:cNvSpPr>
            <a:spLocks noGrp="1"/>
          </p:cNvSpPr>
          <p:nvPr/>
        </p:nvSpPr>
        <p:spPr>
          <a:xfrm>
            <a:off x="495300" y="5410200"/>
            <a:ext cx="1047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 i="0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53030"/>
                </a:solidFill>
                <a:latin typeface="Arial"/>
                <a:ea typeface="Arial"/>
                <a:cs typeface="Arial"/>
              </a:rPr>
              <a:t>Do not force equality. Reconcile the definitions.</a:t>
            </a:r>
          </a:p>
        </p:txBody>
      </p:sp>
    </p:spTree>
    <p:extLst>
      <p:ext uri="{BB962C8B-B14F-4D97-AF65-F5344CB8AC3E}">
        <p14:creationId xmlns:p14="http://schemas.microsoft.com/office/powerpoint/2010/main" val="457871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-15">
            <a:extLst>
              <a:ext uri="{FF2B5EF4-FFF2-40B4-BE49-F238E27FC236}">
                <a16:creationId xmlns:a16="http://schemas.microsoft.com/office/drawing/2014/main" id="{9E72F52B-760E-4837-8381-C88D903224B9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textbook FCF one controlled sign at a time</a:t>
            </a:r>
          </a:p>
        </p:txBody>
      </p:sp>
      <p:sp>
        <p:nvSpPr>
          <p:cNvPr id="2" name="footer-section-15">
            <a:extLst>
              <a:ext uri="{FF2B5EF4-FFF2-40B4-BE49-F238E27FC236}">
                <a16:creationId xmlns:a16="http://schemas.microsoft.com/office/drawing/2014/main" id="{8F8EF870-3233-4AFE-BB74-B007F5947AD6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FREE CASH FLOW</a:t>
            </a:r>
          </a:p>
        </p:txBody>
      </p:sp>
      <p:sp>
        <p:nvSpPr>
          <p:cNvPr id="3" name="footer-number-15">
            <a:extLst>
              <a:ext uri="{FF2B5EF4-FFF2-40B4-BE49-F238E27FC236}">
                <a16:creationId xmlns:a16="http://schemas.microsoft.com/office/drawing/2014/main" id="{FBAEE718-229E-4989-AC81-2AF672257F9A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cxnSp>
        <p:nvCxnSpPr>
          <p:cNvPr id="30" name="fcf-build-line"/>
          <p:cNvCxnSpPr/>
          <p:nvPr/>
        </p:nvCxnSpPr>
        <p:spPr>
          <a:xfrm>
            <a:off x="742950" y="3429000"/>
            <a:ext cx="103822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fcf-build-dot-0">
            <a:extLst>
              <a:ext uri="{FF2B5EF4-FFF2-40B4-BE49-F238E27FC236}">
                <a16:creationId xmlns:a16="http://schemas.microsoft.com/office/drawing/2014/main" id="{F9CD4233-77B2-4DA9-8712-15652C8DA678}"/>
              </a:ext>
            </a:extLst>
          </p:cNvPr>
          <p:cNvSpPr>
            <a:spLocks noGrp="1"/>
          </p:cNvSpPr>
          <p:nvPr/>
        </p:nvSpPr>
        <p:spPr>
          <a:xfrm>
            <a:off x="619125" y="3352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cf-build-value-0">
            <a:extLst>
              <a:ext uri="{FF2B5EF4-FFF2-40B4-BE49-F238E27FC236}">
                <a16:creationId xmlns:a16="http://schemas.microsoft.com/office/drawing/2014/main" id="{DE20E74A-EF5B-4223-958D-41FD66A59F2C}"/>
              </a:ext>
            </a:extLst>
          </p:cNvPr>
          <p:cNvSpPr>
            <a:spLocks noGrp="1"/>
          </p:cNvSpPr>
          <p:nvPr/>
        </p:nvSpPr>
        <p:spPr>
          <a:xfrm>
            <a:off x="476250" y="23050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$20.451B</a:t>
            </a:r>
          </a:p>
        </p:txBody>
      </p:sp>
      <p:sp>
        <p:nvSpPr>
          <p:cNvPr id="7" name="fcf-build-label-0">
            <a:extLst>
              <a:ext uri="{FF2B5EF4-FFF2-40B4-BE49-F238E27FC236}">
                <a16:creationId xmlns:a16="http://schemas.microsoft.com/office/drawing/2014/main" id="{8850F5D9-B9A4-470F-A4F9-7C679D780DA0}"/>
              </a:ext>
            </a:extLst>
          </p:cNvPr>
          <p:cNvSpPr>
            <a:spLocks noGrp="1"/>
          </p:cNvSpPr>
          <p:nvPr/>
        </p:nvSpPr>
        <p:spPr>
          <a:xfrm>
            <a:off x="476250" y="3810000"/>
            <a:ext cx="1381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EBIT</a:t>
            </a:r>
          </a:p>
        </p:txBody>
      </p:sp>
      <p:sp>
        <p:nvSpPr>
          <p:cNvPr id="8" name="fcf-build-dot-1">
            <a:extLst>
              <a:ext uri="{FF2B5EF4-FFF2-40B4-BE49-F238E27FC236}">
                <a16:creationId xmlns:a16="http://schemas.microsoft.com/office/drawing/2014/main" id="{02A42E6E-23B6-42BD-90F4-20F0069DA598}"/>
              </a:ext>
            </a:extLst>
          </p:cNvPr>
          <p:cNvSpPr>
            <a:spLocks noGrp="1"/>
          </p:cNvSpPr>
          <p:nvPr/>
        </p:nvSpPr>
        <p:spPr>
          <a:xfrm>
            <a:off x="2190750" y="3352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cf-build-value-1">
            <a:extLst>
              <a:ext uri="{FF2B5EF4-FFF2-40B4-BE49-F238E27FC236}">
                <a16:creationId xmlns:a16="http://schemas.microsoft.com/office/drawing/2014/main" id="{A1D1CEFF-3896-4D89-9B53-3F8CBC1E102B}"/>
              </a:ext>
            </a:extLst>
          </p:cNvPr>
          <p:cNvSpPr>
            <a:spLocks noGrp="1"/>
          </p:cNvSpPr>
          <p:nvPr/>
        </p:nvSpPr>
        <p:spPr>
          <a:xfrm>
            <a:off x="2047875" y="23050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-$4.160B</a:t>
            </a:r>
          </a:p>
        </p:txBody>
      </p:sp>
      <p:sp>
        <p:nvSpPr>
          <p:cNvPr id="10" name="fcf-build-label-1">
            <a:extLst>
              <a:ext uri="{FF2B5EF4-FFF2-40B4-BE49-F238E27FC236}">
                <a16:creationId xmlns:a16="http://schemas.microsoft.com/office/drawing/2014/main" id="{5083982E-4C2C-42C0-A7DA-E932DBD456AB}"/>
              </a:ext>
            </a:extLst>
          </p:cNvPr>
          <p:cNvSpPr>
            <a:spLocks noGrp="1"/>
          </p:cNvSpPr>
          <p:nvPr/>
        </p:nvSpPr>
        <p:spPr>
          <a:xfrm>
            <a:off x="2047875" y="3810000"/>
            <a:ext cx="1381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- tax on EBIT</a:t>
            </a:r>
          </a:p>
        </p:txBody>
      </p:sp>
      <p:sp>
        <p:nvSpPr>
          <p:cNvPr id="11" name="fcf-build-dot-2">
            <a:extLst>
              <a:ext uri="{FF2B5EF4-FFF2-40B4-BE49-F238E27FC236}">
                <a16:creationId xmlns:a16="http://schemas.microsoft.com/office/drawing/2014/main" id="{963932E7-D8C0-49E5-9C94-40C5F52DD395}"/>
              </a:ext>
            </a:extLst>
          </p:cNvPr>
          <p:cNvSpPr>
            <a:spLocks noGrp="1"/>
          </p:cNvSpPr>
          <p:nvPr/>
        </p:nvSpPr>
        <p:spPr>
          <a:xfrm>
            <a:off x="3762375" y="3352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cf-build-value-2">
            <a:extLst>
              <a:ext uri="{FF2B5EF4-FFF2-40B4-BE49-F238E27FC236}">
                <a16:creationId xmlns:a16="http://schemas.microsoft.com/office/drawing/2014/main" id="{A062C429-9A03-4BB3-9264-D61640AFD88F}"/>
              </a:ext>
            </a:extLst>
          </p:cNvPr>
          <p:cNvSpPr>
            <a:spLocks noGrp="1"/>
          </p:cNvSpPr>
          <p:nvPr/>
        </p:nvSpPr>
        <p:spPr>
          <a:xfrm>
            <a:off x="3619500" y="23050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$16.291B</a:t>
            </a:r>
          </a:p>
        </p:txBody>
      </p:sp>
      <p:sp>
        <p:nvSpPr>
          <p:cNvPr id="13" name="fcf-build-label-2">
            <a:extLst>
              <a:ext uri="{FF2B5EF4-FFF2-40B4-BE49-F238E27FC236}">
                <a16:creationId xmlns:a16="http://schemas.microsoft.com/office/drawing/2014/main" id="{EC907627-0E1E-4A6B-A6BA-33C58AD52C01}"/>
              </a:ext>
            </a:extLst>
          </p:cNvPr>
          <p:cNvSpPr>
            <a:spLocks noGrp="1"/>
          </p:cNvSpPr>
          <p:nvPr/>
        </p:nvSpPr>
        <p:spPr>
          <a:xfrm>
            <a:off x="3619500" y="3810000"/>
            <a:ext cx="1381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NOPAT</a:t>
            </a:r>
          </a:p>
        </p:txBody>
      </p:sp>
      <p:sp>
        <p:nvSpPr>
          <p:cNvPr id="14" name="fcf-build-dot-3">
            <a:extLst>
              <a:ext uri="{FF2B5EF4-FFF2-40B4-BE49-F238E27FC236}">
                <a16:creationId xmlns:a16="http://schemas.microsoft.com/office/drawing/2014/main" id="{19B22450-53B2-4EDF-96C8-DE13204115E5}"/>
              </a:ext>
            </a:extLst>
          </p:cNvPr>
          <p:cNvSpPr>
            <a:spLocks noGrp="1"/>
          </p:cNvSpPr>
          <p:nvPr/>
        </p:nvSpPr>
        <p:spPr>
          <a:xfrm>
            <a:off x="5334000" y="3352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cf-build-value-3">
            <a:extLst>
              <a:ext uri="{FF2B5EF4-FFF2-40B4-BE49-F238E27FC236}">
                <a16:creationId xmlns:a16="http://schemas.microsoft.com/office/drawing/2014/main" id="{597F0EDF-B039-4D3A-B97C-BBB5A7DA3A43}"/>
              </a:ext>
            </a:extLst>
          </p:cNvPr>
          <p:cNvSpPr>
            <a:spLocks noGrp="1"/>
          </p:cNvSpPr>
          <p:nvPr/>
        </p:nvSpPr>
        <p:spPr>
          <a:xfrm>
            <a:off x="5191125" y="23050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+$2.847B</a:t>
            </a:r>
          </a:p>
        </p:txBody>
      </p:sp>
      <p:sp>
        <p:nvSpPr>
          <p:cNvPr id="16" name="fcf-build-label-3">
            <a:extLst>
              <a:ext uri="{FF2B5EF4-FFF2-40B4-BE49-F238E27FC236}">
                <a16:creationId xmlns:a16="http://schemas.microsoft.com/office/drawing/2014/main" id="{0A352978-8FA9-4BCF-85B5-5CA14B58CF86}"/>
              </a:ext>
            </a:extLst>
          </p:cNvPr>
          <p:cNvSpPr>
            <a:spLocks noGrp="1"/>
          </p:cNvSpPr>
          <p:nvPr/>
        </p:nvSpPr>
        <p:spPr>
          <a:xfrm>
            <a:off x="5191125" y="3810000"/>
            <a:ext cx="1381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+ D&amp;A</a:t>
            </a:r>
          </a:p>
        </p:txBody>
      </p:sp>
      <p:sp>
        <p:nvSpPr>
          <p:cNvPr id="17" name="fcf-build-dot-4">
            <a:extLst>
              <a:ext uri="{FF2B5EF4-FFF2-40B4-BE49-F238E27FC236}">
                <a16:creationId xmlns:a16="http://schemas.microsoft.com/office/drawing/2014/main" id="{2E382BE8-FF62-4260-A3A1-1FAB7E79D851}"/>
              </a:ext>
            </a:extLst>
          </p:cNvPr>
          <p:cNvSpPr>
            <a:spLocks noGrp="1"/>
          </p:cNvSpPr>
          <p:nvPr/>
        </p:nvSpPr>
        <p:spPr>
          <a:xfrm>
            <a:off x="6905625" y="3352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fcf-build-value-4">
            <a:extLst>
              <a:ext uri="{FF2B5EF4-FFF2-40B4-BE49-F238E27FC236}">
                <a16:creationId xmlns:a16="http://schemas.microsoft.com/office/drawing/2014/main" id="{891CE80A-3C96-4E46-A712-1052140AA488}"/>
              </a:ext>
            </a:extLst>
          </p:cNvPr>
          <p:cNvSpPr>
            <a:spLocks noGrp="1"/>
          </p:cNvSpPr>
          <p:nvPr/>
        </p:nvSpPr>
        <p:spPr>
          <a:xfrm>
            <a:off x="6762750" y="23050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-$3.773B</a:t>
            </a:r>
          </a:p>
        </p:txBody>
      </p:sp>
      <p:sp>
        <p:nvSpPr>
          <p:cNvPr id="19" name="fcf-build-label-4">
            <a:extLst>
              <a:ext uri="{FF2B5EF4-FFF2-40B4-BE49-F238E27FC236}">
                <a16:creationId xmlns:a16="http://schemas.microsoft.com/office/drawing/2014/main" id="{39AACC04-B7DC-483B-821B-CEB62160F3A0}"/>
              </a:ext>
            </a:extLst>
          </p:cNvPr>
          <p:cNvSpPr>
            <a:spLocks noGrp="1"/>
          </p:cNvSpPr>
          <p:nvPr/>
        </p:nvSpPr>
        <p:spPr>
          <a:xfrm>
            <a:off x="6762750" y="3810000"/>
            <a:ext cx="1381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- CapEx</a:t>
            </a:r>
          </a:p>
        </p:txBody>
      </p:sp>
      <p:sp>
        <p:nvSpPr>
          <p:cNvPr id="20" name="fcf-build-dot-5">
            <a:extLst>
              <a:ext uri="{FF2B5EF4-FFF2-40B4-BE49-F238E27FC236}">
                <a16:creationId xmlns:a16="http://schemas.microsoft.com/office/drawing/2014/main" id="{DC0D1128-43FE-4300-A2C8-7D317F4DF50F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cf-build-value-5">
            <a:extLst>
              <a:ext uri="{FF2B5EF4-FFF2-40B4-BE49-F238E27FC236}">
                <a16:creationId xmlns:a16="http://schemas.microsoft.com/office/drawing/2014/main" id="{4F7FFD55-4E31-46D9-B1B5-D54A7DB07900}"/>
              </a:ext>
            </a:extLst>
          </p:cNvPr>
          <p:cNvSpPr>
            <a:spLocks noGrp="1"/>
          </p:cNvSpPr>
          <p:nvPr/>
        </p:nvSpPr>
        <p:spPr>
          <a:xfrm>
            <a:off x="8334375" y="23050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-$0.499B</a:t>
            </a:r>
          </a:p>
        </p:txBody>
      </p:sp>
      <p:sp>
        <p:nvSpPr>
          <p:cNvPr id="22" name="fcf-build-label-5">
            <a:extLst>
              <a:ext uri="{FF2B5EF4-FFF2-40B4-BE49-F238E27FC236}">
                <a16:creationId xmlns:a16="http://schemas.microsoft.com/office/drawing/2014/main" id="{DCB22BB4-C95C-417A-8800-E725CAF242DE}"/>
              </a:ext>
            </a:extLst>
          </p:cNvPr>
          <p:cNvSpPr>
            <a:spLocks noGrp="1"/>
          </p:cNvSpPr>
          <p:nvPr/>
        </p:nvSpPr>
        <p:spPr>
          <a:xfrm>
            <a:off x="8334375" y="3810000"/>
            <a:ext cx="1381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- change in NOWC</a:t>
            </a:r>
          </a:p>
        </p:txBody>
      </p:sp>
      <p:sp>
        <p:nvSpPr>
          <p:cNvPr id="23" name="fcf-build-dot-6">
            <a:extLst>
              <a:ext uri="{FF2B5EF4-FFF2-40B4-BE49-F238E27FC236}">
                <a16:creationId xmlns:a16="http://schemas.microsoft.com/office/drawing/2014/main" id="{8F382BED-1DCE-409B-991E-A19D73D6F759}"/>
              </a:ext>
            </a:extLst>
          </p:cNvPr>
          <p:cNvSpPr>
            <a:spLocks noGrp="1"/>
          </p:cNvSpPr>
          <p:nvPr/>
        </p:nvSpPr>
        <p:spPr>
          <a:xfrm>
            <a:off x="10048875" y="33528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fcf-build-value-6">
            <a:extLst>
              <a:ext uri="{FF2B5EF4-FFF2-40B4-BE49-F238E27FC236}">
                <a16:creationId xmlns:a16="http://schemas.microsoft.com/office/drawing/2014/main" id="{34EF8B41-6633-4825-8530-11C5536648D9}"/>
              </a:ext>
            </a:extLst>
          </p:cNvPr>
          <p:cNvSpPr>
            <a:spLocks noGrp="1"/>
          </p:cNvSpPr>
          <p:nvPr/>
        </p:nvSpPr>
        <p:spPr>
          <a:xfrm>
            <a:off x="9906000" y="2305050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$14.866B</a:t>
            </a:r>
          </a:p>
        </p:txBody>
      </p:sp>
      <p:sp>
        <p:nvSpPr>
          <p:cNvPr id="25" name="fcf-build-label-6">
            <a:extLst>
              <a:ext uri="{FF2B5EF4-FFF2-40B4-BE49-F238E27FC236}">
                <a16:creationId xmlns:a16="http://schemas.microsoft.com/office/drawing/2014/main" id="{A28AAD83-298C-4D53-92C7-CD8E76C43957}"/>
              </a:ext>
            </a:extLst>
          </p:cNvPr>
          <p:cNvSpPr>
            <a:spLocks noGrp="1"/>
          </p:cNvSpPr>
          <p:nvPr/>
        </p:nvSpPr>
        <p:spPr>
          <a:xfrm>
            <a:off x="9906000" y="3810000"/>
            <a:ext cx="13811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TEXTBOOK FCF</a:t>
            </a:r>
          </a:p>
        </p:txBody>
      </p:sp>
      <p:sp>
        <p:nvSpPr>
          <p:cNvPr id="26" name="fcf-build-note">
            <a:extLst>
              <a:ext uri="{FF2B5EF4-FFF2-40B4-BE49-F238E27FC236}">
                <a16:creationId xmlns:a16="http://schemas.microsoft.com/office/drawing/2014/main" id="{81D387A3-F5BB-4C40-8A7A-73FE2C9B8813}"/>
              </a:ext>
            </a:extLst>
          </p:cNvPr>
          <p:cNvSpPr>
            <a:spLocks noGrp="1"/>
          </p:cNvSpPr>
          <p:nvPr/>
        </p:nvSpPr>
        <p:spPr>
          <a:xfrm>
            <a:off x="495300" y="519112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Operating NOWC rose from -$11.208B to -$10.709B: a $0.499B use of cash in this simplified definition.</a:t>
            </a:r>
          </a:p>
        </p:txBody>
      </p:sp>
    </p:spTree>
    <p:extLst>
      <p:ext uri="{BB962C8B-B14F-4D97-AF65-F5344CB8AC3E}">
        <p14:creationId xmlns:p14="http://schemas.microsoft.com/office/powerpoint/2010/main" val="242649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16">
            <a:extLst>
              <a:ext uri="{FF2B5EF4-FFF2-40B4-BE49-F238E27FC236}">
                <a16:creationId xmlns:a16="http://schemas.microsoft.com/office/drawing/2014/main" id="{2E5CAE1E-649A-4811-B3D5-EEF6AA6CF26B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cash bridge ends at three distinct totals</a:t>
            </a:r>
          </a:p>
        </p:txBody>
      </p:sp>
      <p:sp>
        <p:nvSpPr>
          <p:cNvPr id="2" name="footer-section-16">
            <a:extLst>
              <a:ext uri="{FF2B5EF4-FFF2-40B4-BE49-F238E27FC236}">
                <a16:creationId xmlns:a16="http://schemas.microsoft.com/office/drawing/2014/main" id="{40C18F7F-5EB2-4602-BF42-761C0C7518D3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FREE CASH FLOW</a:t>
            </a:r>
          </a:p>
        </p:txBody>
      </p:sp>
      <p:sp>
        <p:nvSpPr>
          <p:cNvPr id="3" name="footer-number-16">
            <a:extLst>
              <a:ext uri="{FF2B5EF4-FFF2-40B4-BE49-F238E27FC236}">
                <a16:creationId xmlns:a16="http://schemas.microsoft.com/office/drawing/2014/main" id="{70C937D2-C70F-41FC-A929-D5050B08AD72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image-backing-P&amp;G FY2025 free ">
            <a:extLst>
              <a:ext uri="{FF2B5EF4-FFF2-40B4-BE49-F238E27FC236}">
                <a16:creationId xmlns:a16="http://schemas.microsoft.com/office/drawing/2014/main" id="{D1A245A2-CA3D-4B58-B97A-04FC8D2EDAED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5375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73901" y="1295400"/>
            <a:ext cx="8625148" cy="4762500"/>
          </a:xfrm>
          <a:prstGeom prst="roundRect">
            <a:avLst>
              <a:gd name="adj" fmla="val 2400"/>
            </a:avLst>
          </a:prstGeom>
        </p:spPr>
      </p:pic>
      <p:sp>
        <p:nvSpPr>
          <p:cNvPr id="6" name="source-slide-Sources:">
            <a:extLst>
              <a:ext uri="{FF2B5EF4-FFF2-40B4-BE49-F238E27FC236}">
                <a16:creationId xmlns:a16="http://schemas.microsoft.com/office/drawing/2014/main" id="{2236C8FB-5F70-4CA1-B640-EC8F8AF061DE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Sources: P&amp;G FY2025 Form 10-K, report pp. 30 and 39; supplied FINC 310 model. USD millions.</a:t>
            </a:r>
          </a:p>
        </p:txBody>
      </p:sp>
    </p:spTree>
    <p:extLst>
      <p:ext uri="{BB962C8B-B14F-4D97-AF65-F5344CB8AC3E}">
        <p14:creationId xmlns:p14="http://schemas.microsoft.com/office/powerpoint/2010/main" val="1997562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17">
            <a:extLst>
              <a:ext uri="{FF2B5EF4-FFF2-40B4-BE49-F238E27FC236}">
                <a16:creationId xmlns:a16="http://schemas.microsoft.com/office/drawing/2014/main" id="{CB241206-B1C2-4B29-8C1E-61ACF7C52F87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$822M residual is an explanation task - not a deletion task</a:t>
            </a:r>
          </a:p>
        </p:txBody>
      </p:sp>
      <p:sp>
        <p:nvSpPr>
          <p:cNvPr id="2" name="footer-section-17">
            <a:extLst>
              <a:ext uri="{FF2B5EF4-FFF2-40B4-BE49-F238E27FC236}">
                <a16:creationId xmlns:a16="http://schemas.microsoft.com/office/drawing/2014/main" id="{FFCCE3FA-CECB-494F-BBD3-2DE0504B7479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FREE CASH FLOW</a:t>
            </a:r>
          </a:p>
        </p:txBody>
      </p:sp>
      <p:sp>
        <p:nvSpPr>
          <p:cNvPr id="3" name="footer-number-17">
            <a:extLst>
              <a:ext uri="{FF2B5EF4-FFF2-40B4-BE49-F238E27FC236}">
                <a16:creationId xmlns:a16="http://schemas.microsoft.com/office/drawing/2014/main" id="{4AF0CF6F-2D73-4400-A511-6DBBBE9BE86C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residual-value">
            <a:extLst>
              <a:ext uri="{FF2B5EF4-FFF2-40B4-BE49-F238E27FC236}">
                <a16:creationId xmlns:a16="http://schemas.microsoft.com/office/drawing/2014/main" id="{5370B7BC-4746-4AD1-9904-F44433E7327C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400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5250" b="1" i="0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C53030"/>
                </a:solidFill>
                <a:latin typeface="Arial"/>
                <a:ea typeface="Arial"/>
                <a:cs typeface="Arial"/>
              </a:rPr>
              <a:t>-$822M</a:t>
            </a:r>
          </a:p>
        </p:txBody>
      </p:sp>
      <p:sp>
        <p:nvSpPr>
          <p:cNvPr id="5" name="residual-label">
            <a:extLst>
              <a:ext uri="{FF2B5EF4-FFF2-40B4-BE49-F238E27FC236}">
                <a16:creationId xmlns:a16="http://schemas.microsoft.com/office/drawing/2014/main" id="{F5DEE4EA-9CC9-4D52-82A5-929676060B2C}"/>
              </a:ext>
            </a:extLst>
          </p:cNvPr>
          <p:cNvSpPr>
            <a:spLocks noGrp="1"/>
          </p:cNvSpPr>
          <p:nvPr/>
        </p:nvSpPr>
        <p:spPr>
          <a:xfrm>
            <a:off x="495300" y="2676525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Cash FCF minus textbook FCF</a:t>
            </a:r>
          </a:p>
        </p:txBody>
      </p:sp>
      <p:sp>
        <p:nvSpPr>
          <p:cNvPr id="6" name="residual-explainer">
            <a:extLst>
              <a:ext uri="{FF2B5EF4-FFF2-40B4-BE49-F238E27FC236}">
                <a16:creationId xmlns:a16="http://schemas.microsoft.com/office/drawing/2014/main" id="{D3CBD544-D470-4B16-8EF1-8CAC86E6F5FC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6191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simplified model captures AR, inventory, prepaids, AP, and accrued liabilities. CFO also reflects share-based compensation, deferred taxes, gains/losses, pensions, and other timing items.</a:t>
            </a:r>
          </a:p>
        </p:txBody>
      </p:sp>
      <p:sp>
        <p:nvSpPr>
          <p:cNvPr id="7" name="residual-rule-panel">
            <a:extLst>
              <a:ext uri="{FF2B5EF4-FFF2-40B4-BE49-F238E27FC236}">
                <a16:creationId xmlns:a16="http://schemas.microsoft.com/office/drawing/2014/main" id="{7209FC14-14E0-46E4-B162-A7CDF7AAE43F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10668000" cy="1095375"/>
          </a:xfrm>
          <a:prstGeom prst="rect">
            <a:avLst/>
          </a:prstGeom>
          <a:solidFill>
            <a:srgbClr val="FFF4CC"/>
          </a:solidFill>
          <a:ln w="9525">
            <a:solidFill>
              <a:srgbClr val="FFF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sidual-rule">
            <a:extLst>
              <a:ext uri="{FF2B5EF4-FFF2-40B4-BE49-F238E27FC236}">
                <a16:creationId xmlns:a16="http://schemas.microsoft.com/office/drawing/2014/main" id="{1BA29A57-5D68-491A-A49A-52D15DD3B0B8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660" lnSpcReduction="10000"/>
          </a:bodyPr>
          <a:lstStyle/>
          <a:p>
            <a:pPr algn="ctr">
              <a:lnSpc>
                <a:spcPct val="108000"/>
              </a:lnSpc>
              <a:buNone/>
              <a:defRPr sz="2250" b="1" i="0">
                <a:solidFill>
                  <a:srgbClr val="8A65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8A6500"/>
                </a:solidFill>
                <a:latin typeface="Arial"/>
                <a:ea typeface="Arial"/>
                <a:cs typeface="Arial"/>
              </a:rPr>
              <a:t>Modeling rule: name the residual, preserve it, and explain what the simplified definition does not capture.</a:t>
            </a:r>
          </a:p>
        </p:txBody>
      </p:sp>
    </p:spTree>
    <p:extLst>
      <p:ext uri="{BB962C8B-B14F-4D97-AF65-F5344CB8AC3E}">
        <p14:creationId xmlns:p14="http://schemas.microsoft.com/office/powerpoint/2010/main" val="1333674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18">
            <a:extLst>
              <a:ext uri="{FF2B5EF4-FFF2-40B4-BE49-F238E27FC236}">
                <a16:creationId xmlns:a16="http://schemas.microsoft.com/office/drawing/2014/main" id="{89BDE3D9-E891-474F-B15E-E59BC772655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APPLY AND DEFEND</a:t>
            </a:r>
          </a:p>
        </p:txBody>
      </p:sp>
      <p:sp>
        <p:nvSpPr>
          <p:cNvPr id="2" name="title-18">
            <a:extLst>
              <a:ext uri="{FF2B5EF4-FFF2-40B4-BE49-F238E27FC236}">
                <a16:creationId xmlns:a16="http://schemas.microsoft.com/office/drawing/2014/main" id="{BD3FECEA-DBE8-46A7-963D-87D6A320D601}"/>
              </a:ext>
            </a:extLst>
          </p:cNvPr>
          <p:cNvSpPr>
            <a:spLocks noGrp="1"/>
          </p:cNvSpPr>
          <p:nvPr/>
        </p:nvSpPr>
        <p:spPr>
          <a:xfrm>
            <a:off x="495300" y="533400"/>
            <a:ext cx="1120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 the double-negative CapEx error</a:t>
            </a:r>
          </a:p>
        </p:txBody>
      </p:sp>
      <p:sp>
        <p:nvSpPr>
          <p:cNvPr id="3" name="footer-section-18">
            <a:extLst>
              <a:ext uri="{FF2B5EF4-FFF2-40B4-BE49-F238E27FC236}">
                <a16:creationId xmlns:a16="http://schemas.microsoft.com/office/drawing/2014/main" id="{025A7B71-5FB7-4AC7-8642-9A45640B8A97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TEAM AUDIT</a:t>
            </a:r>
          </a:p>
        </p:txBody>
      </p:sp>
      <p:sp>
        <p:nvSpPr>
          <p:cNvPr id="4" name="footer-number-18">
            <a:extLst>
              <a:ext uri="{FF2B5EF4-FFF2-40B4-BE49-F238E27FC236}">
                <a16:creationId xmlns:a16="http://schemas.microsoft.com/office/drawing/2014/main" id="{6A0959E8-5EA1-4674-9443-8EA0A3D62ECE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activity-prompt-panel-18">
            <a:extLst>
              <a:ext uri="{FF2B5EF4-FFF2-40B4-BE49-F238E27FC236}">
                <a16:creationId xmlns:a16="http://schemas.microsoft.com/office/drawing/2014/main" id="{62AFB109-7396-47CD-8B0A-5D87361EF877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239000" cy="4000500"/>
          </a:xfrm>
          <a:prstGeom prst="rect">
            <a:avLst/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ctivity-prompt-18">
            <a:extLst>
              <a:ext uri="{FF2B5EF4-FFF2-40B4-BE49-F238E27FC236}">
                <a16:creationId xmlns:a16="http://schemas.microsoft.com/office/drawing/2014/main" id="{29A971E5-9E46-4CFC-91BE-31994857FB42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66294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The workbook stores CapEx as -3,773. AI writes: FCF = NOPAT + D&amp;A - raw_capex - change_in_NOWC. What happens, and how do you fix it?</a:t>
            </a:r>
          </a:p>
        </p:txBody>
      </p:sp>
      <p:sp>
        <p:nvSpPr>
          <p:cNvPr id="7" name="activity-label-18">
            <a:extLst>
              <a:ext uri="{FF2B5EF4-FFF2-40B4-BE49-F238E27FC236}">
                <a16:creationId xmlns:a16="http://schemas.microsoft.com/office/drawing/2014/main" id="{6A69233B-FB9E-4254-821F-CC4A7BCAEB37}"/>
              </a:ext>
            </a:extLst>
          </p:cNvPr>
          <p:cNvSpPr>
            <a:spLocks noGrp="1"/>
          </p:cNvSpPr>
          <p:nvPr/>
        </p:nvSpPr>
        <p:spPr>
          <a:xfrm>
            <a:off x="8267700" y="1657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YOUR TEAM</a:t>
            </a:r>
          </a:p>
        </p:txBody>
      </p:sp>
      <p:sp>
        <p:nvSpPr>
          <p:cNvPr id="8" name="activity-steps-18">
            <a:extLst>
              <a:ext uri="{FF2B5EF4-FFF2-40B4-BE49-F238E27FC236}">
                <a16:creationId xmlns:a16="http://schemas.microsoft.com/office/drawing/2014/main" id="{5BA03F9C-B6E7-45BB-A6B9-D0C009941151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3143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Predict the direction of error.</a:t>
            </a:r>
          </a:p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Write one consistent sign rule.</a:t>
            </a:r>
          </a:p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Explain it without using Python jargon.</a:t>
            </a:r>
          </a:p>
        </p:txBody>
      </p:sp>
    </p:spTree>
    <p:extLst>
      <p:ext uri="{BB962C8B-B14F-4D97-AF65-F5344CB8AC3E}">
        <p14:creationId xmlns:p14="http://schemas.microsoft.com/office/powerpoint/2010/main" val="471716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-19">
            <a:extLst>
              <a:ext uri="{FF2B5EF4-FFF2-40B4-BE49-F238E27FC236}">
                <a16:creationId xmlns:a16="http://schemas.microsoft.com/office/drawing/2014/main" id="{4FB16B66-9B2F-428A-A56A-61353F2FEC19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 annual observations create four growth intervals</a:t>
            </a:r>
          </a:p>
        </p:txBody>
      </p:sp>
      <p:sp>
        <p:nvSpPr>
          <p:cNvPr id="2" name="footer-section-19">
            <a:extLst>
              <a:ext uri="{FF2B5EF4-FFF2-40B4-BE49-F238E27FC236}">
                <a16:creationId xmlns:a16="http://schemas.microsoft.com/office/drawing/2014/main" id="{F5C9FD35-B477-4076-9375-FC51088745B7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FIVE-YEAR TREND</a:t>
            </a:r>
          </a:p>
        </p:txBody>
      </p:sp>
      <p:sp>
        <p:nvSpPr>
          <p:cNvPr id="3" name="footer-number-19">
            <a:extLst>
              <a:ext uri="{FF2B5EF4-FFF2-40B4-BE49-F238E27FC236}">
                <a16:creationId xmlns:a16="http://schemas.microsoft.com/office/drawing/2014/main" id="{A13FDF22-1A12-4872-B3F8-878B241111CF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cxnSp>
        <p:nvCxnSpPr>
          <p:cNvPr id="34" name="trend-timeline"/>
          <p:cNvCxnSpPr/>
          <p:nvPr/>
        </p:nvCxnSpPr>
        <p:spPr>
          <a:xfrm>
            <a:off x="952500" y="3571875"/>
            <a:ext cx="97155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trend-dot-0">
            <a:extLst>
              <a:ext uri="{FF2B5EF4-FFF2-40B4-BE49-F238E27FC236}">
                <a16:creationId xmlns:a16="http://schemas.microsoft.com/office/drawing/2014/main" id="{250C60F0-85F1-40D4-9BDA-6BB3798DEF1D}"/>
              </a:ext>
            </a:extLst>
          </p:cNvPr>
          <p:cNvSpPr>
            <a:spLocks noGrp="1"/>
          </p:cNvSpPr>
          <p:nvPr/>
        </p:nvSpPr>
        <p:spPr>
          <a:xfrm>
            <a:off x="952500" y="3495675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rend-year-0">
            <a:extLst>
              <a:ext uri="{FF2B5EF4-FFF2-40B4-BE49-F238E27FC236}">
                <a16:creationId xmlns:a16="http://schemas.microsoft.com/office/drawing/2014/main" id="{20E8FF24-AB10-40F3-9AE9-448AB3C7DBDF}"/>
              </a:ext>
            </a:extLst>
          </p:cNvPr>
          <p:cNvSpPr>
            <a:spLocks noGrp="1"/>
          </p:cNvSpPr>
          <p:nvPr/>
        </p:nvSpPr>
        <p:spPr>
          <a:xfrm>
            <a:off x="809625" y="28956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FY21</a:t>
            </a:r>
          </a:p>
        </p:txBody>
      </p:sp>
      <p:sp>
        <p:nvSpPr>
          <p:cNvPr id="7" name="trend-sales-0">
            <a:extLst>
              <a:ext uri="{FF2B5EF4-FFF2-40B4-BE49-F238E27FC236}">
                <a16:creationId xmlns:a16="http://schemas.microsoft.com/office/drawing/2014/main" id="{20D99EF7-80C7-4786-8958-CA80577BBD2D}"/>
              </a:ext>
            </a:extLst>
          </p:cNvPr>
          <p:cNvSpPr>
            <a:spLocks noGrp="1"/>
          </p:cNvSpPr>
          <p:nvPr/>
        </p:nvSpPr>
        <p:spPr>
          <a:xfrm>
            <a:off x="809625" y="39243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$76.1B</a:t>
            </a:r>
          </a:p>
        </p:txBody>
      </p:sp>
      <p:sp>
        <p:nvSpPr>
          <p:cNvPr id="8" name="trend-eps-0">
            <a:extLst>
              <a:ext uri="{FF2B5EF4-FFF2-40B4-BE49-F238E27FC236}">
                <a16:creationId xmlns:a16="http://schemas.microsoft.com/office/drawing/2014/main" id="{2F962EE6-D46D-42EC-BD91-051A6119C6ED}"/>
              </a:ext>
            </a:extLst>
          </p:cNvPr>
          <p:cNvSpPr>
            <a:spLocks noGrp="1"/>
          </p:cNvSpPr>
          <p:nvPr/>
        </p:nvSpPr>
        <p:spPr>
          <a:xfrm>
            <a:off x="809625" y="4457700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EPS $5.50</a:t>
            </a:r>
          </a:p>
        </p:txBody>
      </p:sp>
      <p:sp>
        <p:nvSpPr>
          <p:cNvPr id="9" name="trend-interval-0">
            <a:extLst>
              <a:ext uri="{FF2B5EF4-FFF2-40B4-BE49-F238E27FC236}">
                <a16:creationId xmlns:a16="http://schemas.microsoft.com/office/drawing/2014/main" id="{5BFBBD6F-2E51-47E5-9732-1269CF5A397A}"/>
              </a:ext>
            </a:extLst>
          </p:cNvPr>
          <p:cNvSpPr>
            <a:spLocks noGrp="1"/>
          </p:cNvSpPr>
          <p:nvPr/>
        </p:nvSpPr>
        <p:spPr>
          <a:xfrm>
            <a:off x="2019300" y="3257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rend-dot-1">
            <a:extLst>
              <a:ext uri="{FF2B5EF4-FFF2-40B4-BE49-F238E27FC236}">
                <a16:creationId xmlns:a16="http://schemas.microsoft.com/office/drawing/2014/main" id="{E22D1C34-6749-4862-8D54-CE67B66404C1}"/>
              </a:ext>
            </a:extLst>
          </p:cNvPr>
          <p:cNvSpPr>
            <a:spLocks noGrp="1"/>
          </p:cNvSpPr>
          <p:nvPr/>
        </p:nvSpPr>
        <p:spPr>
          <a:xfrm>
            <a:off x="3381375" y="3495675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rend-year-1">
            <a:extLst>
              <a:ext uri="{FF2B5EF4-FFF2-40B4-BE49-F238E27FC236}">
                <a16:creationId xmlns:a16="http://schemas.microsoft.com/office/drawing/2014/main" id="{AC920751-8D5A-40E7-9913-5D959D0FD24F}"/>
              </a:ext>
            </a:extLst>
          </p:cNvPr>
          <p:cNvSpPr>
            <a:spLocks noGrp="1"/>
          </p:cNvSpPr>
          <p:nvPr/>
        </p:nvSpPr>
        <p:spPr>
          <a:xfrm>
            <a:off x="3238500" y="28956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FY22</a:t>
            </a:r>
          </a:p>
        </p:txBody>
      </p:sp>
      <p:sp>
        <p:nvSpPr>
          <p:cNvPr id="12" name="trend-sales-1">
            <a:extLst>
              <a:ext uri="{FF2B5EF4-FFF2-40B4-BE49-F238E27FC236}">
                <a16:creationId xmlns:a16="http://schemas.microsoft.com/office/drawing/2014/main" id="{DBA42E23-4072-4CB2-A8C0-3F0C71F1A7E4}"/>
              </a:ext>
            </a:extLst>
          </p:cNvPr>
          <p:cNvSpPr>
            <a:spLocks noGrp="1"/>
          </p:cNvSpPr>
          <p:nvPr/>
        </p:nvSpPr>
        <p:spPr>
          <a:xfrm>
            <a:off x="3238500" y="39243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$80.2B</a:t>
            </a:r>
          </a:p>
        </p:txBody>
      </p:sp>
      <p:sp>
        <p:nvSpPr>
          <p:cNvPr id="13" name="trend-eps-1">
            <a:extLst>
              <a:ext uri="{FF2B5EF4-FFF2-40B4-BE49-F238E27FC236}">
                <a16:creationId xmlns:a16="http://schemas.microsoft.com/office/drawing/2014/main" id="{14AC40B5-26CE-4C75-8722-9E8B62C86236}"/>
              </a:ext>
            </a:extLst>
          </p:cNvPr>
          <p:cNvSpPr>
            <a:spLocks noGrp="1"/>
          </p:cNvSpPr>
          <p:nvPr/>
        </p:nvSpPr>
        <p:spPr>
          <a:xfrm>
            <a:off x="3238500" y="4457700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EPS $5.81</a:t>
            </a:r>
          </a:p>
        </p:txBody>
      </p:sp>
      <p:sp>
        <p:nvSpPr>
          <p:cNvPr id="14" name="trend-interval-1">
            <a:extLst>
              <a:ext uri="{FF2B5EF4-FFF2-40B4-BE49-F238E27FC236}">
                <a16:creationId xmlns:a16="http://schemas.microsoft.com/office/drawing/2014/main" id="{765E38E0-9C77-44DD-B2A3-DC5A247CC456}"/>
              </a:ext>
            </a:extLst>
          </p:cNvPr>
          <p:cNvSpPr>
            <a:spLocks noGrp="1"/>
          </p:cNvSpPr>
          <p:nvPr/>
        </p:nvSpPr>
        <p:spPr>
          <a:xfrm>
            <a:off x="4448175" y="3257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rend-dot-2">
            <a:extLst>
              <a:ext uri="{FF2B5EF4-FFF2-40B4-BE49-F238E27FC236}">
                <a16:creationId xmlns:a16="http://schemas.microsoft.com/office/drawing/2014/main" id="{03BAB210-579D-4F97-ABC3-71F91BE3BB50}"/>
              </a:ext>
            </a:extLst>
          </p:cNvPr>
          <p:cNvSpPr>
            <a:spLocks noGrp="1"/>
          </p:cNvSpPr>
          <p:nvPr/>
        </p:nvSpPr>
        <p:spPr>
          <a:xfrm>
            <a:off x="5810250" y="3495675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rend-year-2">
            <a:extLst>
              <a:ext uri="{FF2B5EF4-FFF2-40B4-BE49-F238E27FC236}">
                <a16:creationId xmlns:a16="http://schemas.microsoft.com/office/drawing/2014/main" id="{275C7DF4-375F-4B99-BE45-51322641BDD5}"/>
              </a:ext>
            </a:extLst>
          </p:cNvPr>
          <p:cNvSpPr>
            <a:spLocks noGrp="1"/>
          </p:cNvSpPr>
          <p:nvPr/>
        </p:nvSpPr>
        <p:spPr>
          <a:xfrm>
            <a:off x="5667375" y="28956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FY23</a:t>
            </a:r>
          </a:p>
        </p:txBody>
      </p:sp>
      <p:sp>
        <p:nvSpPr>
          <p:cNvPr id="17" name="trend-sales-2">
            <a:extLst>
              <a:ext uri="{FF2B5EF4-FFF2-40B4-BE49-F238E27FC236}">
                <a16:creationId xmlns:a16="http://schemas.microsoft.com/office/drawing/2014/main" id="{05DDED2D-FB56-4365-B211-9277522E7C5E}"/>
              </a:ext>
            </a:extLst>
          </p:cNvPr>
          <p:cNvSpPr>
            <a:spLocks noGrp="1"/>
          </p:cNvSpPr>
          <p:nvPr/>
        </p:nvSpPr>
        <p:spPr>
          <a:xfrm>
            <a:off x="5667375" y="39243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$82.0B</a:t>
            </a:r>
          </a:p>
        </p:txBody>
      </p:sp>
      <p:sp>
        <p:nvSpPr>
          <p:cNvPr id="18" name="trend-eps-2">
            <a:extLst>
              <a:ext uri="{FF2B5EF4-FFF2-40B4-BE49-F238E27FC236}">
                <a16:creationId xmlns:a16="http://schemas.microsoft.com/office/drawing/2014/main" id="{74F48B93-CED1-408B-ACA5-7AA2384DE175}"/>
              </a:ext>
            </a:extLst>
          </p:cNvPr>
          <p:cNvSpPr>
            <a:spLocks noGrp="1"/>
          </p:cNvSpPr>
          <p:nvPr/>
        </p:nvSpPr>
        <p:spPr>
          <a:xfrm>
            <a:off x="5667375" y="4457700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EPS $5.90</a:t>
            </a:r>
          </a:p>
        </p:txBody>
      </p:sp>
      <p:sp>
        <p:nvSpPr>
          <p:cNvPr id="19" name="trend-interval-2">
            <a:extLst>
              <a:ext uri="{FF2B5EF4-FFF2-40B4-BE49-F238E27FC236}">
                <a16:creationId xmlns:a16="http://schemas.microsoft.com/office/drawing/2014/main" id="{DE23CB5D-378B-4BFB-B276-8AEBDEF8DA6C}"/>
              </a:ext>
            </a:extLst>
          </p:cNvPr>
          <p:cNvSpPr>
            <a:spLocks noGrp="1"/>
          </p:cNvSpPr>
          <p:nvPr/>
        </p:nvSpPr>
        <p:spPr>
          <a:xfrm>
            <a:off x="6877050" y="3257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trend-dot-3">
            <a:extLst>
              <a:ext uri="{FF2B5EF4-FFF2-40B4-BE49-F238E27FC236}">
                <a16:creationId xmlns:a16="http://schemas.microsoft.com/office/drawing/2014/main" id="{37578F04-7B6C-4859-802B-24C57C8C06A7}"/>
              </a:ext>
            </a:extLst>
          </p:cNvPr>
          <p:cNvSpPr>
            <a:spLocks noGrp="1"/>
          </p:cNvSpPr>
          <p:nvPr/>
        </p:nvSpPr>
        <p:spPr>
          <a:xfrm>
            <a:off x="8239125" y="3495675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rend-year-3">
            <a:extLst>
              <a:ext uri="{FF2B5EF4-FFF2-40B4-BE49-F238E27FC236}">
                <a16:creationId xmlns:a16="http://schemas.microsoft.com/office/drawing/2014/main" id="{8266BE65-8A9B-4193-A653-97822C9F0130}"/>
              </a:ext>
            </a:extLst>
          </p:cNvPr>
          <p:cNvSpPr>
            <a:spLocks noGrp="1"/>
          </p:cNvSpPr>
          <p:nvPr/>
        </p:nvSpPr>
        <p:spPr>
          <a:xfrm>
            <a:off x="8096250" y="28956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FY24</a:t>
            </a:r>
          </a:p>
        </p:txBody>
      </p:sp>
      <p:sp>
        <p:nvSpPr>
          <p:cNvPr id="22" name="trend-sales-3">
            <a:extLst>
              <a:ext uri="{FF2B5EF4-FFF2-40B4-BE49-F238E27FC236}">
                <a16:creationId xmlns:a16="http://schemas.microsoft.com/office/drawing/2014/main" id="{50924371-FDBD-4D97-91E2-AF7D94AB2138}"/>
              </a:ext>
            </a:extLst>
          </p:cNvPr>
          <p:cNvSpPr>
            <a:spLocks noGrp="1"/>
          </p:cNvSpPr>
          <p:nvPr/>
        </p:nvSpPr>
        <p:spPr>
          <a:xfrm>
            <a:off x="8096250" y="39243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$84.0B</a:t>
            </a:r>
          </a:p>
        </p:txBody>
      </p:sp>
      <p:sp>
        <p:nvSpPr>
          <p:cNvPr id="23" name="trend-eps-3">
            <a:extLst>
              <a:ext uri="{FF2B5EF4-FFF2-40B4-BE49-F238E27FC236}">
                <a16:creationId xmlns:a16="http://schemas.microsoft.com/office/drawing/2014/main" id="{AAE46BFD-009B-48A8-8B63-E3DB9586DA14}"/>
              </a:ext>
            </a:extLst>
          </p:cNvPr>
          <p:cNvSpPr>
            <a:spLocks noGrp="1"/>
          </p:cNvSpPr>
          <p:nvPr/>
        </p:nvSpPr>
        <p:spPr>
          <a:xfrm>
            <a:off x="8096250" y="4457700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EPS $6.02</a:t>
            </a:r>
          </a:p>
        </p:txBody>
      </p:sp>
      <p:sp>
        <p:nvSpPr>
          <p:cNvPr id="24" name="trend-interval-3">
            <a:extLst>
              <a:ext uri="{FF2B5EF4-FFF2-40B4-BE49-F238E27FC236}">
                <a16:creationId xmlns:a16="http://schemas.microsoft.com/office/drawing/2014/main" id="{06B16FFA-54B3-4B19-9C98-396BE7C5E6F0}"/>
              </a:ext>
            </a:extLst>
          </p:cNvPr>
          <p:cNvSpPr>
            <a:spLocks noGrp="1"/>
          </p:cNvSpPr>
          <p:nvPr/>
        </p:nvSpPr>
        <p:spPr>
          <a:xfrm>
            <a:off x="9305925" y="3257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trend-dot-4">
            <a:extLst>
              <a:ext uri="{FF2B5EF4-FFF2-40B4-BE49-F238E27FC236}">
                <a16:creationId xmlns:a16="http://schemas.microsoft.com/office/drawing/2014/main" id="{69B222D0-0624-4A19-AFA3-032EC4EBA6F3}"/>
              </a:ext>
            </a:extLst>
          </p:cNvPr>
          <p:cNvSpPr>
            <a:spLocks noGrp="1"/>
          </p:cNvSpPr>
          <p:nvPr/>
        </p:nvSpPr>
        <p:spPr>
          <a:xfrm>
            <a:off x="10668000" y="3495675"/>
            <a:ext cx="152400" cy="1524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rend-year-4">
            <a:extLst>
              <a:ext uri="{FF2B5EF4-FFF2-40B4-BE49-F238E27FC236}">
                <a16:creationId xmlns:a16="http://schemas.microsoft.com/office/drawing/2014/main" id="{18D48DF5-72F4-4E35-8399-2148CB46BFFC}"/>
              </a:ext>
            </a:extLst>
          </p:cNvPr>
          <p:cNvSpPr>
            <a:spLocks noGrp="1"/>
          </p:cNvSpPr>
          <p:nvPr/>
        </p:nvSpPr>
        <p:spPr>
          <a:xfrm>
            <a:off x="10525125" y="28956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FY25</a:t>
            </a:r>
          </a:p>
        </p:txBody>
      </p:sp>
      <p:sp>
        <p:nvSpPr>
          <p:cNvPr id="27" name="trend-sales-4">
            <a:extLst>
              <a:ext uri="{FF2B5EF4-FFF2-40B4-BE49-F238E27FC236}">
                <a16:creationId xmlns:a16="http://schemas.microsoft.com/office/drawing/2014/main" id="{91ED5483-E016-4BD1-ACAE-7BD48BA0C112}"/>
              </a:ext>
            </a:extLst>
          </p:cNvPr>
          <p:cNvSpPr>
            <a:spLocks noGrp="1"/>
          </p:cNvSpPr>
          <p:nvPr/>
        </p:nvSpPr>
        <p:spPr>
          <a:xfrm>
            <a:off x="10525125" y="3924300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$84.3B</a:t>
            </a:r>
          </a:p>
        </p:txBody>
      </p:sp>
      <p:sp>
        <p:nvSpPr>
          <p:cNvPr id="28" name="trend-eps-4">
            <a:extLst>
              <a:ext uri="{FF2B5EF4-FFF2-40B4-BE49-F238E27FC236}">
                <a16:creationId xmlns:a16="http://schemas.microsoft.com/office/drawing/2014/main" id="{A413AA2F-9DBB-436A-8664-1C2F3869BAD0}"/>
              </a:ext>
            </a:extLst>
          </p:cNvPr>
          <p:cNvSpPr>
            <a:spLocks noGrp="1"/>
          </p:cNvSpPr>
          <p:nvPr/>
        </p:nvSpPr>
        <p:spPr>
          <a:xfrm>
            <a:off x="10525125" y="4457700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EPS $6.51</a:t>
            </a:r>
          </a:p>
        </p:txBody>
      </p:sp>
      <p:sp>
        <p:nvSpPr>
          <p:cNvPr id="29" name="trend-unit-note">
            <a:extLst>
              <a:ext uri="{FF2B5EF4-FFF2-40B4-BE49-F238E27FC236}">
                <a16:creationId xmlns:a16="http://schemas.microsoft.com/office/drawing/2014/main" id="{8C6D8FE1-492D-44D8-840C-3C549265C439}"/>
              </a:ext>
            </a:extLst>
          </p:cNvPr>
          <p:cNvSpPr>
            <a:spLocks noGrp="1"/>
          </p:cNvSpPr>
          <p:nvPr/>
        </p:nvSpPr>
        <p:spPr>
          <a:xfrm>
            <a:off x="495300" y="541020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Net sales: USD billions | EPS: GAAP diluted earnings per share</a:t>
            </a:r>
          </a:p>
        </p:txBody>
      </p:sp>
      <p:sp>
        <p:nvSpPr>
          <p:cNvPr id="30" name="source-slide-Sources:">
            <a:extLst>
              <a:ext uri="{FF2B5EF4-FFF2-40B4-BE49-F238E27FC236}">
                <a16:creationId xmlns:a16="http://schemas.microsoft.com/office/drawing/2014/main" id="{89C30833-A6B1-4BAE-9E58-D428913B9BF2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Sources: P&amp;G FY2025 Form 10-K for FY2023-FY2025; P&amp;G FY2022 Form 10-K for FY2021-FY2022.</a:t>
            </a:r>
          </a:p>
        </p:txBody>
      </p:sp>
    </p:spTree>
    <p:extLst>
      <p:ext uri="{BB962C8B-B14F-4D97-AF65-F5344CB8AC3E}">
        <p14:creationId xmlns:p14="http://schemas.microsoft.com/office/powerpoint/2010/main" val="1928476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20">
            <a:extLst>
              <a:ext uri="{FF2B5EF4-FFF2-40B4-BE49-F238E27FC236}">
                <a16:creationId xmlns:a16="http://schemas.microsoft.com/office/drawing/2014/main" id="{6AB5DE15-86AC-4956-88CC-C5A5DA24B005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CAGR measures one smoothed annual pace across four intervals</a:t>
            </a:r>
          </a:p>
        </p:txBody>
      </p:sp>
      <p:sp>
        <p:nvSpPr>
          <p:cNvPr id="2" name="footer-section-20">
            <a:extLst>
              <a:ext uri="{FF2B5EF4-FFF2-40B4-BE49-F238E27FC236}">
                <a16:creationId xmlns:a16="http://schemas.microsoft.com/office/drawing/2014/main" id="{C118466E-7F1C-4475-9B10-C8E7DE673295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FIVE-YEAR TREND</a:t>
            </a:r>
          </a:p>
        </p:txBody>
      </p:sp>
      <p:sp>
        <p:nvSpPr>
          <p:cNvPr id="3" name="footer-number-20">
            <a:extLst>
              <a:ext uri="{FF2B5EF4-FFF2-40B4-BE49-F238E27FC236}">
                <a16:creationId xmlns:a16="http://schemas.microsoft.com/office/drawing/2014/main" id="{98FEDEBF-2C81-4E59-9932-3BB8271C8084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sales-cagr-formula">
            <a:extLst>
              <a:ext uri="{FF2B5EF4-FFF2-40B4-BE49-F238E27FC236}">
                <a16:creationId xmlns:a16="http://schemas.microsoft.com/office/drawing/2014/main" id="{1CD99C46-A001-4A46-B6EA-FE7DD1BB696D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695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Sales CAGR = (84,284 / 76,118)^(1/4) - 1</a:t>
            </a:r>
          </a:p>
        </p:txBody>
      </p:sp>
      <p:sp>
        <p:nvSpPr>
          <p:cNvPr id="5" name="sales-cagr-value">
            <a:extLst>
              <a:ext uri="{FF2B5EF4-FFF2-40B4-BE49-F238E27FC236}">
                <a16:creationId xmlns:a16="http://schemas.microsoft.com/office/drawing/2014/main" id="{CF618330-E52F-4BC7-B521-57D447AC47EA}"/>
              </a:ext>
            </a:extLst>
          </p:cNvPr>
          <p:cNvSpPr>
            <a:spLocks noGrp="1"/>
          </p:cNvSpPr>
          <p:nvPr/>
        </p:nvSpPr>
        <p:spPr>
          <a:xfrm>
            <a:off x="8334375" y="1666875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4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2.58%</a:t>
            </a:r>
          </a:p>
        </p:txBody>
      </p:sp>
      <p:sp>
        <p:nvSpPr>
          <p:cNvPr id="6" name="sales-cagr-label">
            <a:extLst>
              <a:ext uri="{FF2B5EF4-FFF2-40B4-BE49-F238E27FC236}">
                <a16:creationId xmlns:a16="http://schemas.microsoft.com/office/drawing/2014/main" id="{ED7CF8CA-156D-419D-92EB-AD76D5A4067E}"/>
              </a:ext>
            </a:extLst>
          </p:cNvPr>
          <p:cNvSpPr>
            <a:spLocks noGrp="1"/>
          </p:cNvSpPr>
          <p:nvPr/>
        </p:nvSpPr>
        <p:spPr>
          <a:xfrm>
            <a:off x="8334375" y="2581275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Net sales CAGR</a:t>
            </a:r>
          </a:p>
        </p:txBody>
      </p:sp>
      <p:cxnSp>
        <p:nvCxnSpPr>
          <p:cNvPr id="18" name="cagr-divider"/>
          <p:cNvCxnSpPr/>
          <p:nvPr/>
        </p:nvCxnSpPr>
        <p:spPr>
          <a:xfrm>
            <a:off x="495300" y="3143250"/>
            <a:ext cx="106680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8" name="eps-cagr-formula">
            <a:extLst>
              <a:ext uri="{FF2B5EF4-FFF2-40B4-BE49-F238E27FC236}">
                <a16:creationId xmlns:a16="http://schemas.microsoft.com/office/drawing/2014/main" id="{683A100B-0B12-48DE-9A48-2A9297CA0442}"/>
              </a:ext>
            </a:extLst>
          </p:cNvPr>
          <p:cNvSpPr>
            <a:spLocks noGrp="1"/>
          </p:cNvSpPr>
          <p:nvPr/>
        </p:nvSpPr>
        <p:spPr>
          <a:xfrm>
            <a:off x="495300" y="3762375"/>
            <a:ext cx="695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EPS CAGR = (6.51 / 5.50)^(1/4) - 1</a:t>
            </a:r>
          </a:p>
        </p:txBody>
      </p:sp>
      <p:sp>
        <p:nvSpPr>
          <p:cNvPr id="9" name="eps-cagr-value">
            <a:extLst>
              <a:ext uri="{FF2B5EF4-FFF2-40B4-BE49-F238E27FC236}">
                <a16:creationId xmlns:a16="http://schemas.microsoft.com/office/drawing/2014/main" id="{92004E6F-EE51-40F5-A98E-AF4F842189C2}"/>
              </a:ext>
            </a:extLst>
          </p:cNvPr>
          <p:cNvSpPr>
            <a:spLocks noGrp="1"/>
          </p:cNvSpPr>
          <p:nvPr/>
        </p:nvSpPr>
        <p:spPr>
          <a:xfrm>
            <a:off x="8334375" y="361950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4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4.30%</a:t>
            </a:r>
          </a:p>
        </p:txBody>
      </p:sp>
      <p:sp>
        <p:nvSpPr>
          <p:cNvPr id="10" name="eps-cagr-label">
            <a:extLst>
              <a:ext uri="{FF2B5EF4-FFF2-40B4-BE49-F238E27FC236}">
                <a16:creationId xmlns:a16="http://schemas.microsoft.com/office/drawing/2014/main" id="{868C45F1-0A9D-4B65-AC85-952FD7EC26A6}"/>
              </a:ext>
            </a:extLst>
          </p:cNvPr>
          <p:cNvSpPr>
            <a:spLocks noGrp="1"/>
          </p:cNvSpPr>
          <p:nvPr/>
        </p:nvSpPr>
        <p:spPr>
          <a:xfrm>
            <a:off x="8334375" y="45339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GAAP diluted EPS CAGR</a:t>
            </a:r>
          </a:p>
        </p:txBody>
      </p:sp>
      <p:sp>
        <p:nvSpPr>
          <p:cNvPr id="11" name="cagr-caveat">
            <a:extLst>
              <a:ext uri="{FF2B5EF4-FFF2-40B4-BE49-F238E27FC236}">
                <a16:creationId xmlns:a16="http://schemas.microsoft.com/office/drawing/2014/main" id="{E457E671-7B1F-4A37-B0BE-F7D66AEC908C}"/>
              </a:ext>
            </a:extLst>
          </p:cNvPr>
          <p:cNvSpPr>
            <a:spLocks noGrp="1"/>
          </p:cNvSpPr>
          <p:nvPr/>
        </p:nvSpPr>
        <p:spPr>
          <a:xfrm>
            <a:off x="495300" y="5286375"/>
            <a:ext cx="1047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54"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CAGR answers 'what constant pace connects the endpoints?' - not 'what happened every year?'</a:t>
            </a:r>
          </a:p>
        </p:txBody>
      </p:sp>
    </p:spTree>
    <p:extLst>
      <p:ext uri="{BB962C8B-B14F-4D97-AF65-F5344CB8AC3E}">
        <p14:creationId xmlns:p14="http://schemas.microsoft.com/office/powerpoint/2010/main" val="2099251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21">
            <a:extLst>
              <a:ext uri="{FF2B5EF4-FFF2-40B4-BE49-F238E27FC236}">
                <a16:creationId xmlns:a16="http://schemas.microsoft.com/office/drawing/2014/main" id="{C11D4CC2-0AAC-452C-A5B6-9C3684187631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219"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EPS grew faster than sales - the chart shows the gap, not its cause</a:t>
            </a:r>
          </a:p>
        </p:txBody>
      </p:sp>
      <p:sp>
        <p:nvSpPr>
          <p:cNvPr id="2" name="footer-section-21">
            <a:extLst>
              <a:ext uri="{FF2B5EF4-FFF2-40B4-BE49-F238E27FC236}">
                <a16:creationId xmlns:a16="http://schemas.microsoft.com/office/drawing/2014/main" id="{965FC9BD-D409-4D3C-93F2-F39DA1426F36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FIVE-YEAR TREND</a:t>
            </a:r>
          </a:p>
        </p:txBody>
      </p:sp>
      <p:sp>
        <p:nvSpPr>
          <p:cNvPr id="3" name="footer-number-21">
            <a:extLst>
              <a:ext uri="{FF2B5EF4-FFF2-40B4-BE49-F238E27FC236}">
                <a16:creationId xmlns:a16="http://schemas.microsoft.com/office/drawing/2014/main" id="{9EFB9468-6EC7-4EA1-B0F3-49947C374009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image-backing-P&amp;G net sales an">
            <a:extLst>
              <a:ext uri="{FF2B5EF4-FFF2-40B4-BE49-F238E27FC236}">
                <a16:creationId xmlns:a16="http://schemas.microsoft.com/office/drawing/2014/main" id="{25B1D552-B193-4D47-A474-C24A79B3E074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5375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42090" y="1295400"/>
            <a:ext cx="8488770" cy="4762500"/>
          </a:xfrm>
          <a:prstGeom prst="roundRect">
            <a:avLst>
              <a:gd name="adj" fmla="val 2400"/>
            </a:avLst>
          </a:prstGeom>
        </p:spPr>
      </p:pic>
      <p:sp>
        <p:nvSpPr>
          <p:cNvPr id="6" name="source-slide-Sources:">
            <a:extLst>
              <a:ext uri="{FF2B5EF4-FFF2-40B4-BE49-F238E27FC236}">
                <a16:creationId xmlns:a16="http://schemas.microsoft.com/office/drawing/2014/main" id="{ECB1F0F2-8D80-4C97-9C19-5288B4DB919A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Sources: P&amp;G FY2025 Form 10-K (FY2023-FY2025) and P&amp;G FY2022 Form 10-K (FY2021-FY2022).</a:t>
            </a:r>
          </a:p>
        </p:txBody>
      </p:sp>
    </p:spTree>
    <p:extLst>
      <p:ext uri="{BB962C8B-B14F-4D97-AF65-F5344CB8AC3E}">
        <p14:creationId xmlns:p14="http://schemas.microsoft.com/office/powerpoint/2010/main" val="47154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22">
            <a:extLst>
              <a:ext uri="{FF2B5EF4-FFF2-40B4-BE49-F238E27FC236}">
                <a16:creationId xmlns:a16="http://schemas.microsoft.com/office/drawing/2014/main" id="{3C3428BB-05EC-444D-B640-F304D4E8A9B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APPLY AND DEFEND</a:t>
            </a:r>
          </a:p>
        </p:txBody>
      </p:sp>
      <p:sp>
        <p:nvSpPr>
          <p:cNvPr id="2" name="title-22">
            <a:extLst>
              <a:ext uri="{FF2B5EF4-FFF2-40B4-BE49-F238E27FC236}">
                <a16:creationId xmlns:a16="http://schemas.microsoft.com/office/drawing/2014/main" id="{D22A15EC-5F2F-4158-ADE7-154DB1511A2A}"/>
              </a:ext>
            </a:extLst>
          </p:cNvPr>
          <p:cNvSpPr>
            <a:spLocks noGrp="1"/>
          </p:cNvSpPr>
          <p:nvPr/>
        </p:nvSpPr>
        <p:spPr>
          <a:xfrm>
            <a:off x="495300" y="533400"/>
            <a:ext cx="1120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 the growth gap without overclaiming</a:t>
            </a:r>
          </a:p>
        </p:txBody>
      </p:sp>
      <p:sp>
        <p:nvSpPr>
          <p:cNvPr id="3" name="footer-section-22">
            <a:extLst>
              <a:ext uri="{FF2B5EF4-FFF2-40B4-BE49-F238E27FC236}">
                <a16:creationId xmlns:a16="http://schemas.microsoft.com/office/drawing/2014/main" id="{208985AB-8DE4-4ED3-851A-5535DF6C14FF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TEAM AUDIT</a:t>
            </a:r>
          </a:p>
        </p:txBody>
      </p:sp>
      <p:sp>
        <p:nvSpPr>
          <p:cNvPr id="4" name="footer-number-22">
            <a:extLst>
              <a:ext uri="{FF2B5EF4-FFF2-40B4-BE49-F238E27FC236}">
                <a16:creationId xmlns:a16="http://schemas.microsoft.com/office/drawing/2014/main" id="{7C63034F-79D1-4477-81B4-A450BE0509F1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activity-prompt-panel-22">
            <a:extLst>
              <a:ext uri="{FF2B5EF4-FFF2-40B4-BE49-F238E27FC236}">
                <a16:creationId xmlns:a16="http://schemas.microsoft.com/office/drawing/2014/main" id="{50F6D842-1C30-42A4-84A6-CB2F2D0E7EE7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239000" cy="4000500"/>
          </a:xfrm>
          <a:prstGeom prst="rect">
            <a:avLst/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ctivity-prompt-22">
            <a:extLst>
              <a:ext uri="{FF2B5EF4-FFF2-40B4-BE49-F238E27FC236}">
                <a16:creationId xmlns:a16="http://schemas.microsoft.com/office/drawing/2014/main" id="{FC6C0ECE-062A-448A-831C-AD635D31AC6F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66294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EPS CAGR is 4.30%; sales CAGR is 2.58%. List three possible drivers. Mark each as a fact, a plausible hypothesis, or unsupported by this chart.</a:t>
            </a:r>
          </a:p>
        </p:txBody>
      </p:sp>
      <p:sp>
        <p:nvSpPr>
          <p:cNvPr id="7" name="activity-label-22">
            <a:extLst>
              <a:ext uri="{FF2B5EF4-FFF2-40B4-BE49-F238E27FC236}">
                <a16:creationId xmlns:a16="http://schemas.microsoft.com/office/drawing/2014/main" id="{9B90D618-6CA0-4CB8-8D5A-DD7B36F859B3}"/>
              </a:ext>
            </a:extLst>
          </p:cNvPr>
          <p:cNvSpPr>
            <a:spLocks noGrp="1"/>
          </p:cNvSpPr>
          <p:nvPr/>
        </p:nvSpPr>
        <p:spPr>
          <a:xfrm>
            <a:off x="8267700" y="1657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YOUR TEAM</a:t>
            </a:r>
          </a:p>
        </p:txBody>
      </p:sp>
      <p:sp>
        <p:nvSpPr>
          <p:cNvPr id="8" name="activity-steps-22">
            <a:extLst>
              <a:ext uri="{FF2B5EF4-FFF2-40B4-BE49-F238E27FC236}">
                <a16:creationId xmlns:a16="http://schemas.microsoft.com/office/drawing/2014/main" id="{9BC999F0-8827-40F9-8EA2-3B262C172AA2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3143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Separate evidence from inference.</a:t>
            </a:r>
          </a:p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Name one additional source you would inspect.</a:t>
            </a:r>
          </a:p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Identify one dual-axis visual risk.</a:t>
            </a:r>
          </a:p>
        </p:txBody>
      </p:sp>
    </p:spTree>
    <p:extLst>
      <p:ext uri="{BB962C8B-B14F-4D97-AF65-F5344CB8AC3E}">
        <p14:creationId xmlns:p14="http://schemas.microsoft.com/office/powerpoint/2010/main" val="196483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-23">
            <a:extLst>
              <a:ext uri="{FF2B5EF4-FFF2-40B4-BE49-F238E27FC236}">
                <a16:creationId xmlns:a16="http://schemas.microsoft.com/office/drawing/2014/main" id="{DDB78A19-316C-48DC-90E9-2CFA27240642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DuPont separates profitability, efficiency, and leverage</a:t>
            </a:r>
          </a:p>
        </p:txBody>
      </p:sp>
      <p:sp>
        <p:nvSpPr>
          <p:cNvPr id="2" name="footer-section-23">
            <a:extLst>
              <a:ext uri="{FF2B5EF4-FFF2-40B4-BE49-F238E27FC236}">
                <a16:creationId xmlns:a16="http://schemas.microsoft.com/office/drawing/2014/main" id="{9A35C2E1-3DEA-455D-B329-7437D82AE4D9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DUPONT ROE</a:t>
            </a:r>
          </a:p>
        </p:txBody>
      </p:sp>
      <p:sp>
        <p:nvSpPr>
          <p:cNvPr id="3" name="footer-number-23">
            <a:extLst>
              <a:ext uri="{FF2B5EF4-FFF2-40B4-BE49-F238E27FC236}">
                <a16:creationId xmlns:a16="http://schemas.microsoft.com/office/drawing/2014/main" id="{1EE6B073-4E9B-48B2-94B2-79879D28C7A7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dupont-label-0">
            <a:extLst>
              <a:ext uri="{FF2B5EF4-FFF2-40B4-BE49-F238E27FC236}">
                <a16:creationId xmlns:a16="http://schemas.microsoft.com/office/drawing/2014/main" id="{2383BCC0-1413-4FA4-B9CF-29127B1CC639}"/>
              </a:ext>
            </a:extLst>
          </p:cNvPr>
          <p:cNvSpPr>
            <a:spLocks noGrp="1"/>
          </p:cNvSpPr>
          <p:nvPr/>
        </p:nvSpPr>
        <p:spPr>
          <a:xfrm>
            <a:off x="495300" y="17145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PROFIT MARGIN</a:t>
            </a:r>
          </a:p>
        </p:txBody>
      </p:sp>
      <p:sp>
        <p:nvSpPr>
          <p:cNvPr id="5" name="dupont-value-0">
            <a:extLst>
              <a:ext uri="{FF2B5EF4-FFF2-40B4-BE49-F238E27FC236}">
                <a16:creationId xmlns:a16="http://schemas.microsoft.com/office/drawing/2014/main" id="{992BA085-928E-4B29-849A-0AF839251D4C}"/>
              </a:ext>
            </a:extLst>
          </p:cNvPr>
          <p:cNvSpPr>
            <a:spLocks noGrp="1"/>
          </p:cNvSpPr>
          <p:nvPr/>
        </p:nvSpPr>
        <p:spPr>
          <a:xfrm>
            <a:off x="495300" y="2333625"/>
            <a:ext cx="2381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19.06%</a:t>
            </a:r>
          </a:p>
        </p:txBody>
      </p:sp>
      <p:sp>
        <p:nvSpPr>
          <p:cNvPr id="6" name="dupont-formula-0">
            <a:extLst>
              <a:ext uri="{FF2B5EF4-FFF2-40B4-BE49-F238E27FC236}">
                <a16:creationId xmlns:a16="http://schemas.microsoft.com/office/drawing/2014/main" id="{422B4896-F12C-47C8-A5B3-6C8193C0EE3C}"/>
              </a:ext>
            </a:extLst>
          </p:cNvPr>
          <p:cNvSpPr>
            <a:spLocks noGrp="1"/>
          </p:cNvSpPr>
          <p:nvPr/>
        </p:nvSpPr>
        <p:spPr>
          <a:xfrm>
            <a:off x="495300" y="3333750"/>
            <a:ext cx="2381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Net earnings / Net sales</a:t>
            </a:r>
          </a:p>
        </p:txBody>
      </p:sp>
      <p:sp>
        <p:nvSpPr>
          <p:cNvPr id="7" name="dupont-op-0">
            <a:extLst>
              <a:ext uri="{FF2B5EF4-FFF2-40B4-BE49-F238E27FC236}">
                <a16:creationId xmlns:a16="http://schemas.microsoft.com/office/drawing/2014/main" id="{14A78769-B351-4DD9-B944-3F015C0AD63C}"/>
              </a:ext>
            </a:extLst>
          </p:cNvPr>
          <p:cNvSpPr>
            <a:spLocks noGrp="1"/>
          </p:cNvSpPr>
          <p:nvPr/>
        </p:nvSpPr>
        <p:spPr>
          <a:xfrm>
            <a:off x="2876550" y="2571750"/>
            <a:ext cx="38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" name="dupont-label-1">
            <a:extLst>
              <a:ext uri="{FF2B5EF4-FFF2-40B4-BE49-F238E27FC236}">
                <a16:creationId xmlns:a16="http://schemas.microsoft.com/office/drawing/2014/main" id="{745CE423-4AF5-4EA0-A596-73E664B0173B}"/>
              </a:ext>
            </a:extLst>
          </p:cNvPr>
          <p:cNvSpPr>
            <a:spLocks noGrp="1"/>
          </p:cNvSpPr>
          <p:nvPr/>
        </p:nvSpPr>
        <p:spPr>
          <a:xfrm>
            <a:off x="3352800" y="17145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ASSET TURNOVER</a:t>
            </a:r>
          </a:p>
        </p:txBody>
      </p:sp>
      <p:sp>
        <p:nvSpPr>
          <p:cNvPr id="9" name="dupont-value-1">
            <a:extLst>
              <a:ext uri="{FF2B5EF4-FFF2-40B4-BE49-F238E27FC236}">
                <a16:creationId xmlns:a16="http://schemas.microsoft.com/office/drawing/2014/main" id="{6B8EEC2E-FDD6-497C-8D5E-28CDC6E52CF2}"/>
              </a:ext>
            </a:extLst>
          </p:cNvPr>
          <p:cNvSpPr>
            <a:spLocks noGrp="1"/>
          </p:cNvSpPr>
          <p:nvPr/>
        </p:nvSpPr>
        <p:spPr>
          <a:xfrm>
            <a:off x="3352800" y="2333625"/>
            <a:ext cx="2381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0.681x</a:t>
            </a:r>
          </a:p>
        </p:txBody>
      </p:sp>
      <p:sp>
        <p:nvSpPr>
          <p:cNvPr id="10" name="dupont-formula-1">
            <a:extLst>
              <a:ext uri="{FF2B5EF4-FFF2-40B4-BE49-F238E27FC236}">
                <a16:creationId xmlns:a16="http://schemas.microsoft.com/office/drawing/2014/main" id="{F250A9A2-3E01-46DD-BDD0-8F523B401E05}"/>
              </a:ext>
            </a:extLst>
          </p:cNvPr>
          <p:cNvSpPr>
            <a:spLocks noGrp="1"/>
          </p:cNvSpPr>
          <p:nvPr/>
        </p:nvSpPr>
        <p:spPr>
          <a:xfrm>
            <a:off x="3352800" y="3333750"/>
            <a:ext cx="2381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Net sales / Average assets</a:t>
            </a:r>
          </a:p>
        </p:txBody>
      </p:sp>
      <p:sp>
        <p:nvSpPr>
          <p:cNvPr id="11" name="dupont-op-1">
            <a:extLst>
              <a:ext uri="{FF2B5EF4-FFF2-40B4-BE49-F238E27FC236}">
                <a16:creationId xmlns:a16="http://schemas.microsoft.com/office/drawing/2014/main" id="{2822E44F-FE65-40B3-A07D-12181198E951}"/>
              </a:ext>
            </a:extLst>
          </p:cNvPr>
          <p:cNvSpPr>
            <a:spLocks noGrp="1"/>
          </p:cNvSpPr>
          <p:nvPr/>
        </p:nvSpPr>
        <p:spPr>
          <a:xfrm>
            <a:off x="5734050" y="2571750"/>
            <a:ext cx="38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2" name="dupont-label-2">
            <a:extLst>
              <a:ext uri="{FF2B5EF4-FFF2-40B4-BE49-F238E27FC236}">
                <a16:creationId xmlns:a16="http://schemas.microsoft.com/office/drawing/2014/main" id="{21E4E23C-86AF-4DD1-B040-7B972A14C383}"/>
              </a:ext>
            </a:extLst>
          </p:cNvPr>
          <p:cNvSpPr>
            <a:spLocks noGrp="1"/>
          </p:cNvSpPr>
          <p:nvPr/>
        </p:nvSpPr>
        <p:spPr>
          <a:xfrm>
            <a:off x="6210300" y="17145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EQUITY MULTIPLIER</a:t>
            </a:r>
          </a:p>
        </p:txBody>
      </p:sp>
      <p:sp>
        <p:nvSpPr>
          <p:cNvPr id="13" name="dupont-value-2">
            <a:extLst>
              <a:ext uri="{FF2B5EF4-FFF2-40B4-BE49-F238E27FC236}">
                <a16:creationId xmlns:a16="http://schemas.microsoft.com/office/drawing/2014/main" id="{EB80E341-12CA-4DD2-9959-4C015EA6D4A0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2381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2.408x</a:t>
            </a:r>
          </a:p>
        </p:txBody>
      </p:sp>
      <p:sp>
        <p:nvSpPr>
          <p:cNvPr id="14" name="dupont-formula-2">
            <a:extLst>
              <a:ext uri="{FF2B5EF4-FFF2-40B4-BE49-F238E27FC236}">
                <a16:creationId xmlns:a16="http://schemas.microsoft.com/office/drawing/2014/main" id="{48DA30C2-52D4-407F-99C1-4EE4A4F2EAAB}"/>
              </a:ext>
            </a:extLst>
          </p:cNvPr>
          <p:cNvSpPr>
            <a:spLocks noGrp="1"/>
          </p:cNvSpPr>
          <p:nvPr/>
        </p:nvSpPr>
        <p:spPr>
          <a:xfrm>
            <a:off x="6210300" y="3333750"/>
            <a:ext cx="2381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Average assets / Average equity</a:t>
            </a:r>
          </a:p>
        </p:txBody>
      </p:sp>
      <p:sp>
        <p:nvSpPr>
          <p:cNvPr id="15" name="dupont-equals">
            <a:extLst>
              <a:ext uri="{FF2B5EF4-FFF2-40B4-BE49-F238E27FC236}">
                <a16:creationId xmlns:a16="http://schemas.microsoft.com/office/drawing/2014/main" id="{FEE52072-1E51-441A-86BE-C2D63FC84015}"/>
              </a:ext>
            </a:extLst>
          </p:cNvPr>
          <p:cNvSpPr>
            <a:spLocks noGrp="1"/>
          </p:cNvSpPr>
          <p:nvPr/>
        </p:nvSpPr>
        <p:spPr>
          <a:xfrm>
            <a:off x="8591550" y="2571750"/>
            <a:ext cx="38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6" name="dupont-label-3">
            <a:extLst>
              <a:ext uri="{FF2B5EF4-FFF2-40B4-BE49-F238E27FC236}">
                <a16:creationId xmlns:a16="http://schemas.microsoft.com/office/drawing/2014/main" id="{26F55C0C-D293-4E4C-B1D7-D394D5B97688}"/>
              </a:ext>
            </a:extLst>
          </p:cNvPr>
          <p:cNvSpPr>
            <a:spLocks noGrp="1"/>
          </p:cNvSpPr>
          <p:nvPr/>
        </p:nvSpPr>
        <p:spPr>
          <a:xfrm>
            <a:off x="9067800" y="17145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ROE</a:t>
            </a:r>
          </a:p>
        </p:txBody>
      </p:sp>
      <p:sp>
        <p:nvSpPr>
          <p:cNvPr id="17" name="dupont-value-3">
            <a:extLst>
              <a:ext uri="{FF2B5EF4-FFF2-40B4-BE49-F238E27FC236}">
                <a16:creationId xmlns:a16="http://schemas.microsoft.com/office/drawing/2014/main" id="{08B9506B-B899-43CD-8CF2-176FB68D7AE1}"/>
              </a:ext>
            </a:extLst>
          </p:cNvPr>
          <p:cNvSpPr>
            <a:spLocks noGrp="1"/>
          </p:cNvSpPr>
          <p:nvPr/>
        </p:nvSpPr>
        <p:spPr>
          <a:xfrm>
            <a:off x="9067800" y="2333625"/>
            <a:ext cx="2381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31.24%</a:t>
            </a:r>
          </a:p>
        </p:txBody>
      </p:sp>
      <p:sp>
        <p:nvSpPr>
          <p:cNvPr id="18" name="dupont-formula-3">
            <a:extLst>
              <a:ext uri="{FF2B5EF4-FFF2-40B4-BE49-F238E27FC236}">
                <a16:creationId xmlns:a16="http://schemas.microsoft.com/office/drawing/2014/main" id="{313EE63D-C8E5-4538-9901-65B12332B37A}"/>
              </a:ext>
            </a:extLst>
          </p:cNvPr>
          <p:cNvSpPr>
            <a:spLocks noGrp="1"/>
          </p:cNvSpPr>
          <p:nvPr/>
        </p:nvSpPr>
        <p:spPr>
          <a:xfrm>
            <a:off x="9067800" y="3333750"/>
            <a:ext cx="2381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Net earnings / Average equity</a:t>
            </a:r>
          </a:p>
        </p:txBody>
      </p:sp>
      <p:sp>
        <p:nvSpPr>
          <p:cNvPr id="19" name="dupont-thesis">
            <a:extLst>
              <a:ext uri="{FF2B5EF4-FFF2-40B4-BE49-F238E27FC236}">
                <a16:creationId xmlns:a16="http://schemas.microsoft.com/office/drawing/2014/main" id="{85DD70E3-543B-45DA-ACD5-74C857FCAF2A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40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The identity is exact; the interpretation requires judgment.</a:t>
            </a:r>
          </a:p>
        </p:txBody>
      </p:sp>
    </p:spTree>
    <p:extLst>
      <p:ext uri="{BB962C8B-B14F-4D97-AF65-F5344CB8AC3E}">
        <p14:creationId xmlns:p14="http://schemas.microsoft.com/office/powerpoint/2010/main" val="1197064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24">
            <a:extLst>
              <a:ext uri="{FF2B5EF4-FFF2-40B4-BE49-F238E27FC236}">
                <a16:creationId xmlns:a16="http://schemas.microsoft.com/office/drawing/2014/main" id="{50A3A992-08C8-48FD-897D-4DE2C3EF6F5B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246"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average balance-sheet values with full-year income measures</a:t>
            </a:r>
          </a:p>
        </p:txBody>
      </p:sp>
      <p:sp>
        <p:nvSpPr>
          <p:cNvPr id="2" name="footer-section-24">
            <a:extLst>
              <a:ext uri="{FF2B5EF4-FFF2-40B4-BE49-F238E27FC236}">
                <a16:creationId xmlns:a16="http://schemas.microsoft.com/office/drawing/2014/main" id="{05749E83-9FDC-4602-9EA3-C87A588BFA1C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DUPONT ROE</a:t>
            </a:r>
          </a:p>
        </p:txBody>
      </p:sp>
      <p:sp>
        <p:nvSpPr>
          <p:cNvPr id="3" name="footer-number-24">
            <a:extLst>
              <a:ext uri="{FF2B5EF4-FFF2-40B4-BE49-F238E27FC236}">
                <a16:creationId xmlns:a16="http://schemas.microsoft.com/office/drawing/2014/main" id="{4192A028-CFDD-4323-8F36-3D1F2AB6CCD1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avg-assets-label">
            <a:extLst>
              <a:ext uri="{FF2B5EF4-FFF2-40B4-BE49-F238E27FC236}">
                <a16:creationId xmlns:a16="http://schemas.microsoft.com/office/drawing/2014/main" id="{490C2AA7-6C28-4F82-8FFC-2CD52039092A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AVERAGE TOTAL ASSETS</a:t>
            </a:r>
          </a:p>
        </p:txBody>
      </p:sp>
      <p:sp>
        <p:nvSpPr>
          <p:cNvPr id="5" name="avg-assets-formula">
            <a:extLst>
              <a:ext uri="{FF2B5EF4-FFF2-40B4-BE49-F238E27FC236}">
                <a16:creationId xmlns:a16="http://schemas.microsoft.com/office/drawing/2014/main" id="{EF45FEAB-E581-4D4D-B36F-F611ED111703}"/>
              </a:ext>
            </a:extLst>
          </p:cNvPr>
          <p:cNvSpPr>
            <a:spLocks noGrp="1"/>
          </p:cNvSpPr>
          <p:nvPr/>
        </p:nvSpPr>
        <p:spPr>
          <a:xfrm>
            <a:off x="495300" y="2400300"/>
            <a:ext cx="514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($125,231M + $122,370M) / 2</a:t>
            </a:r>
          </a:p>
        </p:txBody>
      </p:sp>
      <p:sp>
        <p:nvSpPr>
          <p:cNvPr id="6" name="avg-assets-value">
            <a:extLst>
              <a:ext uri="{FF2B5EF4-FFF2-40B4-BE49-F238E27FC236}">
                <a16:creationId xmlns:a16="http://schemas.microsoft.com/office/drawing/2014/main" id="{48EDDD6A-DB5C-491D-B38B-E9206BB59ADA}"/>
              </a:ext>
            </a:extLst>
          </p:cNvPr>
          <p:cNvSpPr>
            <a:spLocks noGrp="1"/>
          </p:cNvSpPr>
          <p:nvPr/>
        </p:nvSpPr>
        <p:spPr>
          <a:xfrm>
            <a:off x="495300" y="34290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405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$123,800.5M</a:t>
            </a:r>
          </a:p>
        </p:txBody>
      </p:sp>
      <p:sp>
        <p:nvSpPr>
          <p:cNvPr id="7" name="avg-assets-label">
            <a:extLst>
              <a:ext uri="{FF2B5EF4-FFF2-40B4-BE49-F238E27FC236}">
                <a16:creationId xmlns:a16="http://schemas.microsoft.com/office/drawing/2014/main" id="{F565EAA0-2075-4C57-AF5C-0E7FE466B031}"/>
              </a:ext>
            </a:extLst>
          </p:cNvPr>
          <p:cNvSpPr>
            <a:spLocks noGrp="1"/>
          </p:cNvSpPr>
          <p:nvPr/>
        </p:nvSpPr>
        <p:spPr>
          <a:xfrm>
            <a:off x="495300" y="434340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Used in turnover and multiplier</a:t>
            </a:r>
          </a:p>
        </p:txBody>
      </p:sp>
      <p:cxnSp>
        <p:nvCxnSpPr>
          <p:cNvPr id="21" name="avg-divider"/>
          <p:cNvCxnSpPr/>
          <p:nvPr/>
        </p:nvCxnSpPr>
        <p:spPr>
          <a:xfrm>
            <a:off x="6000750" y="1524000"/>
            <a:ext cx="0" cy="40005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avg-equity-label">
            <a:extLst>
              <a:ext uri="{FF2B5EF4-FFF2-40B4-BE49-F238E27FC236}">
                <a16:creationId xmlns:a16="http://schemas.microsoft.com/office/drawing/2014/main" id="{209D2A1A-764E-4E61-B7E6-D6C098AC10CA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AVERAGE SHAREHOLDERS' EQUITY</a:t>
            </a:r>
          </a:p>
        </p:txBody>
      </p:sp>
      <p:sp>
        <p:nvSpPr>
          <p:cNvPr id="10" name="avg-equity-formula">
            <a:extLst>
              <a:ext uri="{FF2B5EF4-FFF2-40B4-BE49-F238E27FC236}">
                <a16:creationId xmlns:a16="http://schemas.microsoft.com/office/drawing/2014/main" id="{7C2E33FC-74CB-4815-8255-C31F46775A78}"/>
              </a:ext>
            </a:extLst>
          </p:cNvPr>
          <p:cNvSpPr>
            <a:spLocks noGrp="1"/>
          </p:cNvSpPr>
          <p:nvPr/>
        </p:nvSpPr>
        <p:spPr>
          <a:xfrm>
            <a:off x="6572250" y="2400300"/>
            <a:ext cx="514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($52,284M + $50,559M) / 2</a:t>
            </a:r>
          </a:p>
        </p:txBody>
      </p:sp>
      <p:sp>
        <p:nvSpPr>
          <p:cNvPr id="11" name="avg-equity-value">
            <a:extLst>
              <a:ext uri="{FF2B5EF4-FFF2-40B4-BE49-F238E27FC236}">
                <a16:creationId xmlns:a16="http://schemas.microsoft.com/office/drawing/2014/main" id="{C092C26C-32C8-4D8E-8006-7FB95058932E}"/>
              </a:ext>
            </a:extLst>
          </p:cNvPr>
          <p:cNvSpPr>
            <a:spLocks noGrp="1"/>
          </p:cNvSpPr>
          <p:nvPr/>
        </p:nvSpPr>
        <p:spPr>
          <a:xfrm>
            <a:off x="6572250" y="34290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405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$51,421.5M</a:t>
            </a:r>
          </a:p>
        </p:txBody>
      </p:sp>
      <p:sp>
        <p:nvSpPr>
          <p:cNvPr id="12" name="avg-equity-label">
            <a:extLst>
              <a:ext uri="{FF2B5EF4-FFF2-40B4-BE49-F238E27FC236}">
                <a16:creationId xmlns:a16="http://schemas.microsoft.com/office/drawing/2014/main" id="{55FB2525-9B8C-4FF8-B541-945D84111168}"/>
              </a:ext>
            </a:extLst>
          </p:cNvPr>
          <p:cNvSpPr>
            <a:spLocks noGrp="1"/>
          </p:cNvSpPr>
          <p:nvPr/>
        </p:nvSpPr>
        <p:spPr>
          <a:xfrm>
            <a:off x="6572250" y="434340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Used in multiplier and direct ROE</a:t>
            </a:r>
          </a:p>
        </p:txBody>
      </p:sp>
      <p:sp>
        <p:nvSpPr>
          <p:cNvPr id="13" name="source-slide-Source: ">
            <a:extLst>
              <a:ext uri="{FF2B5EF4-FFF2-40B4-BE49-F238E27FC236}">
                <a16:creationId xmlns:a16="http://schemas.microsoft.com/office/drawing/2014/main" id="{5D05DDF4-B6F2-4BCB-BBC7-7CFF6C02DC76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Source: P&amp;G FY2025 Form 10-K, Consolidated Balance Sheets, report p. 37.</a:t>
            </a:r>
          </a:p>
        </p:txBody>
      </p:sp>
    </p:spTree>
    <p:extLst>
      <p:ext uri="{BB962C8B-B14F-4D97-AF65-F5344CB8AC3E}">
        <p14:creationId xmlns:p14="http://schemas.microsoft.com/office/powerpoint/2010/main" val="886440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25">
            <a:extLst>
              <a:ext uri="{FF2B5EF4-FFF2-40B4-BE49-F238E27FC236}">
                <a16:creationId xmlns:a16="http://schemas.microsoft.com/office/drawing/2014/main" id="{FCF6E4FA-B7A0-4A1D-B002-AC2FFEA38A64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P&amp;G's strong margin is magnified by a 2.408x equity multiplier</a:t>
            </a:r>
          </a:p>
        </p:txBody>
      </p:sp>
      <p:sp>
        <p:nvSpPr>
          <p:cNvPr id="2" name="footer-section-25">
            <a:extLst>
              <a:ext uri="{FF2B5EF4-FFF2-40B4-BE49-F238E27FC236}">
                <a16:creationId xmlns:a16="http://schemas.microsoft.com/office/drawing/2014/main" id="{C47815E4-994E-4D6C-BF0A-3D780F3A234F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DUPONT ROE</a:t>
            </a:r>
          </a:p>
        </p:txBody>
      </p:sp>
      <p:sp>
        <p:nvSpPr>
          <p:cNvPr id="3" name="footer-number-25">
            <a:extLst>
              <a:ext uri="{FF2B5EF4-FFF2-40B4-BE49-F238E27FC236}">
                <a16:creationId xmlns:a16="http://schemas.microsoft.com/office/drawing/2014/main" id="{C77B8023-77E1-4F74-B826-1870845F6BDB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image-backing-P&amp;G FY2025 DuPon">
            <a:extLst>
              <a:ext uri="{FF2B5EF4-FFF2-40B4-BE49-F238E27FC236}">
                <a16:creationId xmlns:a16="http://schemas.microsoft.com/office/drawing/2014/main" id="{A1CEB6BA-690E-4CE3-B2D6-07556DBE4C1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5375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4714" y="1381125"/>
            <a:ext cx="10143522" cy="4476750"/>
          </a:xfrm>
          <a:prstGeom prst="roundRect">
            <a:avLst>
              <a:gd name="adj" fmla="val 2553"/>
            </a:avLst>
          </a:prstGeom>
        </p:spPr>
      </p:pic>
      <p:sp>
        <p:nvSpPr>
          <p:cNvPr id="6" name="source-slide-Source: ">
            <a:extLst>
              <a:ext uri="{FF2B5EF4-FFF2-40B4-BE49-F238E27FC236}">
                <a16:creationId xmlns:a16="http://schemas.microsoft.com/office/drawing/2014/main" id="{8EA2C55E-0266-45B1-B1AB-85058CB2BFF0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25" b="0" i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Source: P&amp;G FY2025 Form 10-K, report pp. 36-37; simplified consolidated FINC 310 DuPont model.</a:t>
            </a:r>
          </a:p>
        </p:txBody>
      </p:sp>
    </p:spTree>
    <p:extLst>
      <p:ext uri="{BB962C8B-B14F-4D97-AF65-F5344CB8AC3E}">
        <p14:creationId xmlns:p14="http://schemas.microsoft.com/office/powerpoint/2010/main" val="820824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26">
            <a:extLst>
              <a:ext uri="{FF2B5EF4-FFF2-40B4-BE49-F238E27FC236}">
                <a16:creationId xmlns:a16="http://schemas.microsoft.com/office/drawing/2014/main" id="{33F66468-95F1-4654-B65E-5B723288591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APPLY AND DEFEND</a:t>
            </a:r>
          </a:p>
        </p:txBody>
      </p:sp>
      <p:sp>
        <p:nvSpPr>
          <p:cNvPr id="2" name="title-26">
            <a:extLst>
              <a:ext uri="{FF2B5EF4-FFF2-40B4-BE49-F238E27FC236}">
                <a16:creationId xmlns:a16="http://schemas.microsoft.com/office/drawing/2014/main" id="{9F285CF2-29E3-481E-896D-664E65538038}"/>
              </a:ext>
            </a:extLst>
          </p:cNvPr>
          <p:cNvSpPr>
            <a:spLocks noGrp="1"/>
          </p:cNvSpPr>
          <p:nvPr/>
        </p:nvSpPr>
        <p:spPr>
          <a:xfrm>
            <a:off x="495300" y="533400"/>
            <a:ext cx="1120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 the strength, the constraint, and the risk</a:t>
            </a:r>
          </a:p>
        </p:txBody>
      </p:sp>
      <p:sp>
        <p:nvSpPr>
          <p:cNvPr id="3" name="footer-section-26">
            <a:extLst>
              <a:ext uri="{FF2B5EF4-FFF2-40B4-BE49-F238E27FC236}">
                <a16:creationId xmlns:a16="http://schemas.microsoft.com/office/drawing/2014/main" id="{3B214384-371F-4AA8-8464-0BEBECD0CD29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TEAM AUDIT</a:t>
            </a:r>
          </a:p>
        </p:txBody>
      </p:sp>
      <p:sp>
        <p:nvSpPr>
          <p:cNvPr id="4" name="footer-number-26">
            <a:extLst>
              <a:ext uri="{FF2B5EF4-FFF2-40B4-BE49-F238E27FC236}">
                <a16:creationId xmlns:a16="http://schemas.microsoft.com/office/drawing/2014/main" id="{2E1AC7B1-46AF-4654-8D7C-FCA1EFFE06CC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activity-prompt-panel-26">
            <a:extLst>
              <a:ext uri="{FF2B5EF4-FFF2-40B4-BE49-F238E27FC236}">
                <a16:creationId xmlns:a16="http://schemas.microsoft.com/office/drawing/2014/main" id="{F9647F93-49B8-4561-93B3-79D4F952FE0B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239000" cy="4000500"/>
          </a:xfrm>
          <a:prstGeom prst="rect">
            <a:avLst/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ctivity-prompt-26">
            <a:extLst>
              <a:ext uri="{FF2B5EF4-FFF2-40B4-BE49-F238E27FC236}">
                <a16:creationId xmlns:a16="http://schemas.microsoft.com/office/drawing/2014/main" id="{CAE89E42-97D6-4C22-86E0-E3DCA517586E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66294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P&amp;G has a 19.06% profit margin, 0.681x asset turnover, and 2.408x equity multiplier. Which factor supports ROE, which constrains it, and what risk is visible?</a:t>
            </a:r>
          </a:p>
        </p:txBody>
      </p:sp>
      <p:sp>
        <p:nvSpPr>
          <p:cNvPr id="7" name="activity-label-26">
            <a:extLst>
              <a:ext uri="{FF2B5EF4-FFF2-40B4-BE49-F238E27FC236}">
                <a16:creationId xmlns:a16="http://schemas.microsoft.com/office/drawing/2014/main" id="{D3312C51-9BFA-481A-948E-A8C2A0BC09D8}"/>
              </a:ext>
            </a:extLst>
          </p:cNvPr>
          <p:cNvSpPr>
            <a:spLocks noGrp="1"/>
          </p:cNvSpPr>
          <p:nvPr/>
        </p:nvSpPr>
        <p:spPr>
          <a:xfrm>
            <a:off x="8267700" y="1657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YOUR TEAM</a:t>
            </a:r>
          </a:p>
        </p:txBody>
      </p:sp>
      <p:sp>
        <p:nvSpPr>
          <p:cNvPr id="8" name="activity-steps-26">
            <a:extLst>
              <a:ext uri="{FF2B5EF4-FFF2-40B4-BE49-F238E27FC236}">
                <a16:creationId xmlns:a16="http://schemas.microsoft.com/office/drawing/2014/main" id="{9E538774-BADE-47CE-8E60-0CABE03885B7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3143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Interpret each factor in words.</a:t>
            </a:r>
          </a:p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Verify the 31.24% identity.</a:t>
            </a:r>
          </a:p>
          <a:p>
            <a:pPr marL="24" indent="-12" algn="l">
              <a:spcAft>
                <a:spcPts val="15"/>
              </a:spcAft>
              <a:buChar char="•"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Connect leverage to downside risk.</a:t>
            </a:r>
          </a:p>
        </p:txBody>
      </p:sp>
    </p:spTree>
    <p:extLst>
      <p:ext uri="{BB962C8B-B14F-4D97-AF65-F5344CB8AC3E}">
        <p14:creationId xmlns:p14="http://schemas.microsoft.com/office/powerpoint/2010/main" val="599109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-number-27">
            <a:extLst>
              <a:ext uri="{FF2B5EF4-FFF2-40B4-BE49-F238E27FC236}">
                <a16:creationId xmlns:a16="http://schemas.microsoft.com/office/drawing/2014/main" id="{24F43176-3753-47C7-9EB4-AB7FDF379BD7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71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4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section-title-27">
            <a:extLst>
              <a:ext uri="{FF2B5EF4-FFF2-40B4-BE49-F238E27FC236}">
                <a16:creationId xmlns:a16="http://schemas.microsoft.com/office/drawing/2014/main" id="{823B85E8-46AE-4C4D-85E4-2AA8032DB413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9906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 fontScale="93695"/>
          </a:bodyPr>
          <a:lstStyle/>
          <a:p>
            <a:pPr algn="l">
              <a:lnSpc>
                <a:spcPct val="108000"/>
              </a:lnSpc>
              <a:buNone/>
              <a:defRPr sz="5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is the junior analyst. Your team is the reviewer.</a:t>
            </a:r>
          </a:p>
        </p:txBody>
      </p:sp>
      <p:sp>
        <p:nvSpPr>
          <p:cNvPr id="3" name="section-subtitle-27">
            <a:extLst>
              <a:ext uri="{FF2B5EF4-FFF2-40B4-BE49-F238E27FC236}">
                <a16:creationId xmlns:a16="http://schemas.microsoft.com/office/drawing/2014/main" id="{A3989CF8-1720-4F3C-A471-679B7D2F0DA3}"/>
              </a:ext>
            </a:extLst>
          </p:cNvPr>
          <p:cNvSpPr>
            <a:spLocks noGrp="1"/>
          </p:cNvSpPr>
          <p:nvPr/>
        </p:nvSpPr>
        <p:spPr>
          <a:xfrm>
            <a:off x="495300" y="4457700"/>
            <a:ext cx="723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financial model controls the code - not the other way around.</a:t>
            </a:r>
          </a:p>
        </p:txBody>
      </p:sp>
      <p:sp>
        <p:nvSpPr>
          <p:cNvPr id="4" name="footer-section-27">
            <a:extLst>
              <a:ext uri="{FF2B5EF4-FFF2-40B4-BE49-F238E27FC236}">
                <a16:creationId xmlns:a16="http://schemas.microsoft.com/office/drawing/2014/main" id="{F414408C-41B1-4A74-ADD0-DA19E6E00E92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FINC 310 | P&amp;G FINANCIAL STORY</a:t>
            </a:r>
          </a:p>
        </p:txBody>
      </p:sp>
      <p:sp>
        <p:nvSpPr>
          <p:cNvPr id="5" name="footer-number-27">
            <a:extLst>
              <a:ext uri="{FF2B5EF4-FFF2-40B4-BE49-F238E27FC236}">
                <a16:creationId xmlns:a16="http://schemas.microsoft.com/office/drawing/2014/main" id="{2BCD89CA-2472-4580-AC43-669A3ACE8007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69306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8">
            <a:extLst>
              <a:ext uri="{FF2B5EF4-FFF2-40B4-BE49-F238E27FC236}">
                <a16:creationId xmlns:a16="http://schemas.microsoft.com/office/drawing/2014/main" id="{1A23950B-8734-4182-87FD-D54A5A86D695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strong prompt creates controls before it creates code</a:t>
            </a:r>
          </a:p>
        </p:txBody>
      </p:sp>
      <p:sp>
        <p:nvSpPr>
          <p:cNvPr id="2" name="footer-section-28">
            <a:extLst>
              <a:ext uri="{FF2B5EF4-FFF2-40B4-BE49-F238E27FC236}">
                <a16:creationId xmlns:a16="http://schemas.microsoft.com/office/drawing/2014/main" id="{F963C8CF-8457-4F2E-A0C8-59CF7BDFD4CA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AI PROMPT</a:t>
            </a:r>
          </a:p>
        </p:txBody>
      </p:sp>
      <p:sp>
        <p:nvSpPr>
          <p:cNvPr id="3" name="footer-number-28">
            <a:extLst>
              <a:ext uri="{FF2B5EF4-FFF2-40B4-BE49-F238E27FC236}">
                <a16:creationId xmlns:a16="http://schemas.microsoft.com/office/drawing/2014/main" id="{F9AFAD9F-5177-47F7-BE65-C739A9955D45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prompt-control-0">
            <a:extLst>
              <a:ext uri="{FF2B5EF4-FFF2-40B4-BE49-F238E27FC236}">
                <a16:creationId xmlns:a16="http://schemas.microsoft.com/office/drawing/2014/main" id="{B60A920E-E25B-444D-8F5B-00A9F72350F6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rompt-label-0">
            <a:extLst>
              <a:ext uri="{FF2B5EF4-FFF2-40B4-BE49-F238E27FC236}">
                <a16:creationId xmlns:a16="http://schemas.microsoft.com/office/drawing/2014/main" id="{C7674918-76D3-41EA-A081-2DEE55E8392D}"/>
              </a:ext>
            </a:extLst>
          </p:cNvPr>
          <p:cNvSpPr>
            <a:spLocks noGrp="1"/>
          </p:cNvSpPr>
          <p:nvPr/>
        </p:nvSpPr>
        <p:spPr>
          <a:xfrm>
            <a:off x="1238250" y="142875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LOCK</a:t>
            </a:r>
          </a:p>
        </p:txBody>
      </p:sp>
      <p:sp>
        <p:nvSpPr>
          <p:cNvPr id="6" name="prompt-body-0">
            <a:extLst>
              <a:ext uri="{FF2B5EF4-FFF2-40B4-BE49-F238E27FC236}">
                <a16:creationId xmlns:a16="http://schemas.microsoft.com/office/drawing/2014/main" id="{4A593D8B-E15F-4C33-B977-DEA8BC5EE90C}"/>
              </a:ext>
            </a:extLst>
          </p:cNvPr>
          <p:cNvSpPr>
            <a:spLocks noGrp="1"/>
          </p:cNvSpPr>
          <p:nvPr/>
        </p:nvSpPr>
        <p:spPr>
          <a:xfrm>
            <a:off x="3714750" y="14287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Use the supplied workbook; do not invent replacements.</a:t>
            </a:r>
          </a:p>
        </p:txBody>
      </p:sp>
      <p:cxnSp>
        <p:nvCxnSpPr>
          <p:cNvPr id="29" name="prompt-rule-0"/>
          <p:cNvCxnSpPr/>
          <p:nvPr/>
        </p:nvCxnSpPr>
        <p:spPr>
          <a:xfrm>
            <a:off x="495300" y="2095500"/>
            <a:ext cx="10668000" cy="0"/>
          </a:xfrm>
          <a:prstGeom prst="straightConnector1">
            <a:avLst/>
          </a:prstGeom>
          <a:ln w="9525">
            <a:solidFill>
              <a:srgbClr val="EDEDED"/>
            </a:solidFill>
            <a:prstDash val="solid"/>
          </a:ln>
        </p:spPr>
      </p:cxnSp>
      <p:sp>
        <p:nvSpPr>
          <p:cNvPr id="8" name="prompt-control-1">
            <a:extLst>
              <a:ext uri="{FF2B5EF4-FFF2-40B4-BE49-F238E27FC236}">
                <a16:creationId xmlns:a16="http://schemas.microsoft.com/office/drawing/2014/main" id="{7B36DCB3-BFB0-4CF6-A688-1BB29CDF2636}"/>
              </a:ext>
            </a:extLst>
          </p:cNvPr>
          <p:cNvSpPr>
            <a:spLocks noGrp="1"/>
          </p:cNvSpPr>
          <p:nvPr/>
        </p:nvSpPr>
        <p:spPr>
          <a:xfrm>
            <a:off x="495300" y="236220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rompt-label-1">
            <a:extLst>
              <a:ext uri="{FF2B5EF4-FFF2-40B4-BE49-F238E27FC236}">
                <a16:creationId xmlns:a16="http://schemas.microsoft.com/office/drawing/2014/main" id="{4409D6BE-626B-4691-B376-79CA3A817677}"/>
              </a:ext>
            </a:extLst>
          </p:cNvPr>
          <p:cNvSpPr>
            <a:spLocks noGrp="1"/>
          </p:cNvSpPr>
          <p:nvPr/>
        </p:nvSpPr>
        <p:spPr>
          <a:xfrm>
            <a:off x="1238250" y="23622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DEFINITION LOCK</a:t>
            </a:r>
          </a:p>
        </p:txBody>
      </p:sp>
      <p:sp>
        <p:nvSpPr>
          <p:cNvPr id="10" name="prompt-body-1">
            <a:extLst>
              <a:ext uri="{FF2B5EF4-FFF2-40B4-BE49-F238E27FC236}">
                <a16:creationId xmlns:a16="http://schemas.microsoft.com/office/drawing/2014/main" id="{77793F4A-FFC3-452A-9664-F2ED3898D077}"/>
              </a:ext>
            </a:extLst>
          </p:cNvPr>
          <p:cNvSpPr>
            <a:spLocks noGrp="1"/>
          </p:cNvSpPr>
          <p:nvPr/>
        </p:nvSpPr>
        <p:spPr>
          <a:xfrm>
            <a:off x="3714750" y="23622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Name textbook, cash, and adjusted FCF separately.</a:t>
            </a:r>
          </a:p>
        </p:txBody>
      </p:sp>
      <p:cxnSp>
        <p:nvCxnSpPr>
          <p:cNvPr id="33" name="prompt-rule-1"/>
          <p:cNvCxnSpPr/>
          <p:nvPr/>
        </p:nvCxnSpPr>
        <p:spPr>
          <a:xfrm>
            <a:off x="495300" y="3028950"/>
            <a:ext cx="10668000" cy="0"/>
          </a:xfrm>
          <a:prstGeom prst="straightConnector1">
            <a:avLst/>
          </a:prstGeom>
          <a:ln w="9525">
            <a:solidFill>
              <a:srgbClr val="EDEDED"/>
            </a:solidFill>
            <a:prstDash val="solid"/>
          </a:ln>
        </p:spPr>
      </p:cxnSp>
      <p:sp>
        <p:nvSpPr>
          <p:cNvPr id="12" name="prompt-control-2">
            <a:extLst>
              <a:ext uri="{FF2B5EF4-FFF2-40B4-BE49-F238E27FC236}">
                <a16:creationId xmlns:a16="http://schemas.microsoft.com/office/drawing/2014/main" id="{E87F0F57-C9DC-4F28-83CC-B7F849A679CA}"/>
              </a:ext>
            </a:extLst>
          </p:cNvPr>
          <p:cNvSpPr>
            <a:spLocks noGrp="1"/>
          </p:cNvSpPr>
          <p:nvPr/>
        </p:nvSpPr>
        <p:spPr>
          <a:xfrm>
            <a:off x="495300" y="329565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rompt-label-2">
            <a:extLst>
              <a:ext uri="{FF2B5EF4-FFF2-40B4-BE49-F238E27FC236}">
                <a16:creationId xmlns:a16="http://schemas.microsoft.com/office/drawing/2014/main" id="{DC54892B-D2A8-42D0-B7E9-B821A83E2EED}"/>
              </a:ext>
            </a:extLst>
          </p:cNvPr>
          <p:cNvSpPr>
            <a:spLocks noGrp="1"/>
          </p:cNvSpPr>
          <p:nvPr/>
        </p:nvSpPr>
        <p:spPr>
          <a:xfrm>
            <a:off x="1238250" y="329565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CONTRACT</a:t>
            </a:r>
          </a:p>
        </p:txBody>
      </p:sp>
      <p:sp>
        <p:nvSpPr>
          <p:cNvPr id="14" name="prompt-body-2">
            <a:extLst>
              <a:ext uri="{FF2B5EF4-FFF2-40B4-BE49-F238E27FC236}">
                <a16:creationId xmlns:a16="http://schemas.microsoft.com/office/drawing/2014/main" id="{2FA6D313-08DF-47AE-8A65-7D1A1E1A7FB9}"/>
              </a:ext>
            </a:extLst>
          </p:cNvPr>
          <p:cNvSpPr>
            <a:spLocks noGrp="1"/>
          </p:cNvSpPr>
          <p:nvPr/>
        </p:nvSpPr>
        <p:spPr>
          <a:xfrm>
            <a:off x="3714750" y="32956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Four PNGs, dashboard, CSV, executable program.</a:t>
            </a:r>
          </a:p>
        </p:txBody>
      </p:sp>
      <p:cxnSp>
        <p:nvCxnSpPr>
          <p:cNvPr id="37" name="prompt-rule-2"/>
          <p:cNvCxnSpPr/>
          <p:nvPr/>
        </p:nvCxnSpPr>
        <p:spPr>
          <a:xfrm>
            <a:off x="495300" y="3962400"/>
            <a:ext cx="10668000" cy="0"/>
          </a:xfrm>
          <a:prstGeom prst="straightConnector1">
            <a:avLst/>
          </a:prstGeom>
          <a:ln w="9525">
            <a:solidFill>
              <a:srgbClr val="EDEDED"/>
            </a:solidFill>
            <a:prstDash val="solid"/>
          </a:ln>
        </p:spPr>
      </p:cxnSp>
      <p:sp>
        <p:nvSpPr>
          <p:cNvPr id="16" name="prompt-control-3">
            <a:extLst>
              <a:ext uri="{FF2B5EF4-FFF2-40B4-BE49-F238E27FC236}">
                <a16:creationId xmlns:a16="http://schemas.microsoft.com/office/drawing/2014/main" id="{BAE40602-4232-426B-B3D0-E9C02A162654}"/>
              </a:ext>
            </a:extLst>
          </p:cNvPr>
          <p:cNvSpPr>
            <a:spLocks noGrp="1"/>
          </p:cNvSpPr>
          <p:nvPr/>
        </p:nvSpPr>
        <p:spPr>
          <a:xfrm>
            <a:off x="495300" y="422910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prompt-label-3">
            <a:extLst>
              <a:ext uri="{FF2B5EF4-FFF2-40B4-BE49-F238E27FC236}">
                <a16:creationId xmlns:a16="http://schemas.microsoft.com/office/drawing/2014/main" id="{E0D3B8F2-EC3B-44BB-A435-2C9E884FA774}"/>
              </a:ext>
            </a:extLst>
          </p:cNvPr>
          <p:cNvSpPr>
            <a:spLocks noGrp="1"/>
          </p:cNvSpPr>
          <p:nvPr/>
        </p:nvSpPr>
        <p:spPr>
          <a:xfrm>
            <a:off x="1238250" y="42291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CONTRACT</a:t>
            </a:r>
          </a:p>
        </p:txBody>
      </p:sp>
      <p:sp>
        <p:nvSpPr>
          <p:cNvPr id="18" name="prompt-body-3">
            <a:extLst>
              <a:ext uri="{FF2B5EF4-FFF2-40B4-BE49-F238E27FC236}">
                <a16:creationId xmlns:a16="http://schemas.microsoft.com/office/drawing/2014/main" id="{C4EEFEFF-F59E-45EB-80E7-E8EE500C5F20}"/>
              </a:ext>
            </a:extLst>
          </p:cNvPr>
          <p:cNvSpPr>
            <a:spLocks noGrp="1"/>
          </p:cNvSpPr>
          <p:nvPr/>
        </p:nvSpPr>
        <p:spPr>
          <a:xfrm>
            <a:off x="3714750" y="42291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Validate required inputs and stop on failed identities.</a:t>
            </a:r>
          </a:p>
        </p:txBody>
      </p:sp>
      <p:cxnSp>
        <p:nvCxnSpPr>
          <p:cNvPr id="41" name="prompt-rule-3"/>
          <p:cNvCxnSpPr/>
          <p:nvPr/>
        </p:nvCxnSpPr>
        <p:spPr>
          <a:xfrm>
            <a:off x="495300" y="4895850"/>
            <a:ext cx="10668000" cy="0"/>
          </a:xfrm>
          <a:prstGeom prst="straightConnector1">
            <a:avLst/>
          </a:prstGeom>
          <a:ln w="9525">
            <a:solidFill>
              <a:srgbClr val="EDEDED"/>
            </a:solidFill>
            <a:prstDash val="solid"/>
          </a:ln>
        </p:spPr>
      </p:cxnSp>
      <p:sp>
        <p:nvSpPr>
          <p:cNvPr id="20" name="prompt-control-4">
            <a:extLst>
              <a:ext uri="{FF2B5EF4-FFF2-40B4-BE49-F238E27FC236}">
                <a16:creationId xmlns:a16="http://schemas.microsoft.com/office/drawing/2014/main" id="{D8470BA0-C62D-4865-919C-E074B2547353}"/>
              </a:ext>
            </a:extLst>
          </p:cNvPr>
          <p:cNvSpPr>
            <a:spLocks noGrp="1"/>
          </p:cNvSpPr>
          <p:nvPr/>
        </p:nvSpPr>
        <p:spPr>
          <a:xfrm>
            <a:off x="495300" y="516255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prompt-label-4">
            <a:extLst>
              <a:ext uri="{FF2B5EF4-FFF2-40B4-BE49-F238E27FC236}">
                <a16:creationId xmlns:a16="http://schemas.microsoft.com/office/drawing/2014/main" id="{25A75421-CC4D-4F93-90FE-6B3D571B9C9A}"/>
              </a:ext>
            </a:extLst>
          </p:cNvPr>
          <p:cNvSpPr>
            <a:spLocks noGrp="1"/>
          </p:cNvSpPr>
          <p:nvPr/>
        </p:nvSpPr>
        <p:spPr>
          <a:xfrm>
            <a:off x="1238250" y="516255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22" name="prompt-body-4">
            <a:extLst>
              <a:ext uri="{FF2B5EF4-FFF2-40B4-BE49-F238E27FC236}">
                <a16:creationId xmlns:a16="http://schemas.microsoft.com/office/drawing/2014/main" id="{F53F0864-E98C-4957-A104-537C879BBD8A}"/>
              </a:ext>
            </a:extLst>
          </p:cNvPr>
          <p:cNvSpPr>
            <a:spLocks noGrp="1"/>
          </p:cNvSpPr>
          <p:nvPr/>
        </p:nvSpPr>
        <p:spPr>
          <a:xfrm>
            <a:off x="3714750" y="51625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REM, function comments, sign conventions, prompt history.</a:t>
            </a:r>
          </a:p>
        </p:txBody>
      </p:sp>
    </p:spTree>
    <p:extLst>
      <p:ext uri="{BB962C8B-B14F-4D97-AF65-F5344CB8AC3E}">
        <p14:creationId xmlns:p14="http://schemas.microsoft.com/office/powerpoint/2010/main" val="1024992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29">
            <a:extLst>
              <a:ext uri="{FF2B5EF4-FFF2-40B4-BE49-F238E27FC236}">
                <a16:creationId xmlns:a16="http://schemas.microsoft.com/office/drawing/2014/main" id="{945EC180-FD36-4856-BDBE-FE642CA31F5B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prompt specifies inputs, outputs, and stop conditions</a:t>
            </a:r>
          </a:p>
        </p:txBody>
      </p:sp>
      <p:sp>
        <p:nvSpPr>
          <p:cNvPr id="2" name="footer-section-29">
            <a:extLst>
              <a:ext uri="{FF2B5EF4-FFF2-40B4-BE49-F238E27FC236}">
                <a16:creationId xmlns:a16="http://schemas.microsoft.com/office/drawing/2014/main" id="{2D0152CC-5BA1-43D5-BF56-C38628A63BB5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AI PROMPT</a:t>
            </a:r>
          </a:p>
        </p:txBody>
      </p:sp>
      <p:sp>
        <p:nvSpPr>
          <p:cNvPr id="3" name="footer-number-29">
            <a:extLst>
              <a:ext uri="{FF2B5EF4-FFF2-40B4-BE49-F238E27FC236}">
                <a16:creationId xmlns:a16="http://schemas.microsoft.com/office/drawing/2014/main" id="{8E5D6B95-B69B-4D60-8914-C05B4DE01DA8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prompt-excerpt-panel">
            <a:extLst>
              <a:ext uri="{FF2B5EF4-FFF2-40B4-BE49-F238E27FC236}">
                <a16:creationId xmlns:a16="http://schemas.microsoft.com/office/drawing/2014/main" id="{9D342C75-56D6-4C07-9E74-1F057CA3D5AA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429500" cy="4572000"/>
          </a:xfrm>
          <a:prstGeom prst="rect">
            <a:avLst/>
          </a:prstGeom>
          <a:solidFill>
            <a:srgbClr val="F5F6F8"/>
          </a:solidFill>
          <a:ln w="9525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rompt-excerpt">
            <a:extLst>
              <a:ext uri="{FF2B5EF4-FFF2-40B4-BE49-F238E27FC236}">
                <a16:creationId xmlns:a16="http://schemas.microsoft.com/office/drawing/2014/main" id="{8BC9BF07-EECA-49CB-9A61-C95E0498691E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6953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Use PG_FinancialStory_Student.xlsx. Do not search for or invent replacement data.</a:t>
            </a:r>
          </a:p>
          <a:p>
            <a:endParaRPr sz="1725" b="0" i="0">
              <a:solidFill>
                <a:srgbClr val="0B2545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Write one executable Python program that:</a:t>
            </a:r>
          </a:p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• reads 01_Input using Metric_ID;</a:t>
            </a:r>
          </a:p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• creates the four required visuals;</a:t>
            </a:r>
          </a:p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• writes a CSV of sanity checks;</a:t>
            </a:r>
          </a:p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• stops if a required identity fails;</a:t>
            </a:r>
          </a:p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• saves four PNGs and one dashboard;</a:t>
            </a:r>
          </a:p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72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• uses relative paths or arguments.</a:t>
            </a:r>
          </a:p>
        </p:txBody>
      </p:sp>
      <p:sp>
        <p:nvSpPr>
          <p:cNvPr id="6" name="prompt-followup-label">
            <a:extLst>
              <a:ext uri="{FF2B5EF4-FFF2-40B4-BE49-F238E27FC236}">
                <a16:creationId xmlns:a16="http://schemas.microsoft.com/office/drawing/2014/main" id="{F6861E6C-AD2F-4E25-8FA6-D164F1E80D04}"/>
              </a:ext>
            </a:extLst>
          </p:cNvPr>
          <p:cNvSpPr>
            <a:spLocks noGrp="1"/>
          </p:cNvSpPr>
          <p:nvPr/>
        </p:nvSpPr>
        <p:spPr>
          <a:xfrm>
            <a:off x="8305800" y="15811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FOLLOW-UP AUDITS</a:t>
            </a:r>
          </a:p>
        </p:txBody>
      </p:sp>
      <p:sp>
        <p:nvSpPr>
          <p:cNvPr id="7" name="prompt-followups">
            <a:extLst>
              <a:ext uri="{FF2B5EF4-FFF2-40B4-BE49-F238E27FC236}">
                <a16:creationId xmlns:a16="http://schemas.microsoft.com/office/drawing/2014/main" id="{9661165A-0F90-4E3D-83D6-07877FB01F1B}"/>
              </a:ext>
            </a:extLst>
          </p:cNvPr>
          <p:cNvSpPr>
            <a:spLocks noGrp="1"/>
          </p:cNvSpPr>
          <p:nvPr/>
        </p:nvSpPr>
        <p:spPr>
          <a:xfrm>
            <a:off x="8305800" y="2076450"/>
            <a:ext cx="304800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1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List hard-coded numbers.</a:t>
            </a:r>
          </a:p>
          <a:p>
            <a:pPr marL="24" indent="-12" algn="l">
              <a:spcAft>
                <a:spcPts val="11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Map every identity to a test.</a:t>
            </a:r>
          </a:p>
          <a:p>
            <a:pPr marL="24" indent="-12" algn="l">
              <a:spcAft>
                <a:spcPts val="11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Explain negative signs.</a:t>
            </a:r>
          </a:p>
          <a:p>
            <a:pPr marL="24" indent="-12" algn="l">
              <a:spcAft>
                <a:spcPts val="11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Find misleading chart risks.</a:t>
            </a:r>
          </a:p>
          <a:p>
            <a:pPr marL="24" indent="-12" algn="l">
              <a:spcAft>
                <a:spcPts val="11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Replace fixed row numbers.</a:t>
            </a:r>
          </a:p>
          <a:p>
            <a:pPr marL="24" indent="-12" algn="l">
              <a:spcAft>
                <a:spcPts val="11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Recommend a human revision.</a:t>
            </a:r>
          </a:p>
        </p:txBody>
      </p:sp>
    </p:spTree>
    <p:extLst>
      <p:ext uri="{BB962C8B-B14F-4D97-AF65-F5344CB8AC3E}">
        <p14:creationId xmlns:p14="http://schemas.microsoft.com/office/powerpoint/2010/main" val="14450505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30">
            <a:extLst>
              <a:ext uri="{FF2B5EF4-FFF2-40B4-BE49-F238E27FC236}">
                <a16:creationId xmlns:a16="http://schemas.microsoft.com/office/drawing/2014/main" id="{D2C07356-1479-4649-9ACC-55D87C7EE07C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 comments make the program auditable</a:t>
            </a:r>
          </a:p>
        </p:txBody>
      </p:sp>
      <p:sp>
        <p:nvSpPr>
          <p:cNvPr id="2" name="footer-section-30">
            <a:extLst>
              <a:ext uri="{FF2B5EF4-FFF2-40B4-BE49-F238E27FC236}">
                <a16:creationId xmlns:a16="http://schemas.microsoft.com/office/drawing/2014/main" id="{160599EA-FF34-4CFF-87C0-A91B0BDAD67E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REM DOCUMENTATION</a:t>
            </a:r>
          </a:p>
        </p:txBody>
      </p:sp>
      <p:sp>
        <p:nvSpPr>
          <p:cNvPr id="3" name="footer-number-30">
            <a:extLst>
              <a:ext uri="{FF2B5EF4-FFF2-40B4-BE49-F238E27FC236}">
                <a16:creationId xmlns:a16="http://schemas.microsoft.com/office/drawing/2014/main" id="{6AA48234-3C1C-4493-B8B6-6FDA1D709351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rem-label-0">
            <a:extLst>
              <a:ext uri="{FF2B5EF4-FFF2-40B4-BE49-F238E27FC236}">
                <a16:creationId xmlns:a16="http://schemas.microsoft.com/office/drawing/2014/main" id="{0DEEDC2E-CF1B-407C-BC65-13D53C9C6E76}"/>
              </a:ext>
            </a:extLst>
          </p:cNvPr>
          <p:cNvSpPr>
            <a:spLocks noGrp="1"/>
          </p:cNvSpPr>
          <p:nvPr/>
        </p:nvSpPr>
        <p:spPr>
          <a:xfrm>
            <a:off x="495300" y="1666875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REASONING SUMMARY</a:t>
            </a:r>
          </a:p>
        </p:txBody>
      </p:sp>
      <p:sp>
        <p:nvSpPr>
          <p:cNvPr id="5" name="rem-body-0">
            <a:extLst>
              <a:ext uri="{FF2B5EF4-FFF2-40B4-BE49-F238E27FC236}">
                <a16:creationId xmlns:a16="http://schemas.microsoft.com/office/drawing/2014/main" id="{66D25154-CDDA-4AEB-B01C-511D2B38D99C}"/>
              </a:ext>
            </a:extLst>
          </p:cNvPr>
          <p:cNvSpPr>
            <a:spLocks noGrp="1"/>
          </p:cNvSpPr>
          <p:nvPr/>
        </p:nvSpPr>
        <p:spPr>
          <a:xfrm>
            <a:off x="495300" y="2219325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the program does and how the four visuals fit together.</a:t>
            </a:r>
          </a:p>
        </p:txBody>
      </p:sp>
      <p:sp>
        <p:nvSpPr>
          <p:cNvPr id="6" name="rem-label-1">
            <a:extLst>
              <a:ext uri="{FF2B5EF4-FFF2-40B4-BE49-F238E27FC236}">
                <a16:creationId xmlns:a16="http://schemas.microsoft.com/office/drawing/2014/main" id="{0A6DB71E-759C-403B-B414-7CB897805014}"/>
              </a:ext>
            </a:extLst>
          </p:cNvPr>
          <p:cNvSpPr>
            <a:spLocks noGrp="1"/>
          </p:cNvSpPr>
          <p:nvPr/>
        </p:nvSpPr>
        <p:spPr>
          <a:xfrm>
            <a:off x="6248400" y="1666875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EQUATIONS</a:t>
            </a:r>
          </a:p>
        </p:txBody>
      </p:sp>
      <p:sp>
        <p:nvSpPr>
          <p:cNvPr id="7" name="rem-body-1">
            <a:extLst>
              <a:ext uri="{FF2B5EF4-FFF2-40B4-BE49-F238E27FC236}">
                <a16:creationId xmlns:a16="http://schemas.microsoft.com/office/drawing/2014/main" id="{ABD3E946-3641-41C0-8E85-EA3E49C38FE0}"/>
              </a:ext>
            </a:extLst>
          </p:cNvPr>
          <p:cNvSpPr>
            <a:spLocks noGrp="1"/>
          </p:cNvSpPr>
          <p:nvPr/>
        </p:nvSpPr>
        <p:spPr>
          <a:xfrm>
            <a:off x="6248400" y="2219325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Formulas, denominators, signs, averages, and time intervals.</a:t>
            </a:r>
          </a:p>
        </p:txBody>
      </p:sp>
      <p:sp>
        <p:nvSpPr>
          <p:cNvPr id="8" name="rem-label-2">
            <a:extLst>
              <a:ext uri="{FF2B5EF4-FFF2-40B4-BE49-F238E27FC236}">
                <a16:creationId xmlns:a16="http://schemas.microsoft.com/office/drawing/2014/main" id="{757B2556-F1E1-439F-9AEF-5E24F5FC0EE5}"/>
              </a:ext>
            </a:extLst>
          </p:cNvPr>
          <p:cNvSpPr>
            <a:spLocks noGrp="1"/>
          </p:cNvSpPr>
          <p:nvPr/>
        </p:nvSpPr>
        <p:spPr>
          <a:xfrm>
            <a:off x="495300" y="390525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9" name="rem-body-2">
            <a:extLst>
              <a:ext uri="{FF2B5EF4-FFF2-40B4-BE49-F238E27FC236}">
                <a16:creationId xmlns:a16="http://schemas.microsoft.com/office/drawing/2014/main" id="{A286AEBE-BBA7-4599-87EA-F5D45C5857C5}"/>
              </a:ext>
            </a:extLst>
          </p:cNvPr>
          <p:cNvSpPr>
            <a:spLocks noGrp="1"/>
          </p:cNvSpPr>
          <p:nvPr/>
        </p:nvSpPr>
        <p:spPr>
          <a:xfrm>
            <a:off x="495300" y="4457700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Input, validation, calculations, plotting, export, and failure behavior.</a:t>
            </a:r>
          </a:p>
        </p:txBody>
      </p:sp>
      <p:sp>
        <p:nvSpPr>
          <p:cNvPr id="10" name="rem-label-3">
            <a:extLst>
              <a:ext uri="{FF2B5EF4-FFF2-40B4-BE49-F238E27FC236}">
                <a16:creationId xmlns:a16="http://schemas.microsoft.com/office/drawing/2014/main" id="{C4DE0BDA-E767-453F-A75D-B25E3FFBAB9F}"/>
              </a:ext>
            </a:extLst>
          </p:cNvPr>
          <p:cNvSpPr>
            <a:spLocks noGrp="1"/>
          </p:cNvSpPr>
          <p:nvPr/>
        </p:nvSpPr>
        <p:spPr>
          <a:xfrm>
            <a:off x="6248400" y="3905250"/>
            <a:ext cx="514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1" name="rem-body-3">
            <a:extLst>
              <a:ext uri="{FF2B5EF4-FFF2-40B4-BE49-F238E27FC236}">
                <a16:creationId xmlns:a16="http://schemas.microsoft.com/office/drawing/2014/main" id="{8282016C-8FA0-4736-853F-E3BBEC19F613}"/>
              </a:ext>
            </a:extLst>
          </p:cNvPr>
          <p:cNvSpPr>
            <a:spLocks noGrp="1"/>
          </p:cNvSpPr>
          <p:nvPr/>
        </p:nvSpPr>
        <p:spPr>
          <a:xfrm>
            <a:off x="6248400" y="4457700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Simplified NOWC, non-GAAP FCF, source scope, rounding, and visual risk.</a:t>
            </a:r>
          </a:p>
        </p:txBody>
      </p:sp>
    </p:spTree>
    <p:extLst>
      <p:ext uri="{BB962C8B-B14F-4D97-AF65-F5344CB8AC3E}">
        <p14:creationId xmlns:p14="http://schemas.microsoft.com/office/powerpoint/2010/main" val="1651826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-31">
            <a:extLst>
              <a:ext uri="{FF2B5EF4-FFF2-40B4-BE49-F238E27FC236}">
                <a16:creationId xmlns:a16="http://schemas.microsoft.com/office/drawing/2014/main" id="{643669DF-5971-43A9-9A78-1B3C53FE8ED8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code architecture follows the financial workflow</a:t>
            </a:r>
          </a:p>
        </p:txBody>
      </p:sp>
      <p:sp>
        <p:nvSpPr>
          <p:cNvPr id="2" name="footer-section-31">
            <a:extLst>
              <a:ext uri="{FF2B5EF4-FFF2-40B4-BE49-F238E27FC236}">
                <a16:creationId xmlns:a16="http://schemas.microsoft.com/office/drawing/2014/main" id="{7526AEFC-F95B-4ED1-9B55-D873B57082C9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ANNOTATED PYTHON</a:t>
            </a:r>
          </a:p>
        </p:txBody>
      </p:sp>
      <p:sp>
        <p:nvSpPr>
          <p:cNvPr id="3" name="footer-number-31">
            <a:extLst>
              <a:ext uri="{FF2B5EF4-FFF2-40B4-BE49-F238E27FC236}">
                <a16:creationId xmlns:a16="http://schemas.microsoft.com/office/drawing/2014/main" id="{B0D425AE-C935-4E08-9230-DEC2B481D927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cxnSp>
        <p:nvCxnSpPr>
          <p:cNvPr id="29" name="code-architecture-line"/>
          <p:cNvCxnSpPr/>
          <p:nvPr/>
        </p:nvCxnSpPr>
        <p:spPr>
          <a:xfrm>
            <a:off x="876300" y="3352800"/>
            <a:ext cx="99060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architecture-dot-0">
            <a:extLst>
              <a:ext uri="{FF2B5EF4-FFF2-40B4-BE49-F238E27FC236}">
                <a16:creationId xmlns:a16="http://schemas.microsoft.com/office/drawing/2014/main" id="{393370FE-DCA1-4BAD-AD42-AAD26AF2B704}"/>
              </a:ext>
            </a:extLst>
          </p:cNvPr>
          <p:cNvSpPr>
            <a:spLocks noGrp="1"/>
          </p:cNvSpPr>
          <p:nvPr/>
        </p:nvSpPr>
        <p:spPr>
          <a:xfrm>
            <a:off x="876300" y="32766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rchitecture-num-0">
            <a:extLst>
              <a:ext uri="{FF2B5EF4-FFF2-40B4-BE49-F238E27FC236}">
                <a16:creationId xmlns:a16="http://schemas.microsoft.com/office/drawing/2014/main" id="{59825754-E37C-4095-BC4D-0A5E8560AD18}"/>
              </a:ext>
            </a:extLst>
          </p:cNvPr>
          <p:cNvSpPr>
            <a:spLocks noGrp="1"/>
          </p:cNvSpPr>
          <p:nvPr/>
        </p:nvSpPr>
        <p:spPr>
          <a:xfrm>
            <a:off x="828675" y="253365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architecture-title-0">
            <a:extLst>
              <a:ext uri="{FF2B5EF4-FFF2-40B4-BE49-F238E27FC236}">
                <a16:creationId xmlns:a16="http://schemas.microsoft.com/office/drawing/2014/main" id="{E70ED2BF-3523-478E-BD4F-819D8C059264}"/>
              </a:ext>
            </a:extLst>
          </p:cNvPr>
          <p:cNvSpPr>
            <a:spLocks noGrp="1"/>
          </p:cNvSpPr>
          <p:nvPr/>
        </p:nvSpPr>
        <p:spPr>
          <a:xfrm>
            <a:off x="828675" y="37623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8" name="architecture-body-0">
            <a:extLst>
              <a:ext uri="{FF2B5EF4-FFF2-40B4-BE49-F238E27FC236}">
                <a16:creationId xmlns:a16="http://schemas.microsoft.com/office/drawing/2014/main" id="{B8B84EFD-C10E-47E6-B43B-C1E0E333183F}"/>
              </a:ext>
            </a:extLst>
          </p:cNvPr>
          <p:cNvSpPr>
            <a:spLocks noGrp="1"/>
          </p:cNvSpPr>
          <p:nvPr/>
        </p:nvSpPr>
        <p:spPr>
          <a:xfrm>
            <a:off x="828675" y="4286250"/>
            <a:ext cx="1952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Read and validate Metric_ID inputs</a:t>
            </a:r>
          </a:p>
        </p:txBody>
      </p:sp>
      <p:sp>
        <p:nvSpPr>
          <p:cNvPr id="9" name="architecture-dot-1">
            <a:extLst>
              <a:ext uri="{FF2B5EF4-FFF2-40B4-BE49-F238E27FC236}">
                <a16:creationId xmlns:a16="http://schemas.microsoft.com/office/drawing/2014/main" id="{FE7CB188-1DAF-41AB-9F83-8369EF9BEC58}"/>
              </a:ext>
            </a:extLst>
          </p:cNvPr>
          <p:cNvSpPr>
            <a:spLocks noGrp="1"/>
          </p:cNvSpPr>
          <p:nvPr/>
        </p:nvSpPr>
        <p:spPr>
          <a:xfrm>
            <a:off x="3305175" y="32766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rchitecture-num-1">
            <a:extLst>
              <a:ext uri="{FF2B5EF4-FFF2-40B4-BE49-F238E27FC236}">
                <a16:creationId xmlns:a16="http://schemas.microsoft.com/office/drawing/2014/main" id="{FB349DF2-8BE6-4A0E-81CC-2E83CC0C904A}"/>
              </a:ext>
            </a:extLst>
          </p:cNvPr>
          <p:cNvSpPr>
            <a:spLocks noGrp="1"/>
          </p:cNvSpPr>
          <p:nvPr/>
        </p:nvSpPr>
        <p:spPr>
          <a:xfrm>
            <a:off x="3257550" y="253365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architecture-title-1">
            <a:extLst>
              <a:ext uri="{FF2B5EF4-FFF2-40B4-BE49-F238E27FC236}">
                <a16:creationId xmlns:a16="http://schemas.microsoft.com/office/drawing/2014/main" id="{9BF08AEA-234E-4B79-A5E6-6861C87BBE2A}"/>
              </a:ext>
            </a:extLst>
          </p:cNvPr>
          <p:cNvSpPr>
            <a:spLocks noGrp="1"/>
          </p:cNvSpPr>
          <p:nvPr/>
        </p:nvSpPr>
        <p:spPr>
          <a:xfrm>
            <a:off x="3257550" y="37623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architecture-body-1">
            <a:extLst>
              <a:ext uri="{FF2B5EF4-FFF2-40B4-BE49-F238E27FC236}">
                <a16:creationId xmlns:a16="http://schemas.microsoft.com/office/drawing/2014/main" id="{F0BEDE91-4967-4F8E-AFC8-71A4F5270D90}"/>
              </a:ext>
            </a:extLst>
          </p:cNvPr>
          <p:cNvSpPr>
            <a:spLocks noGrp="1"/>
          </p:cNvSpPr>
          <p:nvPr/>
        </p:nvSpPr>
        <p:spPr>
          <a:xfrm>
            <a:off x="3257550" y="4286250"/>
            <a:ext cx="1952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Calculate finance metrics</a:t>
            </a:r>
          </a:p>
        </p:txBody>
      </p:sp>
      <p:sp>
        <p:nvSpPr>
          <p:cNvPr id="13" name="architecture-dot-2">
            <a:extLst>
              <a:ext uri="{FF2B5EF4-FFF2-40B4-BE49-F238E27FC236}">
                <a16:creationId xmlns:a16="http://schemas.microsoft.com/office/drawing/2014/main" id="{1BA7F5CE-FA65-468B-B3A8-04201149DC55}"/>
              </a:ext>
            </a:extLst>
          </p:cNvPr>
          <p:cNvSpPr>
            <a:spLocks noGrp="1"/>
          </p:cNvSpPr>
          <p:nvPr/>
        </p:nvSpPr>
        <p:spPr>
          <a:xfrm>
            <a:off x="5734050" y="32766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rchitecture-num-2">
            <a:extLst>
              <a:ext uri="{FF2B5EF4-FFF2-40B4-BE49-F238E27FC236}">
                <a16:creationId xmlns:a16="http://schemas.microsoft.com/office/drawing/2014/main" id="{C832D884-03A3-42E6-A75F-63453DB7DF84}"/>
              </a:ext>
            </a:extLst>
          </p:cNvPr>
          <p:cNvSpPr>
            <a:spLocks noGrp="1"/>
          </p:cNvSpPr>
          <p:nvPr/>
        </p:nvSpPr>
        <p:spPr>
          <a:xfrm>
            <a:off x="5686425" y="253365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architecture-title-2">
            <a:extLst>
              <a:ext uri="{FF2B5EF4-FFF2-40B4-BE49-F238E27FC236}">
                <a16:creationId xmlns:a16="http://schemas.microsoft.com/office/drawing/2014/main" id="{2668A141-2F65-4D41-BB9C-CD91EFE03089}"/>
              </a:ext>
            </a:extLst>
          </p:cNvPr>
          <p:cNvSpPr>
            <a:spLocks noGrp="1"/>
          </p:cNvSpPr>
          <p:nvPr/>
        </p:nvSpPr>
        <p:spPr>
          <a:xfrm>
            <a:off x="5686425" y="37623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6" name="architecture-body-2">
            <a:extLst>
              <a:ext uri="{FF2B5EF4-FFF2-40B4-BE49-F238E27FC236}">
                <a16:creationId xmlns:a16="http://schemas.microsoft.com/office/drawing/2014/main" id="{512BF43F-FD13-4B94-9711-D7E4076F385D}"/>
              </a:ext>
            </a:extLst>
          </p:cNvPr>
          <p:cNvSpPr>
            <a:spLocks noGrp="1"/>
          </p:cNvSpPr>
          <p:nvPr/>
        </p:nvSpPr>
        <p:spPr>
          <a:xfrm>
            <a:off x="5686425" y="4286250"/>
            <a:ext cx="1952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Test independent identities</a:t>
            </a:r>
          </a:p>
        </p:txBody>
      </p:sp>
      <p:sp>
        <p:nvSpPr>
          <p:cNvPr id="17" name="architecture-dot-3">
            <a:extLst>
              <a:ext uri="{FF2B5EF4-FFF2-40B4-BE49-F238E27FC236}">
                <a16:creationId xmlns:a16="http://schemas.microsoft.com/office/drawing/2014/main" id="{E7A87493-DDC6-4BD7-80CE-A861931064B7}"/>
              </a:ext>
            </a:extLst>
          </p:cNvPr>
          <p:cNvSpPr>
            <a:spLocks noGrp="1"/>
          </p:cNvSpPr>
          <p:nvPr/>
        </p:nvSpPr>
        <p:spPr>
          <a:xfrm>
            <a:off x="8162925" y="32766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rchitecture-num-3">
            <a:extLst>
              <a:ext uri="{FF2B5EF4-FFF2-40B4-BE49-F238E27FC236}">
                <a16:creationId xmlns:a16="http://schemas.microsoft.com/office/drawing/2014/main" id="{3104C7D2-D0C2-47B8-9B02-578439092B16}"/>
              </a:ext>
            </a:extLst>
          </p:cNvPr>
          <p:cNvSpPr>
            <a:spLocks noGrp="1"/>
          </p:cNvSpPr>
          <p:nvPr/>
        </p:nvSpPr>
        <p:spPr>
          <a:xfrm>
            <a:off x="8115300" y="253365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architecture-title-3">
            <a:extLst>
              <a:ext uri="{FF2B5EF4-FFF2-40B4-BE49-F238E27FC236}">
                <a16:creationId xmlns:a16="http://schemas.microsoft.com/office/drawing/2014/main" id="{152956D8-73D8-421B-A0F3-FF6AD9A56B48}"/>
              </a:ext>
            </a:extLst>
          </p:cNvPr>
          <p:cNvSpPr>
            <a:spLocks noGrp="1"/>
          </p:cNvSpPr>
          <p:nvPr/>
        </p:nvSpPr>
        <p:spPr>
          <a:xfrm>
            <a:off x="8115300" y="37623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VISUALIZE</a:t>
            </a:r>
          </a:p>
        </p:txBody>
      </p:sp>
      <p:sp>
        <p:nvSpPr>
          <p:cNvPr id="20" name="architecture-body-3">
            <a:extLst>
              <a:ext uri="{FF2B5EF4-FFF2-40B4-BE49-F238E27FC236}">
                <a16:creationId xmlns:a16="http://schemas.microsoft.com/office/drawing/2014/main" id="{E2FB175F-0B66-4354-9CB1-26C89B6C6CEB}"/>
              </a:ext>
            </a:extLst>
          </p:cNvPr>
          <p:cNvSpPr>
            <a:spLocks noGrp="1"/>
          </p:cNvSpPr>
          <p:nvPr/>
        </p:nvSpPr>
        <p:spPr>
          <a:xfrm>
            <a:off x="8115300" y="4286250"/>
            <a:ext cx="1952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Encode verified values</a:t>
            </a:r>
          </a:p>
        </p:txBody>
      </p:sp>
      <p:sp>
        <p:nvSpPr>
          <p:cNvPr id="21" name="architecture-dot-4">
            <a:extLst>
              <a:ext uri="{FF2B5EF4-FFF2-40B4-BE49-F238E27FC236}">
                <a16:creationId xmlns:a16="http://schemas.microsoft.com/office/drawing/2014/main" id="{091A13F3-2297-46F5-AEB4-2F15B27CB052}"/>
              </a:ext>
            </a:extLst>
          </p:cNvPr>
          <p:cNvSpPr>
            <a:spLocks noGrp="1"/>
          </p:cNvSpPr>
          <p:nvPr/>
        </p:nvSpPr>
        <p:spPr>
          <a:xfrm>
            <a:off x="10591800" y="32766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rchitecture-num-4">
            <a:extLst>
              <a:ext uri="{FF2B5EF4-FFF2-40B4-BE49-F238E27FC236}">
                <a16:creationId xmlns:a16="http://schemas.microsoft.com/office/drawing/2014/main" id="{692D2ABC-97A6-4B6C-B57B-BF4C548040B4}"/>
              </a:ext>
            </a:extLst>
          </p:cNvPr>
          <p:cNvSpPr>
            <a:spLocks noGrp="1"/>
          </p:cNvSpPr>
          <p:nvPr/>
        </p:nvSpPr>
        <p:spPr>
          <a:xfrm>
            <a:off x="10544175" y="253365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architecture-title-4">
            <a:extLst>
              <a:ext uri="{FF2B5EF4-FFF2-40B4-BE49-F238E27FC236}">
                <a16:creationId xmlns:a16="http://schemas.microsoft.com/office/drawing/2014/main" id="{52169930-889F-4EC1-A965-3D4688073720}"/>
              </a:ext>
            </a:extLst>
          </p:cNvPr>
          <p:cNvSpPr>
            <a:spLocks noGrp="1"/>
          </p:cNvSpPr>
          <p:nvPr/>
        </p:nvSpPr>
        <p:spPr>
          <a:xfrm>
            <a:off x="10544175" y="37623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24" name="architecture-body-4">
            <a:extLst>
              <a:ext uri="{FF2B5EF4-FFF2-40B4-BE49-F238E27FC236}">
                <a16:creationId xmlns:a16="http://schemas.microsoft.com/office/drawing/2014/main" id="{C710C0F1-38DB-4080-AE96-9C4CC365DD0F}"/>
              </a:ext>
            </a:extLst>
          </p:cNvPr>
          <p:cNvSpPr>
            <a:spLocks noGrp="1"/>
          </p:cNvSpPr>
          <p:nvPr/>
        </p:nvSpPr>
        <p:spPr>
          <a:xfrm>
            <a:off x="10544175" y="4286250"/>
            <a:ext cx="1952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Write PNGs, dashboard, CSV</a:t>
            </a:r>
          </a:p>
        </p:txBody>
      </p:sp>
      <p:sp>
        <p:nvSpPr>
          <p:cNvPr id="25" name="architecture-gate">
            <a:extLst>
              <a:ext uri="{FF2B5EF4-FFF2-40B4-BE49-F238E27FC236}">
                <a16:creationId xmlns:a16="http://schemas.microsoft.com/office/drawing/2014/main" id="{0C54A1CF-B4C2-4019-832D-2338472F1FC9}"/>
              </a:ext>
            </a:extLst>
          </p:cNvPr>
          <p:cNvSpPr>
            <a:spLocks noGrp="1"/>
          </p:cNvSpPr>
          <p:nvPr/>
        </p:nvSpPr>
        <p:spPr>
          <a:xfrm>
            <a:off x="4400550" y="53816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98"/>
          </a:bodyPr>
          <a:lstStyle/>
          <a:p>
            <a:pPr algn="ctr">
              <a:lnSpc>
                <a:spcPct val="108000"/>
              </a:lnSpc>
              <a:buNone/>
              <a:defRPr sz="2100" b="1" i="0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53030"/>
                </a:solidFill>
                <a:latin typeface="Arial"/>
                <a:ea typeface="Arial"/>
                <a:cs typeface="Arial"/>
              </a:rPr>
              <a:t>No PASS -&gt; no chart export</a:t>
            </a:r>
          </a:p>
        </p:txBody>
      </p:sp>
    </p:spTree>
    <p:extLst>
      <p:ext uri="{BB962C8B-B14F-4D97-AF65-F5344CB8AC3E}">
        <p14:creationId xmlns:p14="http://schemas.microsoft.com/office/powerpoint/2010/main" val="1750721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32">
            <a:extLst>
              <a:ext uri="{FF2B5EF4-FFF2-40B4-BE49-F238E27FC236}">
                <a16:creationId xmlns:a16="http://schemas.microsoft.com/office/drawing/2014/main" id="{D9F889C9-57E9-47F0-82E1-C05826DAF270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ANNOTATED PROGRAM ARCHITECTURE</a:t>
            </a:r>
          </a:p>
        </p:txBody>
      </p:sp>
      <p:sp>
        <p:nvSpPr>
          <p:cNvPr id="2" name="title-32">
            <a:extLst>
              <a:ext uri="{FF2B5EF4-FFF2-40B4-BE49-F238E27FC236}">
                <a16:creationId xmlns:a16="http://schemas.microsoft.com/office/drawing/2014/main" id="{70BACEE7-21F9-4D42-A6AE-0E6E0D1475EF}"/>
              </a:ext>
            </a:extLst>
          </p:cNvPr>
          <p:cNvSpPr>
            <a:spLocks noGrp="1"/>
          </p:cNvSpPr>
          <p:nvPr/>
        </p:nvSpPr>
        <p:spPr>
          <a:xfrm>
            <a:off x="495300" y="533400"/>
            <a:ext cx="1120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Workbook input uses Metric_ID - not fragile row numbers</a:t>
            </a:r>
          </a:p>
        </p:txBody>
      </p:sp>
      <p:sp>
        <p:nvSpPr>
          <p:cNvPr id="3" name="footer-section-32">
            <a:extLst>
              <a:ext uri="{FF2B5EF4-FFF2-40B4-BE49-F238E27FC236}">
                <a16:creationId xmlns:a16="http://schemas.microsoft.com/office/drawing/2014/main" id="{3D20D2D7-3302-47EE-9A17-EC450583F0BB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AI + PYTHON</a:t>
            </a:r>
          </a:p>
        </p:txBody>
      </p:sp>
      <p:sp>
        <p:nvSpPr>
          <p:cNvPr id="4" name="footer-number-32">
            <a:extLst>
              <a:ext uri="{FF2B5EF4-FFF2-40B4-BE49-F238E27FC236}">
                <a16:creationId xmlns:a16="http://schemas.microsoft.com/office/drawing/2014/main" id="{75721504-16F5-4885-A367-AFDDBE4EB07A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code-panel-32">
            <a:extLst>
              <a:ext uri="{FF2B5EF4-FFF2-40B4-BE49-F238E27FC236}">
                <a16:creationId xmlns:a16="http://schemas.microsoft.com/office/drawing/2014/main" id="{29305480-2D63-47E2-B892-D71158881AE6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239000" cy="4533900"/>
          </a:xfrm>
          <a:prstGeom prst="rect">
            <a:avLst/>
          </a:prstGeom>
          <a:solidFill>
            <a:srgbClr val="F5F6F8"/>
          </a:solidFill>
          <a:ln w="9525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-32">
            <a:extLst>
              <a:ext uri="{FF2B5EF4-FFF2-40B4-BE49-F238E27FC236}">
                <a16:creationId xmlns:a16="http://schemas.microsoft.com/office/drawing/2014/main" id="{AD04098E-A5C4-4738-A99E-27C8C66549B9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6781800" cy="407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def load_metrics(workbook_path):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df = pd.read_excel(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workbook_path,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sheet_name="01_Input",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header=4,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)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required = {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"Metric_ID", "FY2025", "FY2024",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"FY2023", "FY2022", "FY2021",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missing = required.difference(df.columns)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if missing: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raise ValueError(f"Missing: {sorted(missing)}")</a:t>
            </a:r>
          </a:p>
        </p:txBody>
      </p:sp>
      <p:sp>
        <p:nvSpPr>
          <p:cNvPr id="7" name="annotation-label-32">
            <a:extLst>
              <a:ext uri="{FF2B5EF4-FFF2-40B4-BE49-F238E27FC236}">
                <a16:creationId xmlns:a16="http://schemas.microsoft.com/office/drawing/2014/main" id="{FCBAA676-9266-4D06-BBD7-73C0301DFFE6}"/>
              </a:ext>
            </a:extLst>
          </p:cNvPr>
          <p:cNvSpPr>
            <a:spLocks noGrp="1"/>
          </p:cNvSpPr>
          <p:nvPr/>
        </p:nvSpPr>
        <p:spPr>
          <a:xfrm>
            <a:off x="8115300" y="1581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TO EXPLAIN</a:t>
            </a:r>
          </a:p>
        </p:txBody>
      </p:sp>
      <p:sp>
        <p:nvSpPr>
          <p:cNvPr id="8" name="annotations-32">
            <a:extLst>
              <a:ext uri="{FF2B5EF4-FFF2-40B4-BE49-F238E27FC236}">
                <a16:creationId xmlns:a16="http://schemas.microsoft.com/office/drawing/2014/main" id="{B55A0C79-2F10-4FCE-87C7-E9B1197DB834}"/>
              </a:ext>
            </a:extLst>
          </p:cNvPr>
          <p:cNvSpPr>
            <a:spLocks noGrp="1"/>
          </p:cNvSpPr>
          <p:nvPr/>
        </p:nvSpPr>
        <p:spPr>
          <a:xfrm>
            <a:off x="8115300" y="2019300"/>
            <a:ext cx="331470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Which line selects the worksheet?</a:t>
            </a:r>
          </a:p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Why is header=4 required?</a:t>
            </a:r>
          </a:p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What happens if a column is renamed?</a:t>
            </a:r>
          </a:p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Why are Metric_ID values safer than row 12 or D7?</a:t>
            </a:r>
          </a:p>
        </p:txBody>
      </p:sp>
    </p:spTree>
    <p:extLst>
      <p:ext uri="{BB962C8B-B14F-4D97-AF65-F5344CB8AC3E}">
        <p14:creationId xmlns:p14="http://schemas.microsoft.com/office/powerpoint/2010/main" val="1459668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33">
            <a:extLst>
              <a:ext uri="{FF2B5EF4-FFF2-40B4-BE49-F238E27FC236}">
                <a16:creationId xmlns:a16="http://schemas.microsoft.com/office/drawing/2014/main" id="{E5BC6017-E8EB-4C67-BE7C-41795EDFF81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ANNOTATED PROGRAM ARCHITECTURE</a:t>
            </a:r>
          </a:p>
        </p:txBody>
      </p:sp>
      <p:sp>
        <p:nvSpPr>
          <p:cNvPr id="2" name="title-33">
            <a:extLst>
              <a:ext uri="{FF2B5EF4-FFF2-40B4-BE49-F238E27FC236}">
                <a16:creationId xmlns:a16="http://schemas.microsoft.com/office/drawing/2014/main" id="{CFE68AC2-256B-4828-8F5E-7A5149D27D9D}"/>
              </a:ext>
            </a:extLst>
          </p:cNvPr>
          <p:cNvSpPr>
            <a:spLocks noGrp="1"/>
          </p:cNvSpPr>
          <p:nvPr/>
        </p:nvSpPr>
        <p:spPr>
          <a:xfrm>
            <a:off x="495300" y="533400"/>
            <a:ext cx="1120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Finance definitions and sign controls belong in one model</a:t>
            </a:r>
          </a:p>
        </p:txBody>
      </p:sp>
      <p:sp>
        <p:nvSpPr>
          <p:cNvPr id="3" name="footer-section-33">
            <a:extLst>
              <a:ext uri="{FF2B5EF4-FFF2-40B4-BE49-F238E27FC236}">
                <a16:creationId xmlns:a16="http://schemas.microsoft.com/office/drawing/2014/main" id="{6A05956B-1A10-43E6-92A1-379FF610B488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AI + PYTHON</a:t>
            </a:r>
          </a:p>
        </p:txBody>
      </p:sp>
      <p:sp>
        <p:nvSpPr>
          <p:cNvPr id="4" name="footer-number-33">
            <a:extLst>
              <a:ext uri="{FF2B5EF4-FFF2-40B4-BE49-F238E27FC236}">
                <a16:creationId xmlns:a16="http://schemas.microsoft.com/office/drawing/2014/main" id="{D34DDA63-8241-4C92-86D7-C0AD48CE32E6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code-panel-33">
            <a:extLst>
              <a:ext uri="{FF2B5EF4-FFF2-40B4-BE49-F238E27FC236}">
                <a16:creationId xmlns:a16="http://schemas.microsoft.com/office/drawing/2014/main" id="{F324527B-36C3-4E85-A772-A1292DFF6883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239000" cy="4533900"/>
          </a:xfrm>
          <a:prstGeom prst="rect">
            <a:avLst/>
          </a:prstGeom>
          <a:solidFill>
            <a:srgbClr val="F5F6F8"/>
          </a:solidFill>
          <a:ln w="9525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-33">
            <a:extLst>
              <a:ext uri="{FF2B5EF4-FFF2-40B4-BE49-F238E27FC236}">
                <a16:creationId xmlns:a16="http://schemas.microsoft.com/office/drawing/2014/main" id="{97A4D4D7-7CC0-4D0D-B1C7-86CA576D4A51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6781800" cy="407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model["sales"] = value(metrics, "NET_SALES", 2025)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model["cogs"] = value(metrics, "COGS", 2025)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model["gross_profit"] = model["sales"] - model["cogs"]</a:t>
            </a:r>
          </a:p>
          <a:p>
            <a:endParaRPr sz="1275" b="0" i="0">
              <a:solidFill>
                <a:srgbClr val="0B2545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raw_capex = value(metrics, "CAPEX", 2025)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model["capex"] = abs(raw_capex)</a:t>
            </a:r>
          </a:p>
          <a:p>
            <a:endParaRPr sz="1275" b="0" i="0">
              <a:solidFill>
                <a:srgbClr val="0B2545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model["avg_assets"] = (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value(metrics, "TOTAL_ASSETS", 2025)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+ value(metrics, "TOTAL_ASSETS", 2024)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) / 2</a:t>
            </a:r>
          </a:p>
          <a:p>
            <a:endParaRPr sz="1275" b="0" i="0">
              <a:solidFill>
                <a:srgbClr val="0B2545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model["sales_cagr"] = (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model["sales"] / value(metrics, "NET_SALES", 2021)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) ** (1 / 4) - 1</a:t>
            </a:r>
          </a:p>
        </p:txBody>
      </p:sp>
      <p:sp>
        <p:nvSpPr>
          <p:cNvPr id="7" name="annotation-label-33">
            <a:extLst>
              <a:ext uri="{FF2B5EF4-FFF2-40B4-BE49-F238E27FC236}">
                <a16:creationId xmlns:a16="http://schemas.microsoft.com/office/drawing/2014/main" id="{B42FA625-2442-43C7-9F25-28B304088AA9}"/>
              </a:ext>
            </a:extLst>
          </p:cNvPr>
          <p:cNvSpPr>
            <a:spLocks noGrp="1"/>
          </p:cNvSpPr>
          <p:nvPr/>
        </p:nvSpPr>
        <p:spPr>
          <a:xfrm>
            <a:off x="8115300" y="1581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TO EXPLAIN</a:t>
            </a:r>
          </a:p>
        </p:txBody>
      </p:sp>
      <p:sp>
        <p:nvSpPr>
          <p:cNvPr id="8" name="annotations-33">
            <a:extLst>
              <a:ext uri="{FF2B5EF4-FFF2-40B4-BE49-F238E27FC236}">
                <a16:creationId xmlns:a16="http://schemas.microsoft.com/office/drawing/2014/main" id="{82DDF6DF-639F-4E79-B0C5-45FF48123F93}"/>
              </a:ext>
            </a:extLst>
          </p:cNvPr>
          <p:cNvSpPr>
            <a:spLocks noGrp="1"/>
          </p:cNvSpPr>
          <p:nvPr/>
        </p:nvSpPr>
        <p:spPr>
          <a:xfrm>
            <a:off x="8115300" y="2019300"/>
            <a:ext cx="331470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Gross profit is calculated, not hard-coded.</a:t>
            </a:r>
          </a:p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CapEx becomes a positive magnitude once.</a:t>
            </a:r>
          </a:p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Average assets match a full-year flow measure.</a:t>
            </a:r>
          </a:p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Five observations create four CAGR intervals.</a:t>
            </a:r>
          </a:p>
        </p:txBody>
      </p:sp>
    </p:spTree>
    <p:extLst>
      <p:ext uri="{BB962C8B-B14F-4D97-AF65-F5344CB8AC3E}">
        <p14:creationId xmlns:p14="http://schemas.microsoft.com/office/powerpoint/2010/main" val="1753172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-34">
            <a:extLst>
              <a:ext uri="{FF2B5EF4-FFF2-40B4-BE49-F238E27FC236}">
                <a16:creationId xmlns:a16="http://schemas.microsoft.com/office/drawing/2014/main" id="{A5DF6CD2-23D2-479A-BAE9-AC0744F83408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ANNOTATED PROGRAM ARCHITECTURE</a:t>
            </a:r>
          </a:p>
        </p:txBody>
      </p:sp>
      <p:sp>
        <p:nvSpPr>
          <p:cNvPr id="2" name="title-34">
            <a:extLst>
              <a:ext uri="{FF2B5EF4-FFF2-40B4-BE49-F238E27FC236}">
                <a16:creationId xmlns:a16="http://schemas.microsoft.com/office/drawing/2014/main" id="{FA7F4CFB-7D2C-440D-A504-4589460346BA}"/>
              </a:ext>
            </a:extLst>
          </p:cNvPr>
          <p:cNvSpPr>
            <a:spLocks noGrp="1"/>
          </p:cNvSpPr>
          <p:nvPr/>
        </p:nvSpPr>
        <p:spPr>
          <a:xfrm>
            <a:off x="495300" y="533400"/>
            <a:ext cx="1120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Sanity checks stop a bad chart before it becomes persuasive</a:t>
            </a:r>
          </a:p>
        </p:txBody>
      </p:sp>
      <p:sp>
        <p:nvSpPr>
          <p:cNvPr id="3" name="footer-section-34">
            <a:extLst>
              <a:ext uri="{FF2B5EF4-FFF2-40B4-BE49-F238E27FC236}">
                <a16:creationId xmlns:a16="http://schemas.microsoft.com/office/drawing/2014/main" id="{7D9D38A6-2FFD-49EA-81DF-51B5B64C9509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AI + PYTHON</a:t>
            </a:r>
          </a:p>
        </p:txBody>
      </p:sp>
      <p:sp>
        <p:nvSpPr>
          <p:cNvPr id="4" name="footer-number-34">
            <a:extLst>
              <a:ext uri="{FF2B5EF4-FFF2-40B4-BE49-F238E27FC236}">
                <a16:creationId xmlns:a16="http://schemas.microsoft.com/office/drawing/2014/main" id="{BCD1F3D0-EE34-4E5E-ADB3-1AF2CA32171A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code-panel-34">
            <a:extLst>
              <a:ext uri="{FF2B5EF4-FFF2-40B4-BE49-F238E27FC236}">
                <a16:creationId xmlns:a16="http://schemas.microsoft.com/office/drawing/2014/main" id="{46E1593F-F60A-4490-BA9F-AB4B69B6D8AB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239000" cy="4533900"/>
          </a:xfrm>
          <a:prstGeom prst="rect">
            <a:avLst/>
          </a:prstGeom>
          <a:solidFill>
            <a:srgbClr val="F5F6F8"/>
          </a:solidFill>
          <a:ln w="9525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-34">
            <a:extLst>
              <a:ext uri="{FF2B5EF4-FFF2-40B4-BE49-F238E27FC236}">
                <a16:creationId xmlns:a16="http://schemas.microsoft.com/office/drawing/2014/main" id="{26F7A226-A421-45A2-98E3-7F0F970D8C29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6781800" cy="407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def require_check(name, actual, expected, tolerance):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if not math.isclose(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actual, expected, abs_tol=tolerance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):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raise RuntimeError(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    f"{name} failed: {actual} vs {expected}"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    )</a:t>
            </a:r>
          </a:p>
          <a:p>
            <a:endParaRPr sz="1275" b="0" i="0">
              <a:solidFill>
                <a:srgbClr val="0B2545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require_check(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"Revenue identity",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model["cogs"] + model["gross_profit"],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model["sales"],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    1.0,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1275" b="0" i="0">
              <a:solidFill>
                <a:srgbClr val="0B2545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# Plot only after every required identity passes.</a:t>
            </a:r>
          </a:p>
        </p:txBody>
      </p:sp>
      <p:sp>
        <p:nvSpPr>
          <p:cNvPr id="7" name="annotation-label-34">
            <a:extLst>
              <a:ext uri="{FF2B5EF4-FFF2-40B4-BE49-F238E27FC236}">
                <a16:creationId xmlns:a16="http://schemas.microsoft.com/office/drawing/2014/main" id="{4D858A4E-474A-49C1-9790-8173D6D7A8A6}"/>
              </a:ext>
            </a:extLst>
          </p:cNvPr>
          <p:cNvSpPr>
            <a:spLocks noGrp="1"/>
          </p:cNvSpPr>
          <p:nvPr/>
        </p:nvSpPr>
        <p:spPr>
          <a:xfrm>
            <a:off x="8115300" y="1581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TO EXPLAIN</a:t>
            </a:r>
          </a:p>
        </p:txBody>
      </p:sp>
      <p:sp>
        <p:nvSpPr>
          <p:cNvPr id="8" name="annotations-34">
            <a:extLst>
              <a:ext uri="{FF2B5EF4-FFF2-40B4-BE49-F238E27FC236}">
                <a16:creationId xmlns:a16="http://schemas.microsoft.com/office/drawing/2014/main" id="{C5269FC1-1795-4436-BF15-CBC7E61E339C}"/>
              </a:ext>
            </a:extLst>
          </p:cNvPr>
          <p:cNvSpPr>
            <a:spLocks noGrp="1"/>
          </p:cNvSpPr>
          <p:nvPr/>
        </p:nvSpPr>
        <p:spPr>
          <a:xfrm>
            <a:off x="8115300" y="2019300"/>
            <a:ext cx="331470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Actual and expected sides are constructed independently.</a:t>
            </a:r>
          </a:p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Tolerance reflects rounding - not permission to ignore errors.</a:t>
            </a:r>
          </a:p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RuntimeError makes failure visible.</a:t>
            </a:r>
          </a:p>
          <a:p>
            <a:pPr marL="24" indent="-12" algn="l">
              <a:spcAft>
                <a:spcPts val="14"/>
              </a:spcAft>
              <a:buChar char="•"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Checks precede all save_* functions.</a:t>
            </a:r>
          </a:p>
        </p:txBody>
      </p:sp>
    </p:spTree>
    <p:extLst>
      <p:ext uri="{BB962C8B-B14F-4D97-AF65-F5344CB8AC3E}">
        <p14:creationId xmlns:p14="http://schemas.microsoft.com/office/powerpoint/2010/main" val="1911143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-35">
            <a:extLst>
              <a:ext uri="{FF2B5EF4-FFF2-40B4-BE49-F238E27FC236}">
                <a16:creationId xmlns:a16="http://schemas.microsoft.com/office/drawing/2014/main" id="{F60EFD83-351B-44C7-99D7-BD6CEC4F18FD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Verification is a chain - not a green cell</a:t>
            </a:r>
          </a:p>
        </p:txBody>
      </p:sp>
      <p:sp>
        <p:nvSpPr>
          <p:cNvPr id="2" name="footer-section-35">
            <a:extLst>
              <a:ext uri="{FF2B5EF4-FFF2-40B4-BE49-F238E27FC236}">
                <a16:creationId xmlns:a16="http://schemas.microsoft.com/office/drawing/2014/main" id="{86151543-9305-4B84-B2DD-2FCF90FC2815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AI VERIFICATION</a:t>
            </a:r>
          </a:p>
        </p:txBody>
      </p:sp>
      <p:sp>
        <p:nvSpPr>
          <p:cNvPr id="3" name="footer-number-35">
            <a:extLst>
              <a:ext uri="{FF2B5EF4-FFF2-40B4-BE49-F238E27FC236}">
                <a16:creationId xmlns:a16="http://schemas.microsoft.com/office/drawing/2014/main" id="{389D1BB6-54E7-4FDA-8450-BA7559682187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" name="verify-number-0">
            <a:extLst>
              <a:ext uri="{FF2B5EF4-FFF2-40B4-BE49-F238E27FC236}">
                <a16:creationId xmlns:a16="http://schemas.microsoft.com/office/drawing/2014/main" id="{630F5094-4958-4DDE-95E0-277B11DB36E5}"/>
              </a:ext>
            </a:extLst>
          </p:cNvPr>
          <p:cNvSpPr>
            <a:spLocks noGrp="1"/>
          </p:cNvSpPr>
          <p:nvPr/>
        </p:nvSpPr>
        <p:spPr>
          <a:xfrm>
            <a:off x="495300" y="1733550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verify-label-0">
            <a:extLst>
              <a:ext uri="{FF2B5EF4-FFF2-40B4-BE49-F238E27FC236}">
                <a16:creationId xmlns:a16="http://schemas.microsoft.com/office/drawing/2014/main" id="{E5E81CE7-3785-432D-9DAB-F14741018E78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6" name="verify-body-0">
            <a:extLst>
              <a:ext uri="{FF2B5EF4-FFF2-40B4-BE49-F238E27FC236}">
                <a16:creationId xmlns:a16="http://schemas.microsoft.com/office/drawing/2014/main" id="{64956F7E-F81E-4584-999B-2FDEAED113B8}"/>
              </a:ext>
            </a:extLst>
          </p:cNvPr>
          <p:cNvSpPr>
            <a:spLocks noGrp="1"/>
          </p:cNvSpPr>
          <p:nvPr/>
        </p:nvSpPr>
        <p:spPr>
          <a:xfrm>
            <a:off x="495300" y="3095625"/>
            <a:ext cx="1952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Correct period, unit, sign, and audited value</a:t>
            </a:r>
          </a:p>
        </p:txBody>
      </p:sp>
      <p:sp>
        <p:nvSpPr>
          <p:cNvPr id="7" name="verify-arrow-0">
            <a:extLst>
              <a:ext uri="{FF2B5EF4-FFF2-40B4-BE49-F238E27FC236}">
                <a16:creationId xmlns:a16="http://schemas.microsoft.com/office/drawing/2014/main" id="{F6437C24-1DFC-4CF0-8515-9774CD12FB10}"/>
              </a:ext>
            </a:extLst>
          </p:cNvPr>
          <p:cNvSpPr>
            <a:spLocks noGrp="1"/>
          </p:cNvSpPr>
          <p:nvPr/>
        </p:nvSpPr>
        <p:spPr>
          <a:xfrm>
            <a:off x="2362200" y="25908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verify-number-1">
            <a:extLst>
              <a:ext uri="{FF2B5EF4-FFF2-40B4-BE49-F238E27FC236}">
                <a16:creationId xmlns:a16="http://schemas.microsoft.com/office/drawing/2014/main" id="{5FA99B0E-5202-4BBF-8732-13BB53BC70BD}"/>
              </a:ext>
            </a:extLst>
          </p:cNvPr>
          <p:cNvSpPr>
            <a:spLocks noGrp="1"/>
          </p:cNvSpPr>
          <p:nvPr/>
        </p:nvSpPr>
        <p:spPr>
          <a:xfrm>
            <a:off x="2733675" y="1733550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verify-label-1">
            <a:extLst>
              <a:ext uri="{FF2B5EF4-FFF2-40B4-BE49-F238E27FC236}">
                <a16:creationId xmlns:a16="http://schemas.microsoft.com/office/drawing/2014/main" id="{07907CCE-E0A8-4AE9-BB08-8854C5945B58}"/>
              </a:ext>
            </a:extLst>
          </p:cNvPr>
          <p:cNvSpPr>
            <a:spLocks noGrp="1"/>
          </p:cNvSpPr>
          <p:nvPr/>
        </p:nvSpPr>
        <p:spPr>
          <a:xfrm>
            <a:off x="2733675" y="238125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0" name="verify-body-1">
            <a:extLst>
              <a:ext uri="{FF2B5EF4-FFF2-40B4-BE49-F238E27FC236}">
                <a16:creationId xmlns:a16="http://schemas.microsoft.com/office/drawing/2014/main" id="{D65A2413-7531-45FA-8B18-CC93E3BF4956}"/>
              </a:ext>
            </a:extLst>
          </p:cNvPr>
          <p:cNvSpPr>
            <a:spLocks noGrp="1"/>
          </p:cNvSpPr>
          <p:nvPr/>
        </p:nvSpPr>
        <p:spPr>
          <a:xfrm>
            <a:off x="2733675" y="3095625"/>
            <a:ext cx="1952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Correct definition and denominator</a:t>
            </a:r>
          </a:p>
        </p:txBody>
      </p:sp>
      <p:sp>
        <p:nvSpPr>
          <p:cNvPr id="11" name="verify-arrow-1">
            <a:extLst>
              <a:ext uri="{FF2B5EF4-FFF2-40B4-BE49-F238E27FC236}">
                <a16:creationId xmlns:a16="http://schemas.microsoft.com/office/drawing/2014/main" id="{B4FA6072-C529-4D2B-907C-4AB0196D455E}"/>
              </a:ext>
            </a:extLst>
          </p:cNvPr>
          <p:cNvSpPr>
            <a:spLocks noGrp="1"/>
          </p:cNvSpPr>
          <p:nvPr/>
        </p:nvSpPr>
        <p:spPr>
          <a:xfrm>
            <a:off x="4600575" y="25908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verify-number-2">
            <a:extLst>
              <a:ext uri="{FF2B5EF4-FFF2-40B4-BE49-F238E27FC236}">
                <a16:creationId xmlns:a16="http://schemas.microsoft.com/office/drawing/2014/main" id="{172EFA89-5015-42B1-9644-6FD0ED7B51B5}"/>
              </a:ext>
            </a:extLst>
          </p:cNvPr>
          <p:cNvSpPr>
            <a:spLocks noGrp="1"/>
          </p:cNvSpPr>
          <p:nvPr/>
        </p:nvSpPr>
        <p:spPr>
          <a:xfrm>
            <a:off x="4972050" y="1733550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verify-label-2">
            <a:extLst>
              <a:ext uri="{FF2B5EF4-FFF2-40B4-BE49-F238E27FC236}">
                <a16:creationId xmlns:a16="http://schemas.microsoft.com/office/drawing/2014/main" id="{96759325-6D88-4336-A8B1-1A2555F80530}"/>
              </a:ext>
            </a:extLst>
          </p:cNvPr>
          <p:cNvSpPr>
            <a:spLocks noGrp="1"/>
          </p:cNvSpPr>
          <p:nvPr/>
        </p:nvSpPr>
        <p:spPr>
          <a:xfrm>
            <a:off x="4972050" y="238125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sp>
        <p:nvSpPr>
          <p:cNvPr id="14" name="verify-body-2">
            <a:extLst>
              <a:ext uri="{FF2B5EF4-FFF2-40B4-BE49-F238E27FC236}">
                <a16:creationId xmlns:a16="http://schemas.microsoft.com/office/drawing/2014/main" id="{DEE05DE3-5BDD-4E77-B1B1-F7C3815C6E70}"/>
              </a:ext>
            </a:extLst>
          </p:cNvPr>
          <p:cNvSpPr>
            <a:spLocks noGrp="1"/>
          </p:cNvSpPr>
          <p:nvPr/>
        </p:nvSpPr>
        <p:spPr>
          <a:xfrm>
            <a:off x="4972050" y="3095625"/>
            <a:ext cx="1952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Correct implementation and failure behavior</a:t>
            </a:r>
          </a:p>
        </p:txBody>
      </p:sp>
      <p:sp>
        <p:nvSpPr>
          <p:cNvPr id="15" name="verify-arrow-2">
            <a:extLst>
              <a:ext uri="{FF2B5EF4-FFF2-40B4-BE49-F238E27FC236}">
                <a16:creationId xmlns:a16="http://schemas.microsoft.com/office/drawing/2014/main" id="{312F110D-91E8-4CF4-94DE-64CE433EB26F}"/>
              </a:ext>
            </a:extLst>
          </p:cNvPr>
          <p:cNvSpPr>
            <a:spLocks noGrp="1"/>
          </p:cNvSpPr>
          <p:nvPr/>
        </p:nvSpPr>
        <p:spPr>
          <a:xfrm>
            <a:off x="6838950" y="25908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verify-number-3">
            <a:extLst>
              <a:ext uri="{FF2B5EF4-FFF2-40B4-BE49-F238E27FC236}">
                <a16:creationId xmlns:a16="http://schemas.microsoft.com/office/drawing/2014/main" id="{76071E86-6B2E-4B25-B67A-5B705E92642E}"/>
              </a:ext>
            </a:extLst>
          </p:cNvPr>
          <p:cNvSpPr>
            <a:spLocks noGrp="1"/>
          </p:cNvSpPr>
          <p:nvPr/>
        </p:nvSpPr>
        <p:spPr>
          <a:xfrm>
            <a:off x="7210425" y="1733550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verify-label-3">
            <a:extLst>
              <a:ext uri="{FF2B5EF4-FFF2-40B4-BE49-F238E27FC236}">
                <a16:creationId xmlns:a16="http://schemas.microsoft.com/office/drawing/2014/main" id="{EB567B99-783E-47D2-9CDB-7885208BD474}"/>
              </a:ext>
            </a:extLst>
          </p:cNvPr>
          <p:cNvSpPr>
            <a:spLocks noGrp="1"/>
          </p:cNvSpPr>
          <p:nvPr/>
        </p:nvSpPr>
        <p:spPr>
          <a:xfrm>
            <a:off x="7210425" y="238125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8" name="verify-body-3">
            <a:extLst>
              <a:ext uri="{FF2B5EF4-FFF2-40B4-BE49-F238E27FC236}">
                <a16:creationId xmlns:a16="http://schemas.microsoft.com/office/drawing/2014/main" id="{F25EBE36-A894-46EF-971A-1177A936A8F0}"/>
              </a:ext>
            </a:extLst>
          </p:cNvPr>
          <p:cNvSpPr>
            <a:spLocks noGrp="1"/>
          </p:cNvSpPr>
          <p:nvPr/>
        </p:nvSpPr>
        <p:spPr>
          <a:xfrm>
            <a:off x="7210425" y="3095625"/>
            <a:ext cx="1952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Truthful width, direction, axis, label, and color</a:t>
            </a:r>
          </a:p>
        </p:txBody>
      </p:sp>
      <p:sp>
        <p:nvSpPr>
          <p:cNvPr id="19" name="verify-arrow-3">
            <a:extLst>
              <a:ext uri="{FF2B5EF4-FFF2-40B4-BE49-F238E27FC236}">
                <a16:creationId xmlns:a16="http://schemas.microsoft.com/office/drawing/2014/main" id="{7268EFE8-8F45-40DA-8B11-308681208775}"/>
              </a:ext>
            </a:extLst>
          </p:cNvPr>
          <p:cNvSpPr>
            <a:spLocks noGrp="1"/>
          </p:cNvSpPr>
          <p:nvPr/>
        </p:nvSpPr>
        <p:spPr>
          <a:xfrm>
            <a:off x="9077325" y="25908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verify-number-4">
            <a:extLst>
              <a:ext uri="{FF2B5EF4-FFF2-40B4-BE49-F238E27FC236}">
                <a16:creationId xmlns:a16="http://schemas.microsoft.com/office/drawing/2014/main" id="{13AAC7F4-DD31-4FE4-9A91-0831E3FCCF95}"/>
              </a:ext>
            </a:extLst>
          </p:cNvPr>
          <p:cNvSpPr>
            <a:spLocks noGrp="1"/>
          </p:cNvSpPr>
          <p:nvPr/>
        </p:nvSpPr>
        <p:spPr>
          <a:xfrm>
            <a:off x="9448800" y="1733550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verify-label-4">
            <a:extLst>
              <a:ext uri="{FF2B5EF4-FFF2-40B4-BE49-F238E27FC236}">
                <a16:creationId xmlns:a16="http://schemas.microsoft.com/office/drawing/2014/main" id="{F2DA3471-BF32-4B98-BD1B-61E7BA405A03}"/>
              </a:ext>
            </a:extLst>
          </p:cNvPr>
          <p:cNvSpPr>
            <a:spLocks noGrp="1"/>
          </p:cNvSpPr>
          <p:nvPr/>
        </p:nvSpPr>
        <p:spPr>
          <a:xfrm>
            <a:off x="9448800" y="2381250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2" name="verify-body-4">
            <a:extLst>
              <a:ext uri="{FF2B5EF4-FFF2-40B4-BE49-F238E27FC236}">
                <a16:creationId xmlns:a16="http://schemas.microsoft.com/office/drawing/2014/main" id="{DD1B783C-8165-4CC8-997A-F748495D6551}"/>
              </a:ext>
            </a:extLst>
          </p:cNvPr>
          <p:cNvSpPr>
            <a:spLocks noGrp="1"/>
          </p:cNvSpPr>
          <p:nvPr/>
        </p:nvSpPr>
        <p:spPr>
          <a:xfrm>
            <a:off x="9448800" y="3095625"/>
            <a:ext cx="1952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Evidence, inference, and limitation separated</a:t>
            </a:r>
          </a:p>
        </p:txBody>
      </p:sp>
      <p:sp>
        <p:nvSpPr>
          <p:cNvPr id="23" name="verify-rule">
            <a:extLst>
              <a:ext uri="{FF2B5EF4-FFF2-40B4-BE49-F238E27FC236}">
                <a16:creationId xmlns:a16="http://schemas.microsoft.com/office/drawing/2014/main" id="{7EF8FFAA-C489-440A-8E7A-8CA1D4F843FB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416"/>
          </a:bodyPr>
          <a:lstStyle/>
          <a:p>
            <a:pPr algn="ctr">
              <a:lnSpc>
                <a:spcPct val="108000"/>
              </a:lnSpc>
              <a:buNone/>
              <a:defRPr sz="210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A PASS cell is evidence only when the source and expected formula are also correct.</a:t>
            </a:r>
          </a:p>
        </p:txBody>
      </p:sp>
    </p:spTree>
    <p:extLst>
      <p:ext uri="{BB962C8B-B14F-4D97-AF65-F5344CB8AC3E}">
        <p14:creationId xmlns:p14="http://schemas.microsoft.com/office/powerpoint/2010/main" val="1110224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-36">
            <a:extLst>
              <a:ext uri="{FF2B5EF4-FFF2-40B4-BE49-F238E27FC236}">
                <a16:creationId xmlns:a16="http://schemas.microsoft.com/office/drawing/2014/main" id="{DBAFE087-870F-497F-B22F-2BDEC3B4511A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identities must pass before the dashboard is accepted</a:t>
            </a:r>
          </a:p>
        </p:txBody>
      </p:sp>
      <p:sp>
        <p:nvSpPr>
          <p:cNvPr id="2" name="footer-section-36">
            <a:extLst>
              <a:ext uri="{FF2B5EF4-FFF2-40B4-BE49-F238E27FC236}">
                <a16:creationId xmlns:a16="http://schemas.microsoft.com/office/drawing/2014/main" id="{17B890B4-5863-4A19-9A55-1D5CCD31EC83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AI VERIFICATION</a:t>
            </a:r>
          </a:p>
        </p:txBody>
      </p:sp>
      <p:sp>
        <p:nvSpPr>
          <p:cNvPr id="3" name="footer-number-36">
            <a:extLst>
              <a:ext uri="{FF2B5EF4-FFF2-40B4-BE49-F238E27FC236}">
                <a16:creationId xmlns:a16="http://schemas.microsoft.com/office/drawing/2014/main" id="{A2D0B448-D0F1-4467-8BFD-F35BC70ADC72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4" name="check-label-0">
            <a:extLst>
              <a:ext uri="{FF2B5EF4-FFF2-40B4-BE49-F238E27FC236}">
                <a16:creationId xmlns:a16="http://schemas.microsoft.com/office/drawing/2014/main" id="{B8AF1F18-29B9-4DDB-8CC2-7EA0C993739E}"/>
              </a:ext>
            </a:extLst>
          </p:cNvPr>
          <p:cNvSpPr>
            <a:spLocks noGrp="1"/>
          </p:cNvSpPr>
          <p:nvPr/>
        </p:nvSpPr>
        <p:spPr>
          <a:xfrm>
            <a:off x="495300" y="15430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5" name="check-formula-0">
            <a:extLst>
              <a:ext uri="{FF2B5EF4-FFF2-40B4-BE49-F238E27FC236}">
                <a16:creationId xmlns:a16="http://schemas.microsoft.com/office/drawing/2014/main" id="{B81A616B-14F3-4251-9722-9A57D2030A1E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COGS + Gross Profit = Net Sales</a:t>
            </a:r>
          </a:p>
        </p:txBody>
      </p:sp>
      <p:sp>
        <p:nvSpPr>
          <p:cNvPr id="6" name="check-label-1">
            <a:extLst>
              <a:ext uri="{FF2B5EF4-FFF2-40B4-BE49-F238E27FC236}">
                <a16:creationId xmlns:a16="http://schemas.microsoft.com/office/drawing/2014/main" id="{89A462B0-2272-48E1-BD18-4944EA94174F}"/>
              </a:ext>
            </a:extLst>
          </p:cNvPr>
          <p:cNvSpPr>
            <a:spLocks noGrp="1"/>
          </p:cNvSpPr>
          <p:nvPr/>
        </p:nvSpPr>
        <p:spPr>
          <a:xfrm>
            <a:off x="6248400" y="15430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GROSS PROFIT</a:t>
            </a:r>
          </a:p>
        </p:txBody>
      </p:sp>
      <p:sp>
        <p:nvSpPr>
          <p:cNvPr id="7" name="check-formula-1">
            <a:extLst>
              <a:ext uri="{FF2B5EF4-FFF2-40B4-BE49-F238E27FC236}">
                <a16:creationId xmlns:a16="http://schemas.microsoft.com/office/drawing/2014/main" id="{7467A183-44C8-485B-B323-F7D570DC03D9}"/>
              </a:ext>
            </a:extLst>
          </p:cNvPr>
          <p:cNvSpPr>
            <a:spLocks noGrp="1"/>
          </p:cNvSpPr>
          <p:nvPr/>
        </p:nvSpPr>
        <p:spPr>
          <a:xfrm>
            <a:off x="6248400" y="200025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SG&amp;A + Impairment + EBIT = Gross Profit</a:t>
            </a:r>
          </a:p>
        </p:txBody>
      </p:sp>
      <p:sp>
        <p:nvSpPr>
          <p:cNvPr id="8" name="check-label-2">
            <a:extLst>
              <a:ext uri="{FF2B5EF4-FFF2-40B4-BE49-F238E27FC236}">
                <a16:creationId xmlns:a16="http://schemas.microsoft.com/office/drawing/2014/main" id="{44E41C14-8C1C-434C-99E1-79151FFEDB93}"/>
              </a:ext>
            </a:extLst>
          </p:cNvPr>
          <p:cNvSpPr>
            <a:spLocks noGrp="1"/>
          </p:cNvSpPr>
          <p:nvPr/>
        </p:nvSpPr>
        <p:spPr>
          <a:xfrm>
            <a:off x="495300" y="2924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PRETAX</a:t>
            </a:r>
          </a:p>
        </p:txBody>
      </p:sp>
      <p:sp>
        <p:nvSpPr>
          <p:cNvPr id="9" name="check-formula-2">
            <a:extLst>
              <a:ext uri="{FF2B5EF4-FFF2-40B4-BE49-F238E27FC236}">
                <a16:creationId xmlns:a16="http://schemas.microsoft.com/office/drawing/2014/main" id="{BC09D980-FBDD-4AF6-B0D7-4721F85DF031}"/>
              </a:ext>
            </a:extLst>
          </p:cNvPr>
          <p:cNvSpPr>
            <a:spLocks noGrp="1"/>
          </p:cNvSpPr>
          <p:nvPr/>
        </p:nvSpPr>
        <p:spPr>
          <a:xfrm>
            <a:off x="495300" y="3381375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EBIT - Net Non-Operating Expense = EBT</a:t>
            </a:r>
          </a:p>
        </p:txBody>
      </p:sp>
      <p:sp>
        <p:nvSpPr>
          <p:cNvPr id="10" name="check-label-3">
            <a:extLst>
              <a:ext uri="{FF2B5EF4-FFF2-40B4-BE49-F238E27FC236}">
                <a16:creationId xmlns:a16="http://schemas.microsoft.com/office/drawing/2014/main" id="{582E2879-1176-4C40-A07B-47C7351785A2}"/>
              </a:ext>
            </a:extLst>
          </p:cNvPr>
          <p:cNvSpPr>
            <a:spLocks noGrp="1"/>
          </p:cNvSpPr>
          <p:nvPr/>
        </p:nvSpPr>
        <p:spPr>
          <a:xfrm>
            <a:off x="6248400" y="29241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NET EARNINGS</a:t>
            </a:r>
          </a:p>
        </p:txBody>
      </p:sp>
      <p:sp>
        <p:nvSpPr>
          <p:cNvPr id="11" name="check-formula-3">
            <a:extLst>
              <a:ext uri="{FF2B5EF4-FFF2-40B4-BE49-F238E27FC236}">
                <a16:creationId xmlns:a16="http://schemas.microsoft.com/office/drawing/2014/main" id="{08F16637-8F75-4432-B9EF-DF41FA4B4B79}"/>
              </a:ext>
            </a:extLst>
          </p:cNvPr>
          <p:cNvSpPr>
            <a:spLocks noGrp="1"/>
          </p:cNvSpPr>
          <p:nvPr/>
        </p:nvSpPr>
        <p:spPr>
          <a:xfrm>
            <a:off x="6248400" y="3381375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EBT - Income Taxes = Net Earnings</a:t>
            </a:r>
          </a:p>
        </p:txBody>
      </p:sp>
      <p:sp>
        <p:nvSpPr>
          <p:cNvPr id="12" name="check-label-4">
            <a:extLst>
              <a:ext uri="{FF2B5EF4-FFF2-40B4-BE49-F238E27FC236}">
                <a16:creationId xmlns:a16="http://schemas.microsoft.com/office/drawing/2014/main" id="{2144C8CC-09DB-4339-AD28-6F180EEFADFC}"/>
              </a:ext>
            </a:extLst>
          </p:cNvPr>
          <p:cNvSpPr>
            <a:spLocks noGrp="1"/>
          </p:cNvSpPr>
          <p:nvPr/>
        </p:nvSpPr>
        <p:spPr>
          <a:xfrm>
            <a:off x="495300" y="43053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ADJUSTED FCF</a:t>
            </a:r>
          </a:p>
        </p:txBody>
      </p:sp>
      <p:sp>
        <p:nvSpPr>
          <p:cNvPr id="13" name="check-formula-4">
            <a:extLst>
              <a:ext uri="{FF2B5EF4-FFF2-40B4-BE49-F238E27FC236}">
                <a16:creationId xmlns:a16="http://schemas.microsoft.com/office/drawing/2014/main" id="{CBE1E367-C7E6-44EC-BE6D-89DD21AAD7BE}"/>
              </a:ext>
            </a:extLst>
          </p:cNvPr>
          <p:cNvSpPr>
            <a:spLocks noGrp="1"/>
          </p:cNvSpPr>
          <p:nvPr/>
        </p:nvSpPr>
        <p:spPr>
          <a:xfrm>
            <a:off x="495300" y="476250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Cash FCF + Tax add-back = Adjusted FCF</a:t>
            </a:r>
          </a:p>
        </p:txBody>
      </p:sp>
      <p:sp>
        <p:nvSpPr>
          <p:cNvPr id="14" name="check-label-5">
            <a:extLst>
              <a:ext uri="{FF2B5EF4-FFF2-40B4-BE49-F238E27FC236}">
                <a16:creationId xmlns:a16="http://schemas.microsoft.com/office/drawing/2014/main" id="{C59D23CD-3DFF-4EF4-9593-45B229CB1E94}"/>
              </a:ext>
            </a:extLst>
          </p:cNvPr>
          <p:cNvSpPr>
            <a:spLocks noGrp="1"/>
          </p:cNvSpPr>
          <p:nvPr/>
        </p:nvSpPr>
        <p:spPr>
          <a:xfrm>
            <a:off x="6248400" y="43053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DUPONT</a:t>
            </a:r>
          </a:p>
        </p:txBody>
      </p:sp>
      <p:sp>
        <p:nvSpPr>
          <p:cNvPr id="15" name="check-formula-5">
            <a:extLst>
              <a:ext uri="{FF2B5EF4-FFF2-40B4-BE49-F238E27FC236}">
                <a16:creationId xmlns:a16="http://schemas.microsoft.com/office/drawing/2014/main" id="{A61076DB-F430-461E-9310-5250A9B81CFD}"/>
              </a:ext>
            </a:extLst>
          </p:cNvPr>
          <p:cNvSpPr>
            <a:spLocks noGrp="1"/>
          </p:cNvSpPr>
          <p:nvPr/>
        </p:nvSpPr>
        <p:spPr>
          <a:xfrm>
            <a:off x="6248400" y="476250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of factors = Direct ROE</a:t>
            </a:r>
          </a:p>
        </p:txBody>
      </p:sp>
      <p:sp>
        <p:nvSpPr>
          <p:cNvPr id="16" name="checks-pass-panel">
            <a:extLst>
              <a:ext uri="{FF2B5EF4-FFF2-40B4-BE49-F238E27FC236}">
                <a16:creationId xmlns:a16="http://schemas.microsoft.com/office/drawing/2014/main" id="{40A59ECA-C04F-400C-94FD-E23E6154DBE2}"/>
              </a:ext>
            </a:extLst>
          </p:cNvPr>
          <p:cNvSpPr>
            <a:spLocks noGrp="1"/>
          </p:cNvSpPr>
          <p:nvPr/>
        </p:nvSpPr>
        <p:spPr>
          <a:xfrm>
            <a:off x="495300" y="5572125"/>
            <a:ext cx="10668000" cy="428625"/>
          </a:xfrm>
          <a:prstGeom prst="rect">
            <a:avLst/>
          </a:prstGeom>
          <a:solidFill>
            <a:srgbClr val="E9F5EC"/>
          </a:solidFill>
          <a:ln w="9525">
            <a:solidFill>
              <a:srgbClr val="E9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hecks-pass-text">
            <a:extLst>
              <a:ext uri="{FF2B5EF4-FFF2-40B4-BE49-F238E27FC236}">
                <a16:creationId xmlns:a16="http://schemas.microsoft.com/office/drawing/2014/main" id="{864A5CF5-4309-4870-B278-C4B4AD8AFC84}"/>
              </a:ext>
            </a:extLst>
          </p:cNvPr>
          <p:cNvSpPr>
            <a:spLocks noGrp="1"/>
          </p:cNvSpPr>
          <p:nvPr/>
        </p:nvSpPr>
        <p:spPr>
          <a:xfrm>
            <a:off x="495300" y="56388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Expected package result: PASS x 6</a:t>
            </a:r>
          </a:p>
        </p:txBody>
      </p:sp>
    </p:spTree>
    <p:extLst>
      <p:ext uri="{BB962C8B-B14F-4D97-AF65-F5344CB8AC3E}">
        <p14:creationId xmlns:p14="http://schemas.microsoft.com/office/powerpoint/2010/main" val="5693990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37">
            <a:extLst>
              <a:ext uri="{FF2B5EF4-FFF2-40B4-BE49-F238E27FC236}">
                <a16:creationId xmlns:a16="http://schemas.microsoft.com/office/drawing/2014/main" id="{C5C2FB72-B8A6-4264-9252-E21858D25912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 one meaningful human correction</a:t>
            </a:r>
          </a:p>
        </p:txBody>
      </p:sp>
      <p:sp>
        <p:nvSpPr>
          <p:cNvPr id="2" name="footer-section-37">
            <a:extLst>
              <a:ext uri="{FF2B5EF4-FFF2-40B4-BE49-F238E27FC236}">
                <a16:creationId xmlns:a16="http://schemas.microsoft.com/office/drawing/2014/main" id="{6B87641F-02A0-41C4-B0A6-6A673E7B451A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AI VERIFICATION</a:t>
            </a:r>
          </a:p>
        </p:txBody>
      </p:sp>
      <p:sp>
        <p:nvSpPr>
          <p:cNvPr id="3" name="footer-number-37">
            <a:extLst>
              <a:ext uri="{FF2B5EF4-FFF2-40B4-BE49-F238E27FC236}">
                <a16:creationId xmlns:a16="http://schemas.microsoft.com/office/drawing/2014/main" id="{E8D4539B-DA3B-4F6F-8D50-CD2F59472EC6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4" name="correction-label-0">
            <a:extLst>
              <a:ext uri="{FF2B5EF4-FFF2-40B4-BE49-F238E27FC236}">
                <a16:creationId xmlns:a16="http://schemas.microsoft.com/office/drawing/2014/main" id="{3806261A-7C99-4C7B-A2EC-2ABC0801081B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5" name="correction-body-0">
            <a:extLst>
              <a:ext uri="{FF2B5EF4-FFF2-40B4-BE49-F238E27FC236}">
                <a16:creationId xmlns:a16="http://schemas.microsoft.com/office/drawing/2014/main" id="{7697CE1E-BE2F-4E17-B4D3-55CE168EBA1A}"/>
              </a:ext>
            </a:extLst>
          </p:cNvPr>
          <p:cNvSpPr>
            <a:spLocks noGrp="1"/>
          </p:cNvSpPr>
          <p:nvPr/>
        </p:nvSpPr>
        <p:spPr>
          <a:xfrm>
            <a:off x="2857500" y="14287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a missing metric/year check.</a:t>
            </a:r>
          </a:p>
        </p:txBody>
      </p:sp>
      <p:sp>
        <p:nvSpPr>
          <p:cNvPr id="6" name="correction-evidence-0">
            <a:extLst>
              <a:ext uri="{FF2B5EF4-FFF2-40B4-BE49-F238E27FC236}">
                <a16:creationId xmlns:a16="http://schemas.microsoft.com/office/drawing/2014/main" id="{1BC390E6-B707-43DF-99E3-11BCC88E4879}"/>
              </a:ext>
            </a:extLst>
          </p:cNvPr>
          <p:cNvSpPr>
            <a:spLocks noGrp="1"/>
          </p:cNvSpPr>
          <p:nvPr/>
        </p:nvSpPr>
        <p:spPr>
          <a:xfrm>
            <a:off x="9191625" y="1428750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BEFORE -&gt; AFTER</a:t>
            </a:r>
          </a:p>
        </p:txBody>
      </p:sp>
      <p:sp>
        <p:nvSpPr>
          <p:cNvPr id="7" name="correction-label-1">
            <a:extLst>
              <a:ext uri="{FF2B5EF4-FFF2-40B4-BE49-F238E27FC236}">
                <a16:creationId xmlns:a16="http://schemas.microsoft.com/office/drawing/2014/main" id="{CEA46A75-DE66-4A67-8AF8-8C7E3FD00600}"/>
              </a:ext>
            </a:extLst>
          </p:cNvPr>
          <p:cNvSpPr>
            <a:spLocks noGrp="1"/>
          </p:cNvSpPr>
          <p:nvPr/>
        </p:nvSpPr>
        <p:spPr>
          <a:xfrm>
            <a:off x="495300" y="233362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DATA ACCESS</a:t>
            </a:r>
          </a:p>
        </p:txBody>
      </p:sp>
      <p:sp>
        <p:nvSpPr>
          <p:cNvPr id="8" name="correction-body-1">
            <a:extLst>
              <a:ext uri="{FF2B5EF4-FFF2-40B4-BE49-F238E27FC236}">
                <a16:creationId xmlns:a16="http://schemas.microsoft.com/office/drawing/2014/main" id="{B6F96769-2AB2-4502-BD8F-9AB5AD45692B}"/>
              </a:ext>
            </a:extLst>
          </p:cNvPr>
          <p:cNvSpPr>
            <a:spLocks noGrp="1"/>
          </p:cNvSpPr>
          <p:nvPr/>
        </p:nvSpPr>
        <p:spPr>
          <a:xfrm>
            <a:off x="2857500" y="2333625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Replace a fixed row number with Metric_ID.</a:t>
            </a:r>
          </a:p>
        </p:txBody>
      </p:sp>
      <p:sp>
        <p:nvSpPr>
          <p:cNvPr id="9" name="correction-evidence-1">
            <a:extLst>
              <a:ext uri="{FF2B5EF4-FFF2-40B4-BE49-F238E27FC236}">
                <a16:creationId xmlns:a16="http://schemas.microsoft.com/office/drawing/2014/main" id="{C71BC8C0-8CA1-49A9-A6E3-73A7CD769483}"/>
              </a:ext>
            </a:extLst>
          </p:cNvPr>
          <p:cNvSpPr>
            <a:spLocks noGrp="1"/>
          </p:cNvSpPr>
          <p:nvPr/>
        </p:nvSpPr>
        <p:spPr>
          <a:xfrm>
            <a:off x="9191625" y="2333625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BEFORE -&gt; AFTER</a:t>
            </a:r>
          </a:p>
        </p:txBody>
      </p:sp>
      <p:sp>
        <p:nvSpPr>
          <p:cNvPr id="10" name="correction-label-2">
            <a:extLst>
              <a:ext uri="{FF2B5EF4-FFF2-40B4-BE49-F238E27FC236}">
                <a16:creationId xmlns:a16="http://schemas.microsoft.com/office/drawing/2014/main" id="{E3FD4C39-25E8-4930-8CBD-D096BD76F7B5}"/>
              </a:ext>
            </a:extLst>
          </p:cNvPr>
          <p:cNvSpPr>
            <a:spLocks noGrp="1"/>
          </p:cNvSpPr>
          <p:nvPr/>
        </p:nvSpPr>
        <p:spPr>
          <a:xfrm>
            <a:off x="495300" y="32385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FINANCE LOGIC</a:t>
            </a:r>
          </a:p>
        </p:txBody>
      </p:sp>
      <p:sp>
        <p:nvSpPr>
          <p:cNvPr id="11" name="correction-body-2">
            <a:extLst>
              <a:ext uri="{FF2B5EF4-FFF2-40B4-BE49-F238E27FC236}">
                <a16:creationId xmlns:a16="http://schemas.microsoft.com/office/drawing/2014/main" id="{6342C8A7-9BFA-497B-AE95-8A311CEBCE46}"/>
              </a:ext>
            </a:extLst>
          </p:cNvPr>
          <p:cNvSpPr>
            <a:spLocks noGrp="1"/>
          </p:cNvSpPr>
          <p:nvPr/>
        </p:nvSpPr>
        <p:spPr>
          <a:xfrm>
            <a:off x="2857500" y="323850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a sign, denominator, average, or interval.</a:t>
            </a:r>
          </a:p>
        </p:txBody>
      </p:sp>
      <p:sp>
        <p:nvSpPr>
          <p:cNvPr id="12" name="correction-evidence-2">
            <a:extLst>
              <a:ext uri="{FF2B5EF4-FFF2-40B4-BE49-F238E27FC236}">
                <a16:creationId xmlns:a16="http://schemas.microsoft.com/office/drawing/2014/main" id="{3B17C635-5DF7-4C7F-A810-818920E76F83}"/>
              </a:ext>
            </a:extLst>
          </p:cNvPr>
          <p:cNvSpPr>
            <a:spLocks noGrp="1"/>
          </p:cNvSpPr>
          <p:nvPr/>
        </p:nvSpPr>
        <p:spPr>
          <a:xfrm>
            <a:off x="9191625" y="3238500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BEFORE -&gt; AFTER</a:t>
            </a:r>
          </a:p>
        </p:txBody>
      </p:sp>
      <p:sp>
        <p:nvSpPr>
          <p:cNvPr id="13" name="correction-label-3">
            <a:extLst>
              <a:ext uri="{FF2B5EF4-FFF2-40B4-BE49-F238E27FC236}">
                <a16:creationId xmlns:a16="http://schemas.microsoft.com/office/drawing/2014/main" id="{A940E17D-37DB-4C12-91EB-AF5446B3DFBC}"/>
              </a:ext>
            </a:extLst>
          </p:cNvPr>
          <p:cNvSpPr>
            <a:spLocks noGrp="1"/>
          </p:cNvSpPr>
          <p:nvPr/>
        </p:nvSpPr>
        <p:spPr>
          <a:xfrm>
            <a:off x="495300" y="41433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VISUAL TRUTH</a:t>
            </a:r>
          </a:p>
        </p:txBody>
      </p:sp>
      <p:sp>
        <p:nvSpPr>
          <p:cNvPr id="14" name="correction-body-3">
            <a:extLst>
              <a:ext uri="{FF2B5EF4-FFF2-40B4-BE49-F238E27FC236}">
                <a16:creationId xmlns:a16="http://schemas.microsoft.com/office/drawing/2014/main" id="{3FEF22BA-70A2-45F4-966E-07E2BF569CCD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 a misleading axis, width, unit, or label.</a:t>
            </a:r>
          </a:p>
        </p:txBody>
      </p:sp>
      <p:sp>
        <p:nvSpPr>
          <p:cNvPr id="15" name="correction-evidence-3">
            <a:extLst>
              <a:ext uri="{FF2B5EF4-FFF2-40B4-BE49-F238E27FC236}">
                <a16:creationId xmlns:a16="http://schemas.microsoft.com/office/drawing/2014/main" id="{E6840615-89B3-498A-BD16-B8E6580A92B1}"/>
              </a:ext>
            </a:extLst>
          </p:cNvPr>
          <p:cNvSpPr>
            <a:spLocks noGrp="1"/>
          </p:cNvSpPr>
          <p:nvPr/>
        </p:nvSpPr>
        <p:spPr>
          <a:xfrm>
            <a:off x="9191625" y="4143375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BEFORE -&gt; AFTER</a:t>
            </a:r>
          </a:p>
        </p:txBody>
      </p:sp>
      <p:sp>
        <p:nvSpPr>
          <p:cNvPr id="16" name="correction-label-4">
            <a:extLst>
              <a:ext uri="{FF2B5EF4-FFF2-40B4-BE49-F238E27FC236}">
                <a16:creationId xmlns:a16="http://schemas.microsoft.com/office/drawing/2014/main" id="{7C4BAE71-8BAE-42CD-9BCC-3C170E2B2678}"/>
              </a:ext>
            </a:extLst>
          </p:cNvPr>
          <p:cNvSpPr>
            <a:spLocks noGrp="1"/>
          </p:cNvSpPr>
          <p:nvPr/>
        </p:nvSpPr>
        <p:spPr>
          <a:xfrm>
            <a:off x="495300" y="50482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7" name="correction-body-4">
            <a:extLst>
              <a:ext uri="{FF2B5EF4-FFF2-40B4-BE49-F238E27FC236}">
                <a16:creationId xmlns:a16="http://schemas.microsoft.com/office/drawing/2014/main" id="{1755015D-90A0-4BEF-9D9E-3C4825EAF71F}"/>
              </a:ext>
            </a:extLst>
          </p:cNvPr>
          <p:cNvSpPr>
            <a:spLocks noGrp="1"/>
          </p:cNvSpPr>
          <p:nvPr/>
        </p:nvSpPr>
        <p:spPr>
          <a:xfrm>
            <a:off x="2857500" y="50482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fact from inference and add a limitation.</a:t>
            </a:r>
          </a:p>
        </p:txBody>
      </p:sp>
      <p:sp>
        <p:nvSpPr>
          <p:cNvPr id="18" name="correction-evidence-4">
            <a:extLst>
              <a:ext uri="{FF2B5EF4-FFF2-40B4-BE49-F238E27FC236}">
                <a16:creationId xmlns:a16="http://schemas.microsoft.com/office/drawing/2014/main" id="{19F66771-64A3-491E-BFA6-30E2FC8F2257}"/>
              </a:ext>
            </a:extLst>
          </p:cNvPr>
          <p:cNvSpPr>
            <a:spLocks noGrp="1"/>
          </p:cNvSpPr>
          <p:nvPr/>
        </p:nvSpPr>
        <p:spPr>
          <a:xfrm>
            <a:off x="9191625" y="5048250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BEFORE -&gt; AFTER</a:t>
            </a:r>
          </a:p>
        </p:txBody>
      </p:sp>
    </p:spTree>
    <p:extLst>
      <p:ext uri="{BB962C8B-B14F-4D97-AF65-F5344CB8AC3E}">
        <p14:creationId xmlns:p14="http://schemas.microsoft.com/office/powerpoint/2010/main" val="1550415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38">
            <a:extLst>
              <a:ext uri="{FF2B5EF4-FFF2-40B4-BE49-F238E27FC236}">
                <a16:creationId xmlns:a16="http://schemas.microsoft.com/office/drawing/2014/main" id="{6F356630-F83F-45AC-BF5F-3024D80A5B09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strong executive story connects the lenses without overclaiming</a:t>
            </a:r>
          </a:p>
        </p:txBody>
      </p:sp>
      <p:sp>
        <p:nvSpPr>
          <p:cNvPr id="2" name="footer-section-38">
            <a:extLst>
              <a:ext uri="{FF2B5EF4-FFF2-40B4-BE49-F238E27FC236}">
                <a16:creationId xmlns:a16="http://schemas.microsoft.com/office/drawing/2014/main" id="{9B4277A2-0BC5-4148-A40E-91B28C84FB1F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FINANCIAL STORY</a:t>
            </a:r>
          </a:p>
        </p:txBody>
      </p:sp>
      <p:sp>
        <p:nvSpPr>
          <p:cNvPr id="3" name="footer-number-38">
            <a:extLst>
              <a:ext uri="{FF2B5EF4-FFF2-40B4-BE49-F238E27FC236}">
                <a16:creationId xmlns:a16="http://schemas.microsoft.com/office/drawing/2014/main" id="{0B887224-EDCF-458A-BC21-961A0CF32E47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" name="synthesis-main">
            <a:extLst>
              <a:ext uri="{FF2B5EF4-FFF2-40B4-BE49-F238E27FC236}">
                <a16:creationId xmlns:a16="http://schemas.microsoft.com/office/drawing/2014/main" id="{7A349D28-B405-4D31-889D-52B1C324E1F0}"/>
              </a:ext>
            </a:extLst>
          </p:cNvPr>
          <p:cNvSpPr>
            <a:spLocks noGrp="1"/>
          </p:cNvSpPr>
          <p:nvPr/>
        </p:nvSpPr>
        <p:spPr>
          <a:xfrm>
            <a:off x="495300" y="1666875"/>
            <a:ext cx="10668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850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P&amp;G's FY2025 story is one of mature top-line growth, strong profitability, substantial cash generation, and a high ROE supported by margin and magnified by leverage.</a:t>
            </a:r>
          </a:p>
        </p:txBody>
      </p:sp>
      <p:sp>
        <p:nvSpPr>
          <p:cNvPr id="5" name="synthesis-label-0">
            <a:extLst>
              <a:ext uri="{FF2B5EF4-FFF2-40B4-BE49-F238E27FC236}">
                <a16:creationId xmlns:a16="http://schemas.microsoft.com/office/drawing/2014/main" id="{7D6E19BC-AED7-47CE-8518-9B915D5A7CA4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PROFIT</a:t>
            </a:r>
          </a:p>
        </p:txBody>
      </p:sp>
      <p:sp>
        <p:nvSpPr>
          <p:cNvPr id="6" name="synthesis-body-0">
            <a:extLst>
              <a:ext uri="{FF2B5EF4-FFF2-40B4-BE49-F238E27FC236}">
                <a16:creationId xmlns:a16="http://schemas.microsoft.com/office/drawing/2014/main" id="{1AD85064-B7D7-4C8D-9B5A-BE3D6F1CA935}"/>
              </a:ext>
            </a:extLst>
          </p:cNvPr>
          <p:cNvSpPr>
            <a:spLocks noGrp="1"/>
          </p:cNvSpPr>
          <p:nvPr/>
        </p:nvSpPr>
        <p:spPr>
          <a:xfrm>
            <a:off x="495300" y="4210050"/>
            <a:ext cx="2381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19.1% net margin; product cost and SG&amp;A dominate the sales-dollar flow.</a:t>
            </a:r>
          </a:p>
        </p:txBody>
      </p:sp>
      <p:sp>
        <p:nvSpPr>
          <p:cNvPr id="7" name="synthesis-label-1">
            <a:extLst>
              <a:ext uri="{FF2B5EF4-FFF2-40B4-BE49-F238E27FC236}">
                <a16:creationId xmlns:a16="http://schemas.microsoft.com/office/drawing/2014/main" id="{C47872C9-A648-438E-88CC-73E1037C2562}"/>
              </a:ext>
            </a:extLst>
          </p:cNvPr>
          <p:cNvSpPr>
            <a:spLocks noGrp="1"/>
          </p:cNvSpPr>
          <p:nvPr/>
        </p:nvSpPr>
        <p:spPr>
          <a:xfrm>
            <a:off x="3257550" y="3714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CASH</a:t>
            </a:r>
          </a:p>
        </p:txBody>
      </p:sp>
      <p:sp>
        <p:nvSpPr>
          <p:cNvPr id="8" name="synthesis-body-1">
            <a:extLst>
              <a:ext uri="{FF2B5EF4-FFF2-40B4-BE49-F238E27FC236}">
                <a16:creationId xmlns:a16="http://schemas.microsoft.com/office/drawing/2014/main" id="{947CB11F-E489-4BF9-A345-36911DA8271C}"/>
              </a:ext>
            </a:extLst>
          </p:cNvPr>
          <p:cNvSpPr>
            <a:spLocks noGrp="1"/>
          </p:cNvSpPr>
          <p:nvPr/>
        </p:nvSpPr>
        <p:spPr>
          <a:xfrm>
            <a:off x="3257550" y="4210050"/>
            <a:ext cx="2381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$14.0B cash FCF; $14.6B adjusted FCF after a company add-back.</a:t>
            </a:r>
          </a:p>
        </p:txBody>
      </p:sp>
      <p:sp>
        <p:nvSpPr>
          <p:cNvPr id="9" name="synthesis-label-2">
            <a:extLst>
              <a:ext uri="{FF2B5EF4-FFF2-40B4-BE49-F238E27FC236}">
                <a16:creationId xmlns:a16="http://schemas.microsoft.com/office/drawing/2014/main" id="{7C24C2A5-3A25-4A77-BE97-E43EA6B57CD6}"/>
              </a:ext>
            </a:extLst>
          </p:cNvPr>
          <p:cNvSpPr>
            <a:spLocks noGrp="1"/>
          </p:cNvSpPr>
          <p:nvPr/>
        </p:nvSpPr>
        <p:spPr>
          <a:xfrm>
            <a:off x="6019800" y="3714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0" name="synthesis-body-2">
            <a:extLst>
              <a:ext uri="{FF2B5EF4-FFF2-40B4-BE49-F238E27FC236}">
                <a16:creationId xmlns:a16="http://schemas.microsoft.com/office/drawing/2014/main" id="{BEA09095-DA40-4384-A92B-9B1AEEB450FC}"/>
              </a:ext>
            </a:extLst>
          </p:cNvPr>
          <p:cNvSpPr>
            <a:spLocks noGrp="1"/>
          </p:cNvSpPr>
          <p:nvPr/>
        </p:nvSpPr>
        <p:spPr>
          <a:xfrm>
            <a:off x="6019800" y="4210050"/>
            <a:ext cx="2381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EPS CAGR 4.30% exceeded sales CAGR 2.58%; causes require further analysis.</a:t>
            </a:r>
          </a:p>
        </p:txBody>
      </p:sp>
      <p:sp>
        <p:nvSpPr>
          <p:cNvPr id="11" name="synthesis-label-3">
            <a:extLst>
              <a:ext uri="{FF2B5EF4-FFF2-40B4-BE49-F238E27FC236}">
                <a16:creationId xmlns:a16="http://schemas.microsoft.com/office/drawing/2014/main" id="{C32FCC41-CBEF-4EC1-896C-FA73132B62A2}"/>
              </a:ext>
            </a:extLst>
          </p:cNvPr>
          <p:cNvSpPr>
            <a:spLocks noGrp="1"/>
          </p:cNvSpPr>
          <p:nvPr/>
        </p:nvSpPr>
        <p:spPr>
          <a:xfrm>
            <a:off x="8782050" y="3714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2" name="synthesis-body-3">
            <a:extLst>
              <a:ext uri="{FF2B5EF4-FFF2-40B4-BE49-F238E27FC236}">
                <a16:creationId xmlns:a16="http://schemas.microsoft.com/office/drawing/2014/main" id="{93D759C8-292B-4196-AEA2-234F39268F0E}"/>
              </a:ext>
            </a:extLst>
          </p:cNvPr>
          <p:cNvSpPr>
            <a:spLocks noGrp="1"/>
          </p:cNvSpPr>
          <p:nvPr/>
        </p:nvSpPr>
        <p:spPr>
          <a:xfrm>
            <a:off x="8782050" y="4210050"/>
            <a:ext cx="2381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31.24% ROE includes a 2.408x equity multiplier and its associated leverage risk.</a:t>
            </a:r>
          </a:p>
        </p:txBody>
      </p:sp>
    </p:spTree>
    <p:extLst>
      <p:ext uri="{BB962C8B-B14F-4D97-AF65-F5344CB8AC3E}">
        <p14:creationId xmlns:p14="http://schemas.microsoft.com/office/powerpoint/2010/main" val="622891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39">
            <a:extLst>
              <a:ext uri="{FF2B5EF4-FFF2-40B4-BE49-F238E27FC236}">
                <a16:creationId xmlns:a16="http://schemas.microsoft.com/office/drawing/2014/main" id="{42C60C70-00E4-4254-9F54-AC90A6BAE83F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Submit the full evidence package - not only the pictures</a:t>
            </a:r>
          </a:p>
        </p:txBody>
      </p:sp>
      <p:sp>
        <p:nvSpPr>
          <p:cNvPr id="2" name="footer-section-39">
            <a:extLst>
              <a:ext uri="{FF2B5EF4-FFF2-40B4-BE49-F238E27FC236}">
                <a16:creationId xmlns:a16="http://schemas.microsoft.com/office/drawing/2014/main" id="{99F33DD9-01D2-4073-A23D-1EE27CA17AE7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REQUIRED DELIVERABLES</a:t>
            </a:r>
          </a:p>
        </p:txBody>
      </p:sp>
      <p:sp>
        <p:nvSpPr>
          <p:cNvPr id="3" name="footer-number-39">
            <a:extLst>
              <a:ext uri="{FF2B5EF4-FFF2-40B4-BE49-F238E27FC236}">
                <a16:creationId xmlns:a16="http://schemas.microsoft.com/office/drawing/2014/main" id="{9E04708F-2D53-40AE-B99E-D7447FB94266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deliverable-left-label">
            <a:extLst>
              <a:ext uri="{FF2B5EF4-FFF2-40B4-BE49-F238E27FC236}">
                <a16:creationId xmlns:a16="http://schemas.microsoft.com/office/drawing/2014/main" id="{9D303110-0515-4CBE-909E-8E5C8069C5F9}"/>
              </a:ext>
            </a:extLst>
          </p:cNvPr>
          <p:cNvSpPr>
            <a:spLocks noGrp="1"/>
          </p:cNvSpPr>
          <p:nvPr/>
        </p:nvSpPr>
        <p:spPr>
          <a:xfrm>
            <a:off x="495300" y="157162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5" name="deliverable-left">
            <a:extLst>
              <a:ext uri="{FF2B5EF4-FFF2-40B4-BE49-F238E27FC236}">
                <a16:creationId xmlns:a16="http://schemas.microsoft.com/office/drawing/2014/main" id="{556E6B68-AA8E-4B83-A47B-E0588ED7318F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Completed student workbook</a:t>
            </a:r>
          </a:p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Executable pg_financial_story.py</a:t>
            </a:r>
          </a:p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Four individual PNG visuals</a:t>
            </a:r>
          </a:p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One combined dashboard PNG</a:t>
            </a:r>
          </a:p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Sanity-check CSV</a:t>
            </a:r>
          </a:p>
        </p:txBody>
      </p:sp>
      <p:cxnSp>
        <p:nvCxnSpPr>
          <p:cNvPr id="15" name="deliverable-divider"/>
          <p:cNvCxnSpPr/>
          <p:nvPr/>
        </p:nvCxnSpPr>
        <p:spPr>
          <a:xfrm>
            <a:off x="6000750" y="1428750"/>
            <a:ext cx="0" cy="40005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7" name="deliverable-right-label">
            <a:extLst>
              <a:ext uri="{FF2B5EF4-FFF2-40B4-BE49-F238E27FC236}">
                <a16:creationId xmlns:a16="http://schemas.microsoft.com/office/drawing/2014/main" id="{523D83C9-ACA1-49C6-BE2C-F548CD8DC83F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AUDIT + COMMUNICATION</a:t>
            </a:r>
          </a:p>
        </p:txBody>
      </p:sp>
      <p:sp>
        <p:nvSpPr>
          <p:cNvPr id="8" name="deliverable-right">
            <a:extLst>
              <a:ext uri="{FF2B5EF4-FFF2-40B4-BE49-F238E27FC236}">
                <a16:creationId xmlns:a16="http://schemas.microsoft.com/office/drawing/2014/main" id="{3787D276-E1D0-4024-9F8E-7602FB6FC8E3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Exact AI prompt history</a:t>
            </a:r>
          </a:p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REM block and annotated code</a:t>
            </a:r>
          </a:p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Completed AI verification log</a:t>
            </a:r>
          </a:p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Two-page financial interpretation</a:t>
            </a:r>
          </a:p>
          <a:p>
            <a:pPr marL="24" indent="-12" algn="l">
              <a:spcAft>
                <a:spcPts val="13"/>
              </a:spcAft>
              <a:buChar char="•"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Five-minute team presentation</a:t>
            </a:r>
          </a:p>
        </p:txBody>
      </p:sp>
      <p:sp>
        <p:nvSpPr>
          <p:cNvPr id="9" name="deliverable-test">
            <a:extLst>
              <a:ext uri="{FF2B5EF4-FFF2-40B4-BE49-F238E27FC236}">
                <a16:creationId xmlns:a16="http://schemas.microsoft.com/office/drawing/2014/main" id="{CC7FA7A3-4E68-438D-B1E8-7782A369335E}"/>
              </a:ext>
            </a:extLst>
          </p:cNvPr>
          <p:cNvSpPr>
            <a:spLocks noGrp="1"/>
          </p:cNvSpPr>
          <p:nvPr/>
        </p:nvSpPr>
        <p:spPr>
          <a:xfrm>
            <a:off x="495300" y="5476875"/>
            <a:ext cx="1057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025" b="1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Portable run test: submit a folder another team can execute.</a:t>
            </a:r>
          </a:p>
        </p:txBody>
      </p:sp>
    </p:spTree>
    <p:extLst>
      <p:ext uri="{BB962C8B-B14F-4D97-AF65-F5344CB8AC3E}">
        <p14:creationId xmlns:p14="http://schemas.microsoft.com/office/powerpoint/2010/main" val="3448700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40">
            <a:extLst>
              <a:ext uri="{FF2B5EF4-FFF2-40B4-BE49-F238E27FC236}">
                <a16:creationId xmlns:a16="http://schemas.microsoft.com/office/drawing/2014/main" id="{AC47D998-7C6B-4728-A6AC-A8DB2A578630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Your five-minute presentation is an argument with evidence</a:t>
            </a:r>
          </a:p>
        </p:txBody>
      </p:sp>
      <p:sp>
        <p:nvSpPr>
          <p:cNvPr id="2" name="footer-section-40">
            <a:extLst>
              <a:ext uri="{FF2B5EF4-FFF2-40B4-BE49-F238E27FC236}">
                <a16:creationId xmlns:a16="http://schemas.microsoft.com/office/drawing/2014/main" id="{4E38F2CA-C391-4768-955D-B0F1DBB6BAA6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PRESENTATION EXPECTATIONS</a:t>
            </a:r>
          </a:p>
        </p:txBody>
      </p:sp>
      <p:sp>
        <p:nvSpPr>
          <p:cNvPr id="3" name="footer-number-40">
            <a:extLst>
              <a:ext uri="{FF2B5EF4-FFF2-40B4-BE49-F238E27FC236}">
                <a16:creationId xmlns:a16="http://schemas.microsoft.com/office/drawing/2014/main" id="{BED7383E-3B48-44B7-A672-06125169B1B8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" name="presentation-time-0">
            <a:extLst>
              <a:ext uri="{FF2B5EF4-FFF2-40B4-BE49-F238E27FC236}">
                <a16:creationId xmlns:a16="http://schemas.microsoft.com/office/drawing/2014/main" id="{09CAB06C-2F77-4F09-9398-70D14D02F9AB}"/>
              </a:ext>
            </a:extLst>
          </p:cNvPr>
          <p:cNvSpPr>
            <a:spLocks noGrp="1"/>
          </p:cNvSpPr>
          <p:nvPr/>
        </p:nvSpPr>
        <p:spPr>
          <a:xfrm>
            <a:off x="495300" y="138112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0:00</a:t>
            </a:r>
          </a:p>
        </p:txBody>
      </p:sp>
      <p:sp>
        <p:nvSpPr>
          <p:cNvPr id="5" name="presentation-label-0">
            <a:extLst>
              <a:ext uri="{FF2B5EF4-FFF2-40B4-BE49-F238E27FC236}">
                <a16:creationId xmlns:a16="http://schemas.microsoft.com/office/drawing/2014/main" id="{549D741F-9CE9-4221-A3F6-82C1BF1A998F}"/>
              </a:ext>
            </a:extLst>
          </p:cNvPr>
          <p:cNvSpPr>
            <a:spLocks noGrp="1"/>
          </p:cNvSpPr>
          <p:nvPr/>
        </p:nvSpPr>
        <p:spPr>
          <a:xfrm>
            <a:off x="1714500" y="138112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THESIS</a:t>
            </a:r>
          </a:p>
        </p:txBody>
      </p:sp>
      <p:sp>
        <p:nvSpPr>
          <p:cNvPr id="6" name="presentation-body-0">
            <a:extLst>
              <a:ext uri="{FF2B5EF4-FFF2-40B4-BE49-F238E27FC236}">
                <a16:creationId xmlns:a16="http://schemas.microsoft.com/office/drawing/2014/main" id="{9344C6A3-EF97-42ED-AE0E-9366918432B8}"/>
              </a:ext>
            </a:extLst>
          </p:cNvPr>
          <p:cNvSpPr>
            <a:spLocks noGrp="1"/>
          </p:cNvSpPr>
          <p:nvPr/>
        </p:nvSpPr>
        <p:spPr>
          <a:xfrm>
            <a:off x="4095750" y="1381125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State the most important conclusion.</a:t>
            </a:r>
          </a:p>
        </p:txBody>
      </p:sp>
      <p:sp>
        <p:nvSpPr>
          <p:cNvPr id="7" name="presentation-time-1">
            <a:extLst>
              <a:ext uri="{FF2B5EF4-FFF2-40B4-BE49-F238E27FC236}">
                <a16:creationId xmlns:a16="http://schemas.microsoft.com/office/drawing/2014/main" id="{686BFAE8-F7CB-4E8D-9971-95C378E082D9}"/>
              </a:ext>
            </a:extLst>
          </p:cNvPr>
          <p:cNvSpPr>
            <a:spLocks noGrp="1"/>
          </p:cNvSpPr>
          <p:nvPr/>
        </p:nvSpPr>
        <p:spPr>
          <a:xfrm>
            <a:off x="495300" y="21240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0:30</a:t>
            </a:r>
          </a:p>
        </p:txBody>
      </p:sp>
      <p:sp>
        <p:nvSpPr>
          <p:cNvPr id="8" name="presentation-label-1">
            <a:extLst>
              <a:ext uri="{FF2B5EF4-FFF2-40B4-BE49-F238E27FC236}">
                <a16:creationId xmlns:a16="http://schemas.microsoft.com/office/drawing/2014/main" id="{160B9B0A-56C6-4581-B999-208AB1BB895E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SANKEY</a:t>
            </a:r>
          </a:p>
        </p:txBody>
      </p:sp>
      <p:sp>
        <p:nvSpPr>
          <p:cNvPr id="9" name="presentation-body-1">
            <a:extLst>
              <a:ext uri="{FF2B5EF4-FFF2-40B4-BE49-F238E27FC236}">
                <a16:creationId xmlns:a16="http://schemas.microsoft.com/office/drawing/2014/main" id="{4DBAFD11-E296-42BA-9075-F983DCA31E50}"/>
              </a:ext>
            </a:extLst>
          </p:cNvPr>
          <p:cNvSpPr>
            <a:spLocks noGrp="1"/>
          </p:cNvSpPr>
          <p:nvPr/>
        </p:nvSpPr>
        <p:spPr>
          <a:xfrm>
            <a:off x="4095750" y="2124075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Show the sales-dollar flow and one identity.</a:t>
            </a:r>
          </a:p>
        </p:txBody>
      </p:sp>
      <p:sp>
        <p:nvSpPr>
          <p:cNvPr id="10" name="presentation-time-2">
            <a:extLst>
              <a:ext uri="{FF2B5EF4-FFF2-40B4-BE49-F238E27FC236}">
                <a16:creationId xmlns:a16="http://schemas.microsoft.com/office/drawing/2014/main" id="{E44DD944-6DEF-4976-A2D5-B25BFBA9A48E}"/>
              </a:ext>
            </a:extLst>
          </p:cNvPr>
          <p:cNvSpPr>
            <a:spLocks noGrp="1"/>
          </p:cNvSpPr>
          <p:nvPr/>
        </p:nvSpPr>
        <p:spPr>
          <a:xfrm>
            <a:off x="495300" y="286702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1:30</a:t>
            </a:r>
          </a:p>
        </p:txBody>
      </p:sp>
      <p:sp>
        <p:nvSpPr>
          <p:cNvPr id="11" name="presentation-label-2">
            <a:extLst>
              <a:ext uri="{FF2B5EF4-FFF2-40B4-BE49-F238E27FC236}">
                <a16:creationId xmlns:a16="http://schemas.microsoft.com/office/drawing/2014/main" id="{578E1FC9-7C3B-4DDB-8AE9-EBBF217DAD99}"/>
              </a:ext>
            </a:extLst>
          </p:cNvPr>
          <p:cNvSpPr>
            <a:spLocks noGrp="1"/>
          </p:cNvSpPr>
          <p:nvPr/>
        </p:nvSpPr>
        <p:spPr>
          <a:xfrm>
            <a:off x="1714500" y="286702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FCF</a:t>
            </a:r>
          </a:p>
        </p:txBody>
      </p:sp>
      <p:sp>
        <p:nvSpPr>
          <p:cNvPr id="12" name="presentation-body-2">
            <a:extLst>
              <a:ext uri="{FF2B5EF4-FFF2-40B4-BE49-F238E27FC236}">
                <a16:creationId xmlns:a16="http://schemas.microsoft.com/office/drawing/2014/main" id="{8B6783D7-BA12-48AD-B93C-84F4E14E24EF}"/>
              </a:ext>
            </a:extLst>
          </p:cNvPr>
          <p:cNvSpPr>
            <a:spLocks noGrp="1"/>
          </p:cNvSpPr>
          <p:nvPr/>
        </p:nvSpPr>
        <p:spPr>
          <a:xfrm>
            <a:off x="4095750" y="2867025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Distinguish three measures and explain the residual.</a:t>
            </a:r>
          </a:p>
        </p:txBody>
      </p:sp>
      <p:sp>
        <p:nvSpPr>
          <p:cNvPr id="13" name="presentation-time-3">
            <a:extLst>
              <a:ext uri="{FF2B5EF4-FFF2-40B4-BE49-F238E27FC236}">
                <a16:creationId xmlns:a16="http://schemas.microsoft.com/office/drawing/2014/main" id="{78F8A7AF-91C0-45A1-9F07-9CED3E0808CC}"/>
              </a:ext>
            </a:extLst>
          </p:cNvPr>
          <p:cNvSpPr>
            <a:spLocks noGrp="1"/>
          </p:cNvSpPr>
          <p:nvPr/>
        </p:nvSpPr>
        <p:spPr>
          <a:xfrm>
            <a:off x="495300" y="36099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2:30</a:t>
            </a:r>
          </a:p>
        </p:txBody>
      </p:sp>
      <p:sp>
        <p:nvSpPr>
          <p:cNvPr id="14" name="presentation-label-3">
            <a:extLst>
              <a:ext uri="{FF2B5EF4-FFF2-40B4-BE49-F238E27FC236}">
                <a16:creationId xmlns:a16="http://schemas.microsoft.com/office/drawing/2014/main" id="{FAE888AC-D46C-4601-855F-A19DC85DF01A}"/>
              </a:ext>
            </a:extLst>
          </p:cNvPr>
          <p:cNvSpPr>
            <a:spLocks noGrp="1"/>
          </p:cNvSpPr>
          <p:nvPr/>
        </p:nvSpPr>
        <p:spPr>
          <a:xfrm>
            <a:off x="1714500" y="36099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TREND + DUPONT</a:t>
            </a:r>
          </a:p>
        </p:txBody>
      </p:sp>
      <p:sp>
        <p:nvSpPr>
          <p:cNvPr id="15" name="presentation-body-3">
            <a:extLst>
              <a:ext uri="{FF2B5EF4-FFF2-40B4-BE49-F238E27FC236}">
                <a16:creationId xmlns:a16="http://schemas.microsoft.com/office/drawing/2014/main" id="{F7F66315-73A2-4CA8-B83B-DB4E10244180}"/>
              </a:ext>
            </a:extLst>
          </p:cNvPr>
          <p:cNvSpPr>
            <a:spLocks noGrp="1"/>
          </p:cNvSpPr>
          <p:nvPr/>
        </p:nvSpPr>
        <p:spPr>
          <a:xfrm>
            <a:off x="4095750" y="3609975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Explain growth gap, margin, efficiency, leverage.</a:t>
            </a:r>
          </a:p>
        </p:txBody>
      </p:sp>
      <p:sp>
        <p:nvSpPr>
          <p:cNvPr id="16" name="presentation-time-4">
            <a:extLst>
              <a:ext uri="{FF2B5EF4-FFF2-40B4-BE49-F238E27FC236}">
                <a16:creationId xmlns:a16="http://schemas.microsoft.com/office/drawing/2014/main" id="{5D4DF6AF-C7FE-4129-96B6-D8B7E4C18CB0}"/>
              </a:ext>
            </a:extLst>
          </p:cNvPr>
          <p:cNvSpPr>
            <a:spLocks noGrp="1"/>
          </p:cNvSpPr>
          <p:nvPr/>
        </p:nvSpPr>
        <p:spPr>
          <a:xfrm>
            <a:off x="495300" y="435292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3:30</a:t>
            </a:r>
          </a:p>
        </p:txBody>
      </p:sp>
      <p:sp>
        <p:nvSpPr>
          <p:cNvPr id="17" name="presentation-label-4">
            <a:extLst>
              <a:ext uri="{FF2B5EF4-FFF2-40B4-BE49-F238E27FC236}">
                <a16:creationId xmlns:a16="http://schemas.microsoft.com/office/drawing/2014/main" id="{AD1E35C1-C574-4340-9EBF-4515A0254424}"/>
              </a:ext>
            </a:extLst>
          </p:cNvPr>
          <p:cNvSpPr>
            <a:spLocks noGrp="1"/>
          </p:cNvSpPr>
          <p:nvPr/>
        </p:nvSpPr>
        <p:spPr>
          <a:xfrm>
            <a:off x="1714500" y="435292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AUDIT</a:t>
            </a:r>
          </a:p>
        </p:txBody>
      </p:sp>
      <p:sp>
        <p:nvSpPr>
          <p:cNvPr id="18" name="presentation-body-4">
            <a:extLst>
              <a:ext uri="{FF2B5EF4-FFF2-40B4-BE49-F238E27FC236}">
                <a16:creationId xmlns:a16="http://schemas.microsoft.com/office/drawing/2014/main" id="{FFB49807-8CDC-4980-A491-406350D1DF89}"/>
              </a:ext>
            </a:extLst>
          </p:cNvPr>
          <p:cNvSpPr>
            <a:spLocks noGrp="1"/>
          </p:cNvSpPr>
          <p:nvPr/>
        </p:nvSpPr>
        <p:spPr>
          <a:xfrm>
            <a:off x="4095750" y="4352925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Show one correction, one check, one visual risk.</a:t>
            </a:r>
          </a:p>
        </p:txBody>
      </p:sp>
      <p:sp>
        <p:nvSpPr>
          <p:cNvPr id="19" name="presentation-time-5">
            <a:extLst>
              <a:ext uri="{FF2B5EF4-FFF2-40B4-BE49-F238E27FC236}">
                <a16:creationId xmlns:a16="http://schemas.microsoft.com/office/drawing/2014/main" id="{F401188C-AF02-4BAE-8BF0-4C28688406C3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4:30</a:t>
            </a:r>
          </a:p>
        </p:txBody>
      </p:sp>
      <p:sp>
        <p:nvSpPr>
          <p:cNvPr id="20" name="presentation-label-5">
            <a:extLst>
              <a:ext uri="{FF2B5EF4-FFF2-40B4-BE49-F238E27FC236}">
                <a16:creationId xmlns:a16="http://schemas.microsoft.com/office/drawing/2014/main" id="{82A2CB17-40E5-4B53-A02E-87062DD5F5EC}"/>
              </a:ext>
            </a:extLst>
          </p:cNvPr>
          <p:cNvSpPr>
            <a:spLocks noGrp="1"/>
          </p:cNvSpPr>
          <p:nvPr/>
        </p:nvSpPr>
        <p:spPr>
          <a:xfrm>
            <a:off x="1714500" y="50958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CAVEAT + CLOSE</a:t>
            </a:r>
          </a:p>
        </p:txBody>
      </p:sp>
      <p:sp>
        <p:nvSpPr>
          <p:cNvPr id="21" name="presentation-body-5">
            <a:extLst>
              <a:ext uri="{FF2B5EF4-FFF2-40B4-BE49-F238E27FC236}">
                <a16:creationId xmlns:a16="http://schemas.microsoft.com/office/drawing/2014/main" id="{090812D5-E1B1-4997-973B-3122C60B2E8A}"/>
              </a:ext>
            </a:extLst>
          </p:cNvPr>
          <p:cNvSpPr>
            <a:spLocks noGrp="1"/>
          </p:cNvSpPr>
          <p:nvPr/>
        </p:nvSpPr>
        <p:spPr>
          <a:xfrm>
            <a:off x="4095750" y="5095875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Name a limitation and return to the thesis.</a:t>
            </a:r>
          </a:p>
        </p:txBody>
      </p:sp>
    </p:spTree>
    <p:extLst>
      <p:ext uri="{BB962C8B-B14F-4D97-AF65-F5344CB8AC3E}">
        <p14:creationId xmlns:p14="http://schemas.microsoft.com/office/powerpoint/2010/main" val="4769495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41">
            <a:extLst>
              <a:ext uri="{FF2B5EF4-FFF2-40B4-BE49-F238E27FC236}">
                <a16:creationId xmlns:a16="http://schemas.microsoft.com/office/drawing/2014/main" id="{929545A1-45FD-482C-A1C2-503C948B9990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Accuracy and understanding outrank visual polish</a:t>
            </a:r>
          </a:p>
        </p:txBody>
      </p:sp>
      <p:sp>
        <p:nvSpPr>
          <p:cNvPr id="2" name="footer-section-41">
            <a:extLst>
              <a:ext uri="{FF2B5EF4-FFF2-40B4-BE49-F238E27FC236}">
                <a16:creationId xmlns:a16="http://schemas.microsoft.com/office/drawing/2014/main" id="{3B0A1937-35D1-4523-82F1-B79A09BE9BB8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GRADING PRIORITIES</a:t>
            </a:r>
          </a:p>
        </p:txBody>
      </p:sp>
      <p:sp>
        <p:nvSpPr>
          <p:cNvPr id="3" name="footer-number-41">
            <a:extLst>
              <a:ext uri="{FF2B5EF4-FFF2-40B4-BE49-F238E27FC236}">
                <a16:creationId xmlns:a16="http://schemas.microsoft.com/office/drawing/2014/main" id="{9EB8D21E-6082-43C4-9837-638B51FFB989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4" name="rubric-n-0">
            <a:extLst>
              <a:ext uri="{FF2B5EF4-FFF2-40B4-BE49-F238E27FC236}">
                <a16:creationId xmlns:a16="http://schemas.microsoft.com/office/drawing/2014/main" id="{0B7A3DF7-5E6C-41E4-887C-6A00E043938A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ubric-label-0">
            <a:extLst>
              <a:ext uri="{FF2B5EF4-FFF2-40B4-BE49-F238E27FC236}">
                <a16:creationId xmlns:a16="http://schemas.microsoft.com/office/drawing/2014/main" id="{55D5E30A-CB0B-4D13-BF6B-016B2E682993}"/>
              </a:ext>
            </a:extLst>
          </p:cNvPr>
          <p:cNvSpPr>
            <a:spLocks noGrp="1"/>
          </p:cNvSpPr>
          <p:nvPr/>
        </p:nvSpPr>
        <p:spPr>
          <a:xfrm>
            <a:off x="1285875" y="14287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+ RECONCILIATION</a:t>
            </a:r>
          </a:p>
        </p:txBody>
      </p:sp>
      <p:sp>
        <p:nvSpPr>
          <p:cNvPr id="6" name="rubric-body-0">
            <a:extLst>
              <a:ext uri="{FF2B5EF4-FFF2-40B4-BE49-F238E27FC236}">
                <a16:creationId xmlns:a16="http://schemas.microsoft.com/office/drawing/2014/main" id="{915FB26A-38CE-4400-8DE3-F81032E74ED8}"/>
              </a:ext>
            </a:extLst>
          </p:cNvPr>
          <p:cNvSpPr>
            <a:spLocks noGrp="1"/>
          </p:cNvSpPr>
          <p:nvPr/>
        </p:nvSpPr>
        <p:spPr>
          <a:xfrm>
            <a:off x="4619625" y="14287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Correct fiscal year, units, signs, sources, and identities</a:t>
            </a:r>
          </a:p>
        </p:txBody>
      </p:sp>
      <p:sp>
        <p:nvSpPr>
          <p:cNvPr id="7" name="rubric-n-1">
            <a:extLst>
              <a:ext uri="{FF2B5EF4-FFF2-40B4-BE49-F238E27FC236}">
                <a16:creationId xmlns:a16="http://schemas.microsoft.com/office/drawing/2014/main" id="{6A74287A-FD62-4F04-98C0-38F135B9FBC3}"/>
              </a:ext>
            </a:extLst>
          </p:cNvPr>
          <p:cNvSpPr>
            <a:spLocks noGrp="1"/>
          </p:cNvSpPr>
          <p:nvPr/>
        </p:nvSpPr>
        <p:spPr>
          <a:xfrm>
            <a:off x="495300" y="23050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ubric-label-1">
            <a:extLst>
              <a:ext uri="{FF2B5EF4-FFF2-40B4-BE49-F238E27FC236}">
                <a16:creationId xmlns:a16="http://schemas.microsoft.com/office/drawing/2014/main" id="{EEAAF8A9-1F5D-4EBE-9838-A4AAAD83B28A}"/>
              </a:ext>
            </a:extLst>
          </p:cNvPr>
          <p:cNvSpPr>
            <a:spLocks noGrp="1"/>
          </p:cNvSpPr>
          <p:nvPr/>
        </p:nvSpPr>
        <p:spPr>
          <a:xfrm>
            <a:off x="1285875" y="23050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FINANCIAL MODEL</a:t>
            </a:r>
          </a:p>
        </p:txBody>
      </p:sp>
      <p:sp>
        <p:nvSpPr>
          <p:cNvPr id="9" name="rubric-body-1">
            <a:extLst>
              <a:ext uri="{FF2B5EF4-FFF2-40B4-BE49-F238E27FC236}">
                <a16:creationId xmlns:a16="http://schemas.microsoft.com/office/drawing/2014/main" id="{50B9C488-E7EE-431D-AD22-A8C4E2B9B6F8}"/>
              </a:ext>
            </a:extLst>
          </p:cNvPr>
          <p:cNvSpPr>
            <a:spLocks noGrp="1"/>
          </p:cNvSpPr>
          <p:nvPr/>
        </p:nvSpPr>
        <p:spPr>
          <a:xfrm>
            <a:off x="4619625" y="23050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Correct Sankey, FCF, trend, and DuPont definitions</a:t>
            </a:r>
          </a:p>
        </p:txBody>
      </p:sp>
      <p:sp>
        <p:nvSpPr>
          <p:cNvPr id="10" name="rubric-n-2">
            <a:extLst>
              <a:ext uri="{FF2B5EF4-FFF2-40B4-BE49-F238E27FC236}">
                <a16:creationId xmlns:a16="http://schemas.microsoft.com/office/drawing/2014/main" id="{6678DD70-CB1F-43F6-B868-F788CF2383D8}"/>
              </a:ext>
            </a:extLst>
          </p:cNvPr>
          <p:cNvSpPr>
            <a:spLocks noGrp="1"/>
          </p:cNvSpPr>
          <p:nvPr/>
        </p:nvSpPr>
        <p:spPr>
          <a:xfrm>
            <a:off x="495300" y="31813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rubric-label-2">
            <a:extLst>
              <a:ext uri="{FF2B5EF4-FFF2-40B4-BE49-F238E27FC236}">
                <a16:creationId xmlns:a16="http://schemas.microsoft.com/office/drawing/2014/main" id="{A414B516-566A-45EE-A8F9-87C5C924B484}"/>
              </a:ext>
            </a:extLst>
          </p:cNvPr>
          <p:cNvSpPr>
            <a:spLocks noGrp="1"/>
          </p:cNvSpPr>
          <p:nvPr/>
        </p:nvSpPr>
        <p:spPr>
          <a:xfrm>
            <a:off x="1285875" y="31813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CODE + AI CONTROL</a:t>
            </a:r>
          </a:p>
        </p:txBody>
      </p:sp>
      <p:sp>
        <p:nvSpPr>
          <p:cNvPr id="12" name="rubric-body-2">
            <a:extLst>
              <a:ext uri="{FF2B5EF4-FFF2-40B4-BE49-F238E27FC236}">
                <a16:creationId xmlns:a16="http://schemas.microsoft.com/office/drawing/2014/main" id="{07C6B0A2-D63A-4EF9-AEE9-94E0C5B8B5C7}"/>
              </a:ext>
            </a:extLst>
          </p:cNvPr>
          <p:cNvSpPr>
            <a:spLocks noGrp="1"/>
          </p:cNvSpPr>
          <p:nvPr/>
        </p:nvSpPr>
        <p:spPr>
          <a:xfrm>
            <a:off x="4619625" y="31813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Executable, documented, validated, reproducible</a:t>
            </a:r>
          </a:p>
        </p:txBody>
      </p:sp>
      <p:sp>
        <p:nvSpPr>
          <p:cNvPr id="13" name="rubric-n-3">
            <a:extLst>
              <a:ext uri="{FF2B5EF4-FFF2-40B4-BE49-F238E27FC236}">
                <a16:creationId xmlns:a16="http://schemas.microsoft.com/office/drawing/2014/main" id="{D2C5DCA5-F07A-45D8-8F41-1142C55F2353}"/>
              </a:ext>
            </a:extLst>
          </p:cNvPr>
          <p:cNvSpPr>
            <a:spLocks noGrp="1"/>
          </p:cNvSpPr>
          <p:nvPr/>
        </p:nvSpPr>
        <p:spPr>
          <a:xfrm>
            <a:off x="495300" y="40576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rubric-label-3">
            <a:extLst>
              <a:ext uri="{FF2B5EF4-FFF2-40B4-BE49-F238E27FC236}">
                <a16:creationId xmlns:a16="http://schemas.microsoft.com/office/drawing/2014/main" id="{3BC3EB4D-44BC-4694-BCA2-40BB872F7AFE}"/>
              </a:ext>
            </a:extLst>
          </p:cNvPr>
          <p:cNvSpPr>
            <a:spLocks noGrp="1"/>
          </p:cNvSpPr>
          <p:nvPr/>
        </p:nvSpPr>
        <p:spPr>
          <a:xfrm>
            <a:off x="1285875" y="40576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15" name="rubric-body-3">
            <a:extLst>
              <a:ext uri="{FF2B5EF4-FFF2-40B4-BE49-F238E27FC236}">
                <a16:creationId xmlns:a16="http://schemas.microsoft.com/office/drawing/2014/main" id="{946CF170-3B74-4491-9563-C2BC4F651943}"/>
              </a:ext>
            </a:extLst>
          </p:cNvPr>
          <p:cNvSpPr>
            <a:spLocks noGrp="1"/>
          </p:cNvSpPr>
          <p:nvPr/>
        </p:nvSpPr>
        <p:spPr>
          <a:xfrm>
            <a:off x="4619625" y="40576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Checks, corrections, and human judgment</a:t>
            </a:r>
          </a:p>
        </p:txBody>
      </p:sp>
      <p:sp>
        <p:nvSpPr>
          <p:cNvPr id="16" name="rubric-n-4">
            <a:extLst>
              <a:ext uri="{FF2B5EF4-FFF2-40B4-BE49-F238E27FC236}">
                <a16:creationId xmlns:a16="http://schemas.microsoft.com/office/drawing/2014/main" id="{24CB7432-E8D9-4A1B-AE05-A570AAE61700}"/>
              </a:ext>
            </a:extLst>
          </p:cNvPr>
          <p:cNvSpPr>
            <a:spLocks noGrp="1"/>
          </p:cNvSpPr>
          <p:nvPr/>
        </p:nvSpPr>
        <p:spPr>
          <a:xfrm>
            <a:off x="495300" y="49339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rubric-label-4">
            <a:extLst>
              <a:ext uri="{FF2B5EF4-FFF2-40B4-BE49-F238E27FC236}">
                <a16:creationId xmlns:a16="http://schemas.microsoft.com/office/drawing/2014/main" id="{A68E02D1-3AC5-4372-9BCB-8925E88AED27}"/>
              </a:ext>
            </a:extLst>
          </p:cNvPr>
          <p:cNvSpPr>
            <a:spLocks noGrp="1"/>
          </p:cNvSpPr>
          <p:nvPr/>
        </p:nvSpPr>
        <p:spPr>
          <a:xfrm>
            <a:off x="1285875" y="49339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STORY + ACCOUNTABILITY</a:t>
            </a:r>
          </a:p>
        </p:txBody>
      </p:sp>
      <p:sp>
        <p:nvSpPr>
          <p:cNvPr id="18" name="rubric-body-4">
            <a:extLst>
              <a:ext uri="{FF2B5EF4-FFF2-40B4-BE49-F238E27FC236}">
                <a16:creationId xmlns:a16="http://schemas.microsoft.com/office/drawing/2014/main" id="{9675227E-6AA5-4BD4-8178-F720FD209DF3}"/>
              </a:ext>
            </a:extLst>
          </p:cNvPr>
          <p:cNvSpPr>
            <a:spLocks noGrp="1"/>
          </p:cNvSpPr>
          <p:nvPr/>
        </p:nvSpPr>
        <p:spPr>
          <a:xfrm>
            <a:off x="4619625" y="49339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Integrated conclusion and explainable work</a:t>
            </a:r>
          </a:p>
        </p:txBody>
      </p:sp>
      <p:sp>
        <p:nvSpPr>
          <p:cNvPr id="19" name="rubric-warning">
            <a:extLst>
              <a:ext uri="{FF2B5EF4-FFF2-40B4-BE49-F238E27FC236}">
                <a16:creationId xmlns:a16="http://schemas.microsoft.com/office/drawing/2014/main" id="{09DB47DF-79B0-4C06-9784-0837D33BBE5F}"/>
              </a:ext>
            </a:extLst>
          </p:cNvPr>
          <p:cNvSpPr>
            <a:spLocks noGrp="1"/>
          </p:cNvSpPr>
          <p:nvPr/>
        </p:nvSpPr>
        <p:spPr>
          <a:xfrm>
            <a:off x="495300" y="5734050"/>
            <a:ext cx="10668000" cy="323850"/>
          </a:xfrm>
          <a:prstGeom prst="rect">
            <a:avLst/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ubric-warning-text">
            <a:extLst>
              <a:ext uri="{FF2B5EF4-FFF2-40B4-BE49-F238E27FC236}">
                <a16:creationId xmlns:a16="http://schemas.microsoft.com/office/drawing/2014/main" id="{3E9606BE-1E7B-4080-885C-2B60CCFAD3D9}"/>
              </a:ext>
            </a:extLst>
          </p:cNvPr>
          <p:cNvSpPr>
            <a:spLocks noGrp="1"/>
          </p:cNvSpPr>
          <p:nvPr/>
        </p:nvSpPr>
        <p:spPr>
          <a:xfrm>
            <a:off x="495300" y="5772150"/>
            <a:ext cx="1066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 i="0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53030"/>
                </a:solidFill>
                <a:latin typeface="Arial"/>
                <a:ea typeface="Arial"/>
                <a:cs typeface="Arial"/>
              </a:rPr>
              <a:t>Material invented data or an unreconciled model can trigger severe deductions.</a:t>
            </a:r>
          </a:p>
        </p:txBody>
      </p:sp>
    </p:spTree>
    <p:extLst>
      <p:ext uri="{BB962C8B-B14F-4D97-AF65-F5344CB8AC3E}">
        <p14:creationId xmlns:p14="http://schemas.microsoft.com/office/powerpoint/2010/main" val="16297620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42">
            <a:extLst>
              <a:ext uri="{FF2B5EF4-FFF2-40B4-BE49-F238E27FC236}">
                <a16:creationId xmlns:a16="http://schemas.microsoft.com/office/drawing/2014/main" id="{E8323059-A9CF-4D44-8C69-984B8E63FF83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1201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751"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 session: leave with a verified model, not a finished-looking draft</a:t>
            </a:r>
          </a:p>
        </p:txBody>
      </p:sp>
      <p:sp>
        <p:nvSpPr>
          <p:cNvPr id="2" name="footer-section-42">
            <a:extLst>
              <a:ext uri="{FF2B5EF4-FFF2-40B4-BE49-F238E27FC236}">
                <a16:creationId xmlns:a16="http://schemas.microsoft.com/office/drawing/2014/main" id="{6451E24C-4C12-41AE-9841-9D46E641D6BE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TEAM WORK SESSION</a:t>
            </a:r>
          </a:p>
        </p:txBody>
      </p:sp>
      <p:sp>
        <p:nvSpPr>
          <p:cNvPr id="3" name="footer-number-42">
            <a:extLst>
              <a:ext uri="{FF2B5EF4-FFF2-40B4-BE49-F238E27FC236}">
                <a16:creationId xmlns:a16="http://schemas.microsoft.com/office/drawing/2014/main" id="{50566EFC-9F08-4C65-8884-0B9FD59DCEA1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4" name="work-n-0">
            <a:extLst>
              <a:ext uri="{FF2B5EF4-FFF2-40B4-BE49-F238E27FC236}">
                <a16:creationId xmlns:a16="http://schemas.microsoft.com/office/drawing/2014/main" id="{5AD1C65D-6068-42F3-9C66-4E7AD5C873A4}"/>
              </a:ext>
            </a:extLst>
          </p:cNvPr>
          <p:cNvSpPr>
            <a:spLocks noGrp="1"/>
          </p:cNvSpPr>
          <p:nvPr/>
        </p:nvSpPr>
        <p:spPr>
          <a:xfrm>
            <a:off x="495300" y="147637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work-label-0">
            <a:extLst>
              <a:ext uri="{FF2B5EF4-FFF2-40B4-BE49-F238E27FC236}">
                <a16:creationId xmlns:a16="http://schemas.microsoft.com/office/drawing/2014/main" id="{C0071A82-3866-4620-908E-F435C29F2206}"/>
              </a:ext>
            </a:extLst>
          </p:cNvPr>
          <p:cNvSpPr>
            <a:spLocks noGrp="1"/>
          </p:cNvSpPr>
          <p:nvPr/>
        </p:nvSpPr>
        <p:spPr>
          <a:xfrm>
            <a:off x="1162050" y="15240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6" name="work-body-0">
            <a:extLst>
              <a:ext uri="{FF2B5EF4-FFF2-40B4-BE49-F238E27FC236}">
                <a16:creationId xmlns:a16="http://schemas.microsoft.com/office/drawing/2014/main" id="{EF809803-B27C-49E8-A910-BA4BC18D1A95}"/>
              </a:ext>
            </a:extLst>
          </p:cNvPr>
          <p:cNvSpPr>
            <a:spLocks noGrp="1"/>
          </p:cNvSpPr>
          <p:nvPr/>
        </p:nvSpPr>
        <p:spPr>
          <a:xfrm>
            <a:off x="495300" y="2238375"/>
            <a:ext cx="3286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Trace one metric from 10-K to chart label.</a:t>
            </a:r>
          </a:p>
        </p:txBody>
      </p:sp>
      <p:sp>
        <p:nvSpPr>
          <p:cNvPr id="7" name="work-n-1">
            <a:extLst>
              <a:ext uri="{FF2B5EF4-FFF2-40B4-BE49-F238E27FC236}">
                <a16:creationId xmlns:a16="http://schemas.microsoft.com/office/drawing/2014/main" id="{B1141222-8DFB-47C8-B5B4-D2718A8F79E7}"/>
              </a:ext>
            </a:extLst>
          </p:cNvPr>
          <p:cNvSpPr>
            <a:spLocks noGrp="1"/>
          </p:cNvSpPr>
          <p:nvPr/>
        </p:nvSpPr>
        <p:spPr>
          <a:xfrm>
            <a:off x="4248150" y="147637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work-label-1">
            <a:extLst>
              <a:ext uri="{FF2B5EF4-FFF2-40B4-BE49-F238E27FC236}">
                <a16:creationId xmlns:a16="http://schemas.microsoft.com/office/drawing/2014/main" id="{36462DA5-8A39-46B1-B59B-FC42C69C22CF}"/>
              </a:ext>
            </a:extLst>
          </p:cNvPr>
          <p:cNvSpPr>
            <a:spLocks noGrp="1"/>
          </p:cNvSpPr>
          <p:nvPr/>
        </p:nvSpPr>
        <p:spPr>
          <a:xfrm>
            <a:off x="4914900" y="15240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FORMULAS</a:t>
            </a:r>
          </a:p>
        </p:txBody>
      </p:sp>
      <p:sp>
        <p:nvSpPr>
          <p:cNvPr id="9" name="work-body-1">
            <a:extLst>
              <a:ext uri="{FF2B5EF4-FFF2-40B4-BE49-F238E27FC236}">
                <a16:creationId xmlns:a16="http://schemas.microsoft.com/office/drawing/2014/main" id="{6B4F46EF-3BBF-4B7F-81D9-DA7D0E8C070B}"/>
              </a:ext>
            </a:extLst>
          </p:cNvPr>
          <p:cNvSpPr>
            <a:spLocks noGrp="1"/>
          </p:cNvSpPr>
          <p:nvPr/>
        </p:nvSpPr>
        <p:spPr>
          <a:xfrm>
            <a:off x="4248150" y="2238375"/>
            <a:ext cx="3286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Complete the four model worksheets.</a:t>
            </a:r>
          </a:p>
        </p:txBody>
      </p:sp>
      <p:sp>
        <p:nvSpPr>
          <p:cNvPr id="10" name="work-n-2">
            <a:extLst>
              <a:ext uri="{FF2B5EF4-FFF2-40B4-BE49-F238E27FC236}">
                <a16:creationId xmlns:a16="http://schemas.microsoft.com/office/drawing/2014/main" id="{8AA4CAAF-63D4-4BFD-9A17-AF7A4D74C587}"/>
              </a:ext>
            </a:extLst>
          </p:cNvPr>
          <p:cNvSpPr>
            <a:spLocks noGrp="1"/>
          </p:cNvSpPr>
          <p:nvPr/>
        </p:nvSpPr>
        <p:spPr>
          <a:xfrm>
            <a:off x="8001000" y="147637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work-label-2">
            <a:extLst>
              <a:ext uri="{FF2B5EF4-FFF2-40B4-BE49-F238E27FC236}">
                <a16:creationId xmlns:a16="http://schemas.microsoft.com/office/drawing/2014/main" id="{6DB3CB88-7E2B-438B-BCEC-2E4919A210B4}"/>
              </a:ext>
            </a:extLst>
          </p:cNvPr>
          <p:cNvSpPr>
            <a:spLocks noGrp="1"/>
          </p:cNvSpPr>
          <p:nvPr/>
        </p:nvSpPr>
        <p:spPr>
          <a:xfrm>
            <a:off x="8667750" y="15240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 + REM</a:t>
            </a:r>
          </a:p>
        </p:txBody>
      </p:sp>
      <p:sp>
        <p:nvSpPr>
          <p:cNvPr id="12" name="work-body-2">
            <a:extLst>
              <a:ext uri="{FF2B5EF4-FFF2-40B4-BE49-F238E27FC236}">
                <a16:creationId xmlns:a16="http://schemas.microsoft.com/office/drawing/2014/main" id="{F4792D35-1421-458D-85D5-73FF5CC7B52C}"/>
              </a:ext>
            </a:extLst>
          </p:cNvPr>
          <p:cNvSpPr>
            <a:spLocks noGrp="1"/>
          </p:cNvSpPr>
          <p:nvPr/>
        </p:nvSpPr>
        <p:spPr>
          <a:xfrm>
            <a:off x="8001000" y="2238375"/>
            <a:ext cx="3286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Lock definitions and failure behavior.</a:t>
            </a:r>
          </a:p>
        </p:txBody>
      </p:sp>
      <p:sp>
        <p:nvSpPr>
          <p:cNvPr id="13" name="work-n-3">
            <a:extLst>
              <a:ext uri="{FF2B5EF4-FFF2-40B4-BE49-F238E27FC236}">
                <a16:creationId xmlns:a16="http://schemas.microsoft.com/office/drawing/2014/main" id="{47775AE7-5BC2-4D19-82DB-C478A4963E3C}"/>
              </a:ext>
            </a:extLst>
          </p:cNvPr>
          <p:cNvSpPr>
            <a:spLocks noGrp="1"/>
          </p:cNvSpPr>
          <p:nvPr/>
        </p:nvSpPr>
        <p:spPr>
          <a:xfrm>
            <a:off x="495300" y="357187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work-label-3">
            <a:extLst>
              <a:ext uri="{FF2B5EF4-FFF2-40B4-BE49-F238E27FC236}">
                <a16:creationId xmlns:a16="http://schemas.microsoft.com/office/drawing/2014/main" id="{2307B95B-A122-4693-8B40-3B02CF19CCC8}"/>
              </a:ext>
            </a:extLst>
          </p:cNvPr>
          <p:cNvSpPr>
            <a:spLocks noGrp="1"/>
          </p:cNvSpPr>
          <p:nvPr/>
        </p:nvSpPr>
        <p:spPr>
          <a:xfrm>
            <a:off x="1162050" y="36195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+ CHECK</a:t>
            </a:r>
          </a:p>
        </p:txBody>
      </p:sp>
      <p:sp>
        <p:nvSpPr>
          <p:cNvPr id="15" name="work-body-3">
            <a:extLst>
              <a:ext uri="{FF2B5EF4-FFF2-40B4-BE49-F238E27FC236}">
                <a16:creationId xmlns:a16="http://schemas.microsoft.com/office/drawing/2014/main" id="{96C01DA2-1508-4163-A402-AC83A10718A1}"/>
              </a:ext>
            </a:extLst>
          </p:cNvPr>
          <p:cNvSpPr>
            <a:spLocks noGrp="1"/>
          </p:cNvSpPr>
          <p:nvPr/>
        </p:nvSpPr>
        <p:spPr>
          <a:xfrm>
            <a:off x="495300" y="4333875"/>
            <a:ext cx="3286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Pass all six identities.</a:t>
            </a:r>
          </a:p>
        </p:txBody>
      </p:sp>
      <p:sp>
        <p:nvSpPr>
          <p:cNvPr id="16" name="work-n-4">
            <a:extLst>
              <a:ext uri="{FF2B5EF4-FFF2-40B4-BE49-F238E27FC236}">
                <a16:creationId xmlns:a16="http://schemas.microsoft.com/office/drawing/2014/main" id="{C0262915-DF56-4DAD-B051-564CA9C6977A}"/>
              </a:ext>
            </a:extLst>
          </p:cNvPr>
          <p:cNvSpPr>
            <a:spLocks noGrp="1"/>
          </p:cNvSpPr>
          <p:nvPr/>
        </p:nvSpPr>
        <p:spPr>
          <a:xfrm>
            <a:off x="4248150" y="357187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work-label-4">
            <a:extLst>
              <a:ext uri="{FF2B5EF4-FFF2-40B4-BE49-F238E27FC236}">
                <a16:creationId xmlns:a16="http://schemas.microsoft.com/office/drawing/2014/main" id="{5013102D-8FAD-46E1-9EC0-CC0429398D1B}"/>
              </a:ext>
            </a:extLst>
          </p:cNvPr>
          <p:cNvSpPr>
            <a:spLocks noGrp="1"/>
          </p:cNvSpPr>
          <p:nvPr/>
        </p:nvSpPr>
        <p:spPr>
          <a:xfrm>
            <a:off x="4914900" y="36195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REVISE</a:t>
            </a:r>
          </a:p>
        </p:txBody>
      </p:sp>
      <p:sp>
        <p:nvSpPr>
          <p:cNvPr id="18" name="work-body-4">
            <a:extLst>
              <a:ext uri="{FF2B5EF4-FFF2-40B4-BE49-F238E27FC236}">
                <a16:creationId xmlns:a16="http://schemas.microsoft.com/office/drawing/2014/main" id="{488150D8-BBFF-4CB9-939C-06DB5239E978}"/>
              </a:ext>
            </a:extLst>
          </p:cNvPr>
          <p:cNvSpPr>
            <a:spLocks noGrp="1"/>
          </p:cNvSpPr>
          <p:nvPr/>
        </p:nvSpPr>
        <p:spPr>
          <a:xfrm>
            <a:off x="4248150" y="4333875"/>
            <a:ext cx="3286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Document one meaningful human correction.</a:t>
            </a:r>
          </a:p>
        </p:txBody>
      </p:sp>
      <p:sp>
        <p:nvSpPr>
          <p:cNvPr id="19" name="work-n-5">
            <a:extLst>
              <a:ext uri="{FF2B5EF4-FFF2-40B4-BE49-F238E27FC236}">
                <a16:creationId xmlns:a16="http://schemas.microsoft.com/office/drawing/2014/main" id="{C09FC60E-BBE1-4B60-9E38-6C806929C9B2}"/>
              </a:ext>
            </a:extLst>
          </p:cNvPr>
          <p:cNvSpPr>
            <a:spLocks noGrp="1"/>
          </p:cNvSpPr>
          <p:nvPr/>
        </p:nvSpPr>
        <p:spPr>
          <a:xfrm>
            <a:off x="8001000" y="357187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work-label-5">
            <a:extLst>
              <a:ext uri="{FF2B5EF4-FFF2-40B4-BE49-F238E27FC236}">
                <a16:creationId xmlns:a16="http://schemas.microsoft.com/office/drawing/2014/main" id="{20265841-49D0-44CF-85D1-A14BEC2D07A3}"/>
              </a:ext>
            </a:extLst>
          </p:cNvPr>
          <p:cNvSpPr>
            <a:spLocks noGrp="1"/>
          </p:cNvSpPr>
          <p:nvPr/>
        </p:nvSpPr>
        <p:spPr>
          <a:xfrm>
            <a:off x="8667750" y="36195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STORY</a:t>
            </a:r>
          </a:p>
        </p:txBody>
      </p:sp>
      <p:sp>
        <p:nvSpPr>
          <p:cNvPr id="21" name="work-body-5">
            <a:extLst>
              <a:ext uri="{FF2B5EF4-FFF2-40B4-BE49-F238E27FC236}">
                <a16:creationId xmlns:a16="http://schemas.microsoft.com/office/drawing/2014/main" id="{1C04BB34-5962-4F8C-9731-2BD6613D11D3}"/>
              </a:ext>
            </a:extLst>
          </p:cNvPr>
          <p:cNvSpPr>
            <a:spLocks noGrp="1"/>
          </p:cNvSpPr>
          <p:nvPr/>
        </p:nvSpPr>
        <p:spPr>
          <a:xfrm>
            <a:off x="8001000" y="4333875"/>
            <a:ext cx="3286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Write one thesis, four evidence points, one caveat.</a:t>
            </a:r>
          </a:p>
        </p:txBody>
      </p:sp>
    </p:spTree>
    <p:extLst>
      <p:ext uri="{BB962C8B-B14F-4D97-AF65-F5344CB8AC3E}">
        <p14:creationId xmlns:p14="http://schemas.microsoft.com/office/powerpoint/2010/main" val="1873638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xit-kicker">
            <a:extLst>
              <a:ext uri="{FF2B5EF4-FFF2-40B4-BE49-F238E27FC236}">
                <a16:creationId xmlns:a16="http://schemas.microsoft.com/office/drawing/2014/main" id="{E0753AC4-3795-43B3-85AB-1DC986D44C65}"/>
              </a:ext>
            </a:extLst>
          </p:cNvPr>
          <p:cNvSpPr>
            <a:spLocks noGrp="1"/>
          </p:cNvSpPr>
          <p:nvPr/>
        </p:nvSpPr>
        <p:spPr>
          <a:xfrm>
            <a:off x="495300" y="4572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exit-title">
            <a:extLst>
              <a:ext uri="{FF2B5EF4-FFF2-40B4-BE49-F238E27FC236}">
                <a16:creationId xmlns:a16="http://schemas.microsoft.com/office/drawing/2014/main" id="{31947B73-1A86-4876-82ED-D726D4A70E74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9906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 fontScale="93528"/>
          </a:bodyPr>
          <a:lstStyle/>
          <a:p>
            <a:pPr algn="l">
              <a:lnSpc>
                <a:spcPct val="108000"/>
              </a:lnSpc>
              <a:buNone/>
              <a:defRPr sz="4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Show me one formula, one check, and one risk</a:t>
            </a:r>
          </a:p>
        </p:txBody>
      </p:sp>
      <p:sp>
        <p:nvSpPr>
          <p:cNvPr id="3" name="exit-prompts">
            <a:extLst>
              <a:ext uri="{FF2B5EF4-FFF2-40B4-BE49-F238E27FC236}">
                <a16:creationId xmlns:a16="http://schemas.microsoft.com/office/drawing/2014/main" id="{11F2C634-1251-43E1-964D-387F020B1BDA}"/>
              </a:ext>
            </a:extLst>
          </p:cNvPr>
          <p:cNvSpPr>
            <a:spLocks noGrp="1"/>
          </p:cNvSpPr>
          <p:nvPr/>
        </p:nvSpPr>
        <p:spPr>
          <a:xfrm>
            <a:off x="495300" y="4000500"/>
            <a:ext cx="7620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210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1. Write the formula that mattered most today.</a:t>
            </a:r>
          </a:p>
          <a:p>
            <a:pPr algn="l">
              <a:lnSpc>
                <a:spcPct val="118000"/>
              </a:lnSpc>
              <a:buNone/>
              <a:defRPr sz="210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2. Name the check that protects it.</a:t>
            </a:r>
          </a:p>
          <a:p>
            <a:pPr algn="l">
              <a:lnSpc>
                <a:spcPct val="118000"/>
              </a:lnSpc>
              <a:buNone/>
              <a:defRPr sz="2100" b="0" i="0">
                <a:solidFill>
                  <a:srgbClr val="0B2545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3. Name one risk the dashboard does not capture.</a:t>
            </a:r>
          </a:p>
        </p:txBody>
      </p:sp>
      <p:sp>
        <p:nvSpPr>
          <p:cNvPr id="4" name="exit-resolution">
            <a:extLst>
              <a:ext uri="{FF2B5EF4-FFF2-40B4-BE49-F238E27FC236}">
                <a16:creationId xmlns:a16="http://schemas.microsoft.com/office/drawing/2014/main" id="{AF377AD8-4F6D-46D5-AC58-1970DDF85725}"/>
              </a:ext>
            </a:extLst>
          </p:cNvPr>
          <p:cNvSpPr>
            <a:spLocks noGrp="1"/>
          </p:cNvSpPr>
          <p:nvPr/>
        </p:nvSpPr>
        <p:spPr>
          <a:xfrm>
            <a:off x="8382000" y="3905250"/>
            <a:ext cx="3238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opening answer: yes - EPS can outgrow sales. The financial story explains how, tests whether the claim is supported, and states what remains uncertain.</a:t>
            </a:r>
          </a:p>
        </p:txBody>
      </p:sp>
      <p:sp>
        <p:nvSpPr>
          <p:cNvPr id="5" name="footer-section-43">
            <a:extLst>
              <a:ext uri="{FF2B5EF4-FFF2-40B4-BE49-F238E27FC236}">
                <a16:creationId xmlns:a16="http://schemas.microsoft.com/office/drawing/2014/main" id="{EF2F9E18-6438-4938-A72F-030986369921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FINC 310 | P&amp;G FINANCIAL STORY</a:t>
            </a:r>
          </a:p>
        </p:txBody>
      </p:sp>
      <p:sp>
        <p:nvSpPr>
          <p:cNvPr id="6" name="footer-number-43">
            <a:extLst>
              <a:ext uri="{FF2B5EF4-FFF2-40B4-BE49-F238E27FC236}">
                <a16:creationId xmlns:a16="http://schemas.microsoft.com/office/drawing/2014/main" id="{396555C9-A328-44A5-AD01-00A766754849}"/>
              </a:ext>
            </a:extLst>
          </p:cNvPr>
          <p:cNvSpPr>
            <a:spLocks noGrp="1"/>
          </p:cNvSpPr>
          <p:nvPr/>
        </p:nvSpPr>
        <p:spPr>
          <a:xfrm>
            <a:off x="11430000" y="64008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8550051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4862</Words>
  <Application>Microsoft Office PowerPoint</Application>
  <DocSecurity>0</DocSecurity>
  <PresentationFormat>Widescreen</PresentationFormat>
  <Paragraphs>741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Spry, John A.</cp:lastModifiedBy>
  <cp:revision>1</cp:revision>
  <dcterms:created xsi:type="dcterms:W3CDTF">2026-07-17T22:10:57Z</dcterms:created>
  <dcterms:modified xsi:type="dcterms:W3CDTF">2026-07-23T20:53:29Z</dcterms:modified>
</cp:coreProperties>
</file>